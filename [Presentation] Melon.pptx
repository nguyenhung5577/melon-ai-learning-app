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6" r:id="rId34"/>
    <p:sldId id="277" r:id="rId35"/>
    <p:sldId id="278" r:id="rId36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Calibri (MS)" charset="1" panose="020F0502020204030204"/>
      <p:regular r:id="rId26"/>
    </p:embeddedFont>
    <p:embeddedFont>
      <p:font typeface="Arial Bold" charset="1" panose="020B0704020202020204"/>
      <p:regular r:id="rId27"/>
    </p:embeddedFont>
    <p:embeddedFont>
      <p:font typeface="Calibri (MS) Bold" charset="1" panose="020F0702030404030204"/>
      <p:regular r:id="rId28"/>
    </p:embeddedFont>
    <p:embeddedFont>
      <p:font typeface="Calibri (MS) Italics" charset="1" panose="020F05020202040A0204"/>
      <p:regular r:id="rId29"/>
    </p:embeddedFont>
    <p:embeddedFont>
      <p:font typeface="Arial Bold Italics" charset="1" panose="020B070402020209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font" Target="fonts/font26.fntdata"/><Relationship Id="rId27" Type="http://schemas.openxmlformats.org/officeDocument/2006/relationships/font" Target="fonts/font27.fntdata"/><Relationship Id="rId28" Type="http://schemas.openxmlformats.org/officeDocument/2006/relationships/font" Target="fonts/font28.fntdata"/><Relationship Id="rId29" Type="http://schemas.openxmlformats.org/officeDocument/2006/relationships/font" Target="fonts/font29.fntdata"/><Relationship Id="rId30" Type="http://schemas.openxmlformats.org/officeDocument/2006/relationships/font" Target="fonts/font30.fntdata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2194560"/>
            <a:ext cx="7406640" cy="7406640"/>
            <a:chOff x="0" y="0"/>
            <a:chExt cx="9875520" cy="9875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75520" cy="9875520"/>
            </a:xfrm>
            <a:custGeom>
              <a:avLst/>
              <a:gdLst/>
              <a:ahLst/>
              <a:cxnLst/>
              <a:rect r="r" b="b" t="t" l="l"/>
              <a:pathLst>
                <a:path h="9875520" w="9875520">
                  <a:moveTo>
                    <a:pt x="0" y="4937760"/>
                  </a:moveTo>
                  <a:cubicBezTo>
                    <a:pt x="0" y="2210689"/>
                    <a:pt x="2210689" y="0"/>
                    <a:pt x="4937760" y="0"/>
                  </a:cubicBezTo>
                  <a:cubicBezTo>
                    <a:pt x="7664831" y="0"/>
                    <a:pt x="9875520" y="2210689"/>
                    <a:pt x="9875520" y="4937760"/>
                  </a:cubicBezTo>
                  <a:cubicBezTo>
                    <a:pt x="9875520" y="7664831"/>
                    <a:pt x="7664831" y="9875520"/>
                    <a:pt x="4937760" y="9875520"/>
                  </a:cubicBezTo>
                  <a:cubicBezTo>
                    <a:pt x="2210688" y="9875520"/>
                    <a:pt x="0" y="7664831"/>
                    <a:pt x="0" y="4937760"/>
                  </a:cubicBezTo>
                  <a:close/>
                </a:path>
              </a:pathLst>
            </a:custGeom>
            <a:solidFill>
              <a:srgbClr val="E7FBE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468880" y="6309360"/>
            <a:ext cx="6309360" cy="6309360"/>
            <a:chOff x="0" y="0"/>
            <a:chExt cx="8412480" cy="84124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12480" cy="8412480"/>
            </a:xfrm>
            <a:custGeom>
              <a:avLst/>
              <a:gdLst/>
              <a:ahLst/>
              <a:cxnLst/>
              <a:rect r="r" b="b" t="t" l="l"/>
              <a:pathLst>
                <a:path h="8412480" w="8412480">
                  <a:moveTo>
                    <a:pt x="0" y="4206240"/>
                  </a:moveTo>
                  <a:cubicBezTo>
                    <a:pt x="0" y="1883156"/>
                    <a:pt x="1883156" y="0"/>
                    <a:pt x="4206240" y="0"/>
                  </a:cubicBezTo>
                  <a:cubicBezTo>
                    <a:pt x="6529325" y="0"/>
                    <a:pt x="8412480" y="1883156"/>
                    <a:pt x="8412480" y="4206240"/>
                  </a:cubicBezTo>
                  <a:cubicBezTo>
                    <a:pt x="8412480" y="6529325"/>
                    <a:pt x="6529324" y="8412480"/>
                    <a:pt x="4206240" y="8412480"/>
                  </a:cubicBezTo>
                  <a:cubicBezTo>
                    <a:pt x="1883156" y="8412480"/>
                    <a:pt x="0" y="6529324"/>
                    <a:pt x="0" y="4206240"/>
                  </a:cubicBezTo>
                  <a:close/>
                </a:path>
              </a:pathLst>
            </a:custGeom>
            <a:solidFill>
              <a:srgbClr val="E5F6F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1165860"/>
            <a:ext cx="1851660" cy="1851660"/>
            <a:chOff x="0" y="0"/>
            <a:chExt cx="2468880" cy="2468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688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2468880">
                  <a:moveTo>
                    <a:pt x="0" y="1234440"/>
                  </a:moveTo>
                  <a:cubicBezTo>
                    <a:pt x="0" y="552704"/>
                    <a:pt x="552704" y="0"/>
                    <a:pt x="1234440" y="0"/>
                  </a:cubicBezTo>
                  <a:cubicBezTo>
                    <a:pt x="1916176" y="0"/>
                    <a:pt x="2468880" y="552704"/>
                    <a:pt x="2468880" y="1234440"/>
                  </a:cubicBezTo>
                  <a:cubicBezTo>
                    <a:pt x="2468880" y="1916176"/>
                    <a:pt x="1916176" y="2468880"/>
                    <a:pt x="1234440" y="2468880"/>
                  </a:cubicBezTo>
                  <a:cubicBezTo>
                    <a:pt x="552704" y="2468880"/>
                    <a:pt x="0" y="1916176"/>
                    <a:pt x="0" y="1234440"/>
                  </a:cubicBezTo>
                  <a:close/>
                </a:path>
              </a:pathLst>
            </a:custGeom>
            <a:solidFill>
              <a:srgbClr val="E7FBE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1165860"/>
            <a:ext cx="1851660" cy="1851660"/>
            <a:chOff x="0" y="0"/>
            <a:chExt cx="2468880" cy="2468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688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2468880" cy="2583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300"/>
                </a:lnSpc>
              </a:pPr>
              <a:r>
                <a:rPr lang="en-US" sz="52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🍉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429000" y="1234440"/>
            <a:ext cx="13030200" cy="1508760"/>
            <a:chOff x="0" y="0"/>
            <a:chExt cx="17373600" cy="2011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3736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37360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sz="8100" b="true">
                  <a:solidFill>
                    <a:srgbClr val="22C55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MELON</a:t>
              </a:r>
              <a:r>
                <a:rPr lang="en-US" sz="81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 AI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429000" y="2537460"/>
            <a:ext cx="12344400" cy="891540"/>
            <a:chOff x="0" y="0"/>
            <a:chExt cx="16459200" cy="1188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4592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645920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4B4B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Learning App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29000" y="3429000"/>
            <a:ext cx="12618720" cy="685800"/>
            <a:chOff x="0" y="0"/>
            <a:chExt cx="1682496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824961" cy="914400"/>
            </a:xfrm>
            <a:custGeom>
              <a:avLst/>
              <a:gdLst/>
              <a:ahLst/>
              <a:cxnLst/>
              <a:rect r="r" b="b" t="t" l="l"/>
              <a:pathLst>
                <a:path h="914400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68249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Nền tảng Giáo dục Tương tác ứng dụng AI cho Học sinh 6–12 tuổi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4440" y="4594860"/>
            <a:ext cx="15773400" cy="3497580"/>
            <a:chOff x="0" y="0"/>
            <a:chExt cx="21031200" cy="466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031200" cy="4663440"/>
            </a:xfrm>
            <a:custGeom>
              <a:avLst/>
              <a:gdLst/>
              <a:ahLst/>
              <a:cxnLst/>
              <a:rect r="r" b="b" t="t" l="l"/>
              <a:pathLst>
                <a:path h="4663440" w="210312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0866608" y="0"/>
                  </a:lnTo>
                  <a:cubicBezTo>
                    <a:pt x="20957539" y="0"/>
                    <a:pt x="21031200" y="73660"/>
                    <a:pt x="21031200" y="164592"/>
                  </a:cubicBezTo>
                  <a:lnTo>
                    <a:pt x="21031200" y="4498848"/>
                  </a:lnTo>
                  <a:cubicBezTo>
                    <a:pt x="21031200" y="4589780"/>
                    <a:pt x="20957539" y="4663440"/>
                    <a:pt x="20866608" y="4663440"/>
                  </a:cubicBezTo>
                  <a:lnTo>
                    <a:pt x="164592" y="4663440"/>
                  </a:lnTo>
                  <a:cubicBezTo>
                    <a:pt x="73660" y="4663440"/>
                    <a:pt x="0" y="4589780"/>
                    <a:pt x="0" y="4498848"/>
                  </a:cubicBezTo>
                  <a:close/>
                </a:path>
              </a:pathLst>
            </a:custGeom>
            <a:solidFill>
              <a:srgbClr val="FAFAF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714500" y="4869180"/>
            <a:ext cx="10972800" cy="480060"/>
            <a:chOff x="0" y="0"/>
            <a:chExt cx="1463040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22C55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NHÓM 2  ·  SE4AI – HK2/2026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789420" y="5554980"/>
            <a:ext cx="4869180" cy="438912"/>
            <a:chOff x="0" y="0"/>
            <a:chExt cx="6492240" cy="5852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92240" cy="585216"/>
            </a:xfrm>
            <a:custGeom>
              <a:avLst/>
              <a:gdLst/>
              <a:ahLst/>
              <a:cxnLst/>
              <a:rect r="r" b="b" t="t" l="l"/>
              <a:pathLst>
                <a:path h="585216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162" r="0" b="-16616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649224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Nguyễn Huy Hoàng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789420" y="5993892"/>
            <a:ext cx="4869180" cy="411480"/>
            <a:chOff x="0" y="0"/>
            <a:chExt cx="649224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492240" cy="548640"/>
            </a:xfrm>
            <a:custGeom>
              <a:avLst/>
              <a:gdLst/>
              <a:ahLst/>
              <a:cxnLst/>
              <a:rect r="r" b="b" t="t" l="l"/>
              <a:pathLst>
                <a:path h="54864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572" r="0" b="-18057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4922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23122031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864340" y="5554980"/>
            <a:ext cx="4869180" cy="438912"/>
            <a:chOff x="0" y="0"/>
            <a:chExt cx="6492240" cy="5852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492240" cy="585216"/>
            </a:xfrm>
            <a:custGeom>
              <a:avLst/>
              <a:gdLst/>
              <a:ahLst/>
              <a:cxnLst/>
              <a:rect r="r" b="b" t="t" l="l"/>
              <a:pathLst>
                <a:path h="585216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162" r="0" b="-16616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649224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Nguyễn Đăng Khôi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864340" y="5993892"/>
            <a:ext cx="4869180" cy="411480"/>
            <a:chOff x="0" y="0"/>
            <a:chExt cx="649224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92240" cy="548640"/>
            </a:xfrm>
            <a:custGeom>
              <a:avLst/>
              <a:gdLst/>
              <a:ahLst/>
              <a:cxnLst/>
              <a:rect r="r" b="b" t="t" l="l"/>
              <a:pathLst>
                <a:path h="54864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572" r="0" b="-18057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4922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23122037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710690" y="6734556"/>
            <a:ext cx="4869180" cy="438912"/>
            <a:chOff x="0" y="0"/>
            <a:chExt cx="6492240" cy="5852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92240" cy="585216"/>
            </a:xfrm>
            <a:custGeom>
              <a:avLst/>
              <a:gdLst/>
              <a:ahLst/>
              <a:cxnLst/>
              <a:rect r="r" b="b" t="t" l="l"/>
              <a:pathLst>
                <a:path h="585216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162" r="0" b="-16616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649224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Trần Tạ Quang Minh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710690" y="7173468"/>
            <a:ext cx="4869180" cy="411480"/>
            <a:chOff x="0" y="0"/>
            <a:chExt cx="649224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492240" cy="548640"/>
            </a:xfrm>
            <a:custGeom>
              <a:avLst/>
              <a:gdLst/>
              <a:ahLst/>
              <a:cxnLst/>
              <a:rect r="r" b="b" t="t" l="l"/>
              <a:pathLst>
                <a:path h="54864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572" r="0" b="-18057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4922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23122042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789420" y="6720840"/>
            <a:ext cx="4869180" cy="438912"/>
            <a:chOff x="0" y="0"/>
            <a:chExt cx="6492240" cy="5852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492240" cy="585216"/>
            </a:xfrm>
            <a:custGeom>
              <a:avLst/>
              <a:gdLst/>
              <a:ahLst/>
              <a:cxnLst/>
              <a:rect r="r" b="b" t="t" l="l"/>
              <a:pathLst>
                <a:path h="585216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162" r="0" b="-16616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649224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Nguyễn Bá Nam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789420" y="7159752"/>
            <a:ext cx="4869180" cy="411480"/>
            <a:chOff x="0" y="0"/>
            <a:chExt cx="649224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92240" cy="548640"/>
            </a:xfrm>
            <a:custGeom>
              <a:avLst/>
              <a:gdLst/>
              <a:ahLst/>
              <a:cxnLst/>
              <a:rect r="r" b="b" t="t" l="l"/>
              <a:pathLst>
                <a:path h="54864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572" r="0" b="-18057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64922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23122043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864340" y="6720840"/>
            <a:ext cx="4869180" cy="438912"/>
            <a:chOff x="0" y="0"/>
            <a:chExt cx="6492240" cy="5852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492240" cy="585216"/>
            </a:xfrm>
            <a:custGeom>
              <a:avLst/>
              <a:gdLst/>
              <a:ahLst/>
              <a:cxnLst/>
              <a:rect r="r" b="b" t="t" l="l"/>
              <a:pathLst>
                <a:path h="585216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162" r="0" b="-16616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649224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Lâm Hoàng Vũ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864340" y="7159752"/>
            <a:ext cx="4869180" cy="411480"/>
            <a:chOff x="0" y="0"/>
            <a:chExt cx="649224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492240" cy="548640"/>
            </a:xfrm>
            <a:custGeom>
              <a:avLst/>
              <a:gdLst/>
              <a:ahLst/>
              <a:cxnLst/>
              <a:rect r="r" b="b" t="t" l="l"/>
              <a:pathLst>
                <a:path h="54864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572" r="0" b="-18057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64922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23122056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714500" y="7708392"/>
            <a:ext cx="12344400" cy="438912"/>
            <a:chOff x="0" y="0"/>
            <a:chExt cx="16459200" cy="5852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6459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6459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7C7D9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10/7/2026  ·  Online Presentation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710690" y="5554980"/>
            <a:ext cx="4869180" cy="438912"/>
            <a:chOff x="0" y="0"/>
            <a:chExt cx="6492240" cy="58521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492240" cy="585216"/>
            </a:xfrm>
            <a:custGeom>
              <a:avLst/>
              <a:gdLst/>
              <a:ahLst/>
              <a:cxnLst/>
              <a:rect r="r" b="b" t="t" l="l"/>
              <a:pathLst>
                <a:path h="585216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162" r="0" b="-16616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649224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Nguyễn Tấn Hùng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710690" y="5993892"/>
            <a:ext cx="4869180" cy="411480"/>
            <a:chOff x="0" y="0"/>
            <a:chExt cx="649224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492240" cy="548640"/>
            </a:xfrm>
            <a:custGeom>
              <a:avLst/>
              <a:gdLst/>
              <a:ahLst/>
              <a:cxnLst/>
              <a:rect r="r" b="b" t="t" l="l"/>
              <a:pathLst>
                <a:path h="54864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572" r="0" b="-18057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64922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23122007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87552" y="0"/>
                  </a:lnTo>
                  <a:cubicBezTo>
                    <a:pt x="1068324" y="0"/>
                    <a:pt x="1133856" y="65532"/>
                    <a:pt x="1133856" y="146304"/>
                  </a:cubicBezTo>
                  <a:lnTo>
                    <a:pt x="1133856" y="475488"/>
                  </a:lnTo>
                  <a:cubicBezTo>
                    <a:pt x="1133856" y="556260"/>
                    <a:pt x="1068324" y="621792"/>
                    <a:pt x="987552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16172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360" t="0" r="-2036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00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73352" y="576072"/>
            <a:ext cx="8915400" cy="466344"/>
            <a:chOff x="0" y="0"/>
            <a:chExt cx="1188720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87200" cy="621792"/>
            </a:xfrm>
            <a:custGeom>
              <a:avLst/>
              <a:gdLst/>
              <a:ahLst/>
              <a:cxnLst/>
              <a:rect r="r" b="b" t="t" l="l"/>
              <a:pathLst>
                <a:path h="621792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508" r="0" b="-3225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18872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4B4B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AGENDA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1151001"/>
            <a:ext cx="1440180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6172B"/>
                </a:solidFill>
                <a:latin typeface="Arial Bold"/>
                <a:ea typeface="Arial Bold"/>
                <a:cs typeface="Arial Bold"/>
                <a:sym typeface="Arial Bold"/>
              </a:rPr>
              <a:t>Nội dung Thuyết trình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5800" y="2537460"/>
            <a:ext cx="5308092" cy="2811780"/>
            <a:chOff x="0" y="0"/>
            <a:chExt cx="7077456" cy="3749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77456" cy="3749040"/>
            </a:xfrm>
            <a:custGeom>
              <a:avLst/>
              <a:gdLst/>
              <a:ahLst/>
              <a:cxnLst/>
              <a:rect r="r" b="b" t="t" l="l"/>
              <a:pathLst>
                <a:path h="3749040" w="707745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912864" y="0"/>
                  </a:lnTo>
                  <a:cubicBezTo>
                    <a:pt x="7003796" y="0"/>
                    <a:pt x="7077456" y="73660"/>
                    <a:pt x="7077456" y="164592"/>
                  </a:cubicBezTo>
                  <a:lnTo>
                    <a:pt x="7077456" y="3584448"/>
                  </a:lnTo>
                  <a:cubicBezTo>
                    <a:pt x="7077456" y="3675380"/>
                    <a:pt x="7003796" y="3749040"/>
                    <a:pt x="6912864" y="3749040"/>
                  </a:cubicBezTo>
                  <a:lnTo>
                    <a:pt x="164592" y="3749040"/>
                  </a:lnTo>
                  <a:cubicBezTo>
                    <a:pt x="73660" y="3749040"/>
                    <a:pt x="0" y="3675380"/>
                    <a:pt x="0" y="3584448"/>
                  </a:cubicBezTo>
                  <a:close/>
                </a:path>
              </a:pathLst>
            </a:custGeom>
            <a:solidFill>
              <a:srgbClr val="FAFAFD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69848" y="2921508"/>
            <a:ext cx="850392" cy="850392"/>
            <a:chOff x="0" y="0"/>
            <a:chExt cx="1133856" cy="11338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69848" y="2921508"/>
            <a:ext cx="850392" cy="850392"/>
            <a:chOff x="0" y="0"/>
            <a:chExt cx="1133856" cy="11338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69848" y="3977640"/>
            <a:ext cx="4539996" cy="891540"/>
            <a:chOff x="0" y="0"/>
            <a:chExt cx="6053328" cy="1188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53328" cy="1188720"/>
            </a:xfrm>
            <a:custGeom>
              <a:avLst/>
              <a:gdLst/>
              <a:ahLst/>
              <a:cxnLst/>
              <a:rect r="r" b="b" t="t" l="l"/>
              <a:pathLst>
                <a:path h="1188720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223" r="0" b="-4922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053328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Vision &amp; Problem Statement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69848" y="4773168"/>
            <a:ext cx="4539996" cy="411480"/>
            <a:chOff x="0" y="0"/>
            <a:chExt cx="6053328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53328" cy="548640"/>
            </a:xfrm>
            <a:custGeom>
              <a:avLst/>
              <a:gdLst/>
              <a:ahLst/>
              <a:cxnLst/>
              <a:rect r="r" b="b" t="t" l="l"/>
              <a:pathLst>
                <a:path h="548640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984" r="0" b="-16498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6053328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TM1 – Khôi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268212" y="2537460"/>
            <a:ext cx="5308092" cy="2811780"/>
            <a:chOff x="0" y="0"/>
            <a:chExt cx="7077456" cy="3749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77456" cy="3749040"/>
            </a:xfrm>
            <a:custGeom>
              <a:avLst/>
              <a:gdLst/>
              <a:ahLst/>
              <a:cxnLst/>
              <a:rect r="r" b="b" t="t" l="l"/>
              <a:pathLst>
                <a:path h="3749040" w="707745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912864" y="0"/>
                  </a:lnTo>
                  <a:cubicBezTo>
                    <a:pt x="7003796" y="0"/>
                    <a:pt x="7077456" y="73660"/>
                    <a:pt x="7077456" y="164592"/>
                  </a:cubicBezTo>
                  <a:lnTo>
                    <a:pt x="7077456" y="3584448"/>
                  </a:lnTo>
                  <a:cubicBezTo>
                    <a:pt x="7077456" y="3675380"/>
                    <a:pt x="7003796" y="3749040"/>
                    <a:pt x="6912864" y="3749040"/>
                  </a:cubicBezTo>
                  <a:lnTo>
                    <a:pt x="164592" y="3749040"/>
                  </a:lnTo>
                  <a:cubicBezTo>
                    <a:pt x="73660" y="3749040"/>
                    <a:pt x="0" y="3675380"/>
                    <a:pt x="0" y="3584448"/>
                  </a:cubicBezTo>
                  <a:close/>
                </a:path>
              </a:pathLst>
            </a:custGeom>
            <a:solidFill>
              <a:srgbClr val="FAFAF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652260" y="2921508"/>
            <a:ext cx="850392" cy="850392"/>
            <a:chOff x="0" y="0"/>
            <a:chExt cx="1133856" cy="11338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652260" y="2921508"/>
            <a:ext cx="850392" cy="850392"/>
            <a:chOff x="0" y="0"/>
            <a:chExt cx="1133856" cy="11338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652260" y="3977640"/>
            <a:ext cx="4539996" cy="891540"/>
            <a:chOff x="0" y="0"/>
            <a:chExt cx="6053328" cy="1188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53328" cy="1188720"/>
            </a:xfrm>
            <a:custGeom>
              <a:avLst/>
              <a:gdLst/>
              <a:ahLst/>
              <a:cxnLst/>
              <a:rect r="r" b="b" t="t" l="l"/>
              <a:pathLst>
                <a:path h="1188720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223" r="0" b="-4922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053328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Management &amp; Use Cases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652260" y="4773168"/>
            <a:ext cx="4539996" cy="411480"/>
            <a:chOff x="0" y="0"/>
            <a:chExt cx="6053328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53328" cy="548640"/>
            </a:xfrm>
            <a:custGeom>
              <a:avLst/>
              <a:gdLst/>
              <a:ahLst/>
              <a:cxnLst/>
              <a:rect r="r" b="b" t="t" l="l"/>
              <a:pathLst>
                <a:path h="548640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984" r="0" b="-16498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6053328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TM2 – Hoàng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850624" y="2537460"/>
            <a:ext cx="5308092" cy="2811780"/>
            <a:chOff x="0" y="0"/>
            <a:chExt cx="7077456" cy="37490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77456" cy="3749040"/>
            </a:xfrm>
            <a:custGeom>
              <a:avLst/>
              <a:gdLst/>
              <a:ahLst/>
              <a:cxnLst/>
              <a:rect r="r" b="b" t="t" l="l"/>
              <a:pathLst>
                <a:path h="3749040" w="707745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912864" y="0"/>
                  </a:lnTo>
                  <a:cubicBezTo>
                    <a:pt x="7003796" y="0"/>
                    <a:pt x="7077456" y="73660"/>
                    <a:pt x="7077456" y="164592"/>
                  </a:cubicBezTo>
                  <a:lnTo>
                    <a:pt x="7077456" y="3584448"/>
                  </a:lnTo>
                  <a:cubicBezTo>
                    <a:pt x="7077456" y="3675380"/>
                    <a:pt x="7003796" y="3749040"/>
                    <a:pt x="6912864" y="3749040"/>
                  </a:cubicBezTo>
                  <a:lnTo>
                    <a:pt x="164592" y="3749040"/>
                  </a:lnTo>
                  <a:cubicBezTo>
                    <a:pt x="73660" y="3749040"/>
                    <a:pt x="0" y="3675380"/>
                    <a:pt x="0" y="3584448"/>
                  </a:cubicBezTo>
                  <a:close/>
                </a:path>
              </a:pathLst>
            </a:custGeom>
            <a:solidFill>
              <a:srgbClr val="FAFAF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234672" y="2921508"/>
            <a:ext cx="850392" cy="850392"/>
            <a:chOff x="0" y="0"/>
            <a:chExt cx="1133856" cy="11338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234672" y="2921508"/>
            <a:ext cx="850392" cy="850392"/>
            <a:chOff x="0" y="0"/>
            <a:chExt cx="1133856" cy="11338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234672" y="3977640"/>
            <a:ext cx="4539996" cy="891540"/>
            <a:chOff x="0" y="0"/>
            <a:chExt cx="6053328" cy="1188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53328" cy="1188720"/>
            </a:xfrm>
            <a:custGeom>
              <a:avLst/>
              <a:gdLst/>
              <a:ahLst/>
              <a:cxnLst/>
              <a:rect r="r" b="b" t="t" l="l"/>
              <a:pathLst>
                <a:path h="1188720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223" r="0" b="-4922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053328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 &amp; NFRs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234672" y="4773168"/>
            <a:ext cx="4539996" cy="411480"/>
            <a:chOff x="0" y="0"/>
            <a:chExt cx="6053328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53328" cy="548640"/>
            </a:xfrm>
            <a:custGeom>
              <a:avLst/>
              <a:gdLst/>
              <a:ahLst/>
              <a:cxnLst/>
              <a:rect r="r" b="b" t="t" l="l"/>
              <a:pathLst>
                <a:path h="548640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984" r="0" b="-16498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6053328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TM3 – Hùng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85800" y="5692140"/>
            <a:ext cx="5308092" cy="2811780"/>
            <a:chOff x="0" y="0"/>
            <a:chExt cx="7077456" cy="3749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077456" cy="3749040"/>
            </a:xfrm>
            <a:custGeom>
              <a:avLst/>
              <a:gdLst/>
              <a:ahLst/>
              <a:cxnLst/>
              <a:rect r="r" b="b" t="t" l="l"/>
              <a:pathLst>
                <a:path h="3749040" w="707745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912864" y="0"/>
                  </a:lnTo>
                  <a:cubicBezTo>
                    <a:pt x="7003796" y="0"/>
                    <a:pt x="7077456" y="73660"/>
                    <a:pt x="7077456" y="164592"/>
                  </a:cubicBezTo>
                  <a:lnTo>
                    <a:pt x="7077456" y="3584448"/>
                  </a:lnTo>
                  <a:cubicBezTo>
                    <a:pt x="7077456" y="3675380"/>
                    <a:pt x="7003796" y="3749040"/>
                    <a:pt x="6912864" y="3749040"/>
                  </a:cubicBezTo>
                  <a:lnTo>
                    <a:pt x="164592" y="3749040"/>
                  </a:lnTo>
                  <a:cubicBezTo>
                    <a:pt x="73660" y="3749040"/>
                    <a:pt x="0" y="3675380"/>
                    <a:pt x="0" y="3584448"/>
                  </a:cubicBezTo>
                  <a:close/>
                </a:path>
              </a:pathLst>
            </a:custGeom>
            <a:solidFill>
              <a:srgbClr val="FAFAFD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69848" y="6076188"/>
            <a:ext cx="850392" cy="850392"/>
            <a:chOff x="0" y="0"/>
            <a:chExt cx="1133856" cy="11338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FF7A0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69848" y="6076188"/>
            <a:ext cx="850392" cy="850392"/>
            <a:chOff x="0" y="0"/>
            <a:chExt cx="1133856" cy="11338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69848" y="7132320"/>
            <a:ext cx="4539996" cy="891540"/>
            <a:chOff x="0" y="0"/>
            <a:chExt cx="6053328" cy="11887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053328" cy="1188720"/>
            </a:xfrm>
            <a:custGeom>
              <a:avLst/>
              <a:gdLst/>
              <a:ahLst/>
              <a:cxnLst/>
              <a:rect r="r" b="b" t="t" l="l"/>
              <a:pathLst>
                <a:path h="1188720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223" r="0" b="-4922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053328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Stack &amp; AI Integration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69848" y="7927848"/>
            <a:ext cx="4539996" cy="411480"/>
            <a:chOff x="0" y="0"/>
            <a:chExt cx="6053328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053328" cy="548640"/>
            </a:xfrm>
            <a:custGeom>
              <a:avLst/>
              <a:gdLst/>
              <a:ahLst/>
              <a:cxnLst/>
              <a:rect r="r" b="b" t="t" l="l"/>
              <a:pathLst>
                <a:path h="548640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984" r="0" b="-16498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6053328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TM4 – Nam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268212" y="5692140"/>
            <a:ext cx="5308092" cy="2811780"/>
            <a:chOff x="0" y="0"/>
            <a:chExt cx="7077456" cy="37490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077456" cy="3749040"/>
            </a:xfrm>
            <a:custGeom>
              <a:avLst/>
              <a:gdLst/>
              <a:ahLst/>
              <a:cxnLst/>
              <a:rect r="r" b="b" t="t" l="l"/>
              <a:pathLst>
                <a:path h="3749040" w="707745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912864" y="0"/>
                  </a:lnTo>
                  <a:cubicBezTo>
                    <a:pt x="7003796" y="0"/>
                    <a:pt x="7077456" y="73660"/>
                    <a:pt x="7077456" y="164592"/>
                  </a:cubicBezTo>
                  <a:lnTo>
                    <a:pt x="7077456" y="3584448"/>
                  </a:lnTo>
                  <a:cubicBezTo>
                    <a:pt x="7077456" y="3675380"/>
                    <a:pt x="7003796" y="3749040"/>
                    <a:pt x="6912864" y="3749040"/>
                  </a:cubicBezTo>
                  <a:lnTo>
                    <a:pt x="164592" y="3749040"/>
                  </a:lnTo>
                  <a:cubicBezTo>
                    <a:pt x="73660" y="3749040"/>
                    <a:pt x="0" y="3675380"/>
                    <a:pt x="0" y="3584448"/>
                  </a:cubicBezTo>
                  <a:close/>
                </a:path>
              </a:pathLst>
            </a:custGeom>
            <a:solidFill>
              <a:srgbClr val="FAFAFD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652260" y="6076188"/>
            <a:ext cx="850392" cy="850392"/>
            <a:chOff x="0" y="0"/>
            <a:chExt cx="1133856" cy="113385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652260" y="6076188"/>
            <a:ext cx="850392" cy="850392"/>
            <a:chOff x="0" y="0"/>
            <a:chExt cx="1133856" cy="113385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652260" y="7132320"/>
            <a:ext cx="4539996" cy="891540"/>
            <a:chOff x="0" y="0"/>
            <a:chExt cx="6053328" cy="11887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053328" cy="1188720"/>
            </a:xfrm>
            <a:custGeom>
              <a:avLst/>
              <a:gdLst/>
              <a:ahLst/>
              <a:cxnLst/>
              <a:rect r="r" b="b" t="t" l="l"/>
              <a:pathLst>
                <a:path h="1188720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223" r="0" b="-4922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6053328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Evaluation &amp; Experiments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652260" y="7927848"/>
            <a:ext cx="4539996" cy="411480"/>
            <a:chOff x="0" y="0"/>
            <a:chExt cx="6053328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053328" cy="548640"/>
            </a:xfrm>
            <a:custGeom>
              <a:avLst/>
              <a:gdLst/>
              <a:ahLst/>
              <a:cxnLst/>
              <a:rect r="r" b="b" t="t" l="l"/>
              <a:pathLst>
                <a:path h="548640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984" r="0" b="-16498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6053328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TM5 – Minh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1850624" y="5692140"/>
            <a:ext cx="5308092" cy="2811780"/>
            <a:chOff x="0" y="0"/>
            <a:chExt cx="7077456" cy="37490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077456" cy="3749040"/>
            </a:xfrm>
            <a:custGeom>
              <a:avLst/>
              <a:gdLst/>
              <a:ahLst/>
              <a:cxnLst/>
              <a:rect r="r" b="b" t="t" l="l"/>
              <a:pathLst>
                <a:path h="3749040" w="707745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912864" y="0"/>
                  </a:lnTo>
                  <a:cubicBezTo>
                    <a:pt x="7003796" y="0"/>
                    <a:pt x="7077456" y="73660"/>
                    <a:pt x="7077456" y="164592"/>
                  </a:cubicBezTo>
                  <a:lnTo>
                    <a:pt x="7077456" y="3584448"/>
                  </a:lnTo>
                  <a:cubicBezTo>
                    <a:pt x="7077456" y="3675380"/>
                    <a:pt x="7003796" y="3749040"/>
                    <a:pt x="6912864" y="3749040"/>
                  </a:cubicBezTo>
                  <a:lnTo>
                    <a:pt x="164592" y="3749040"/>
                  </a:lnTo>
                  <a:cubicBezTo>
                    <a:pt x="73660" y="3749040"/>
                    <a:pt x="0" y="3675380"/>
                    <a:pt x="0" y="3584448"/>
                  </a:cubicBezTo>
                  <a:close/>
                </a:path>
              </a:pathLst>
            </a:custGeom>
            <a:solidFill>
              <a:srgbClr val="FAFAFD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2234672" y="6076188"/>
            <a:ext cx="850392" cy="850392"/>
            <a:chOff x="0" y="0"/>
            <a:chExt cx="1133856" cy="113385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234672" y="6076188"/>
            <a:ext cx="850392" cy="850392"/>
            <a:chOff x="0" y="0"/>
            <a:chExt cx="1133856" cy="113385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06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234672" y="7132320"/>
            <a:ext cx="4539996" cy="891540"/>
            <a:chOff x="0" y="0"/>
            <a:chExt cx="6053328" cy="11887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053328" cy="1188720"/>
            </a:xfrm>
            <a:custGeom>
              <a:avLst/>
              <a:gdLst/>
              <a:ahLst/>
              <a:cxnLst/>
              <a:rect r="r" b="b" t="t" l="l"/>
              <a:pathLst>
                <a:path h="1188720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223" r="0" b="-4922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6053328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</a:t>
              </a:r>
              <a:r>
                <a:rPr lang="en-US" sz="202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esting &amp; QA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234672" y="7927848"/>
            <a:ext cx="4539996" cy="411480"/>
            <a:chOff x="0" y="0"/>
            <a:chExt cx="6053328" cy="5486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053328" cy="548640"/>
            </a:xfrm>
            <a:custGeom>
              <a:avLst/>
              <a:gdLst/>
              <a:ahLst/>
              <a:cxnLst/>
              <a:rect r="r" b="b" t="t" l="l"/>
              <a:pathLst>
                <a:path h="548640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984" r="0" b="-16498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6053328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TM6 – Vũ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6504463" y="9710928"/>
            <a:ext cx="1371600" cy="411480"/>
            <a:chOff x="0" y="0"/>
            <a:chExt cx="1828800" cy="5486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 / 20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85800" y="9710928"/>
            <a:ext cx="3017520" cy="411480"/>
            <a:chOff x="0" y="0"/>
            <a:chExt cx="4023360" cy="548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023360" cy="548640"/>
            </a:xfrm>
            <a:custGeom>
              <a:avLst/>
              <a:gdLst/>
              <a:ahLst/>
              <a:cxnLst/>
              <a:rect r="r" b="b" t="t" l="l"/>
              <a:pathLst>
                <a:path h="5486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40233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7C7D9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MELON AI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87552" y="0"/>
                  </a:lnTo>
                  <a:cubicBezTo>
                    <a:pt x="1068324" y="0"/>
                    <a:pt x="1133856" y="65532"/>
                    <a:pt x="1133856" y="146304"/>
                  </a:cubicBezTo>
                  <a:lnTo>
                    <a:pt x="1133856" y="475488"/>
                  </a:lnTo>
                  <a:cubicBezTo>
                    <a:pt x="1133856" y="556260"/>
                    <a:pt x="1068324" y="621792"/>
                    <a:pt x="987552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360" t="0" r="-2036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73352" y="576072"/>
            <a:ext cx="8915400" cy="466344"/>
            <a:chOff x="0" y="0"/>
            <a:chExt cx="1188720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87200" cy="621792"/>
            </a:xfrm>
            <a:custGeom>
              <a:avLst/>
              <a:gdLst/>
              <a:ahLst/>
              <a:cxnLst/>
              <a:rect r="r" b="b" t="t" l="l"/>
              <a:pathLst>
                <a:path h="621792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508" r="0" b="-3225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18872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4B4B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VISION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1151001"/>
            <a:ext cx="1440180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6172B"/>
                </a:solidFill>
                <a:latin typeface="Arial Bold"/>
                <a:ea typeface="Arial Bold"/>
                <a:cs typeface="Arial Bold"/>
                <a:sym typeface="Arial Bold"/>
              </a:rPr>
              <a:t>Bài toán cần giải quyết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76275" y="2596515"/>
            <a:ext cx="5327142" cy="6259830"/>
            <a:chOff x="0" y="0"/>
            <a:chExt cx="7102856" cy="8346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02856" cy="8346440"/>
            </a:xfrm>
            <a:custGeom>
              <a:avLst/>
              <a:gdLst/>
              <a:ahLst/>
              <a:cxnLst/>
              <a:rect r="r" b="b" t="t" l="l"/>
              <a:pathLst>
                <a:path h="8346440" w="7102856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6937629" y="0"/>
                  </a:lnTo>
                  <a:cubicBezTo>
                    <a:pt x="7028815" y="0"/>
                    <a:pt x="7102856" y="73914"/>
                    <a:pt x="7102856" y="165227"/>
                  </a:cubicBezTo>
                  <a:lnTo>
                    <a:pt x="7102856" y="8181213"/>
                  </a:lnTo>
                  <a:cubicBezTo>
                    <a:pt x="7102856" y="8272399"/>
                    <a:pt x="7028942" y="8346440"/>
                    <a:pt x="6937629" y="8346440"/>
                  </a:cubicBezTo>
                  <a:lnTo>
                    <a:pt x="165227" y="8346440"/>
                  </a:lnTo>
                  <a:cubicBezTo>
                    <a:pt x="73914" y="8346440"/>
                    <a:pt x="0" y="8272526"/>
                    <a:pt x="0" y="818121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65860" y="3154680"/>
            <a:ext cx="1508760" cy="1508760"/>
            <a:chOff x="0" y="0"/>
            <a:chExt cx="2011680" cy="2011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solidFill>
              <a:srgbClr val="FFECD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3154680"/>
            <a:ext cx="1508760" cy="1508760"/>
            <a:chOff x="0" y="0"/>
            <a:chExt cx="2011680" cy="2011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2011680" cy="2106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20"/>
                </a:lnSpc>
              </a:pPr>
              <a:r>
                <a:rPr lang="en-US" sz="43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😴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65860" y="5006340"/>
            <a:ext cx="4347972" cy="754380"/>
            <a:chOff x="0" y="0"/>
            <a:chExt cx="5797296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972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5797296">
                  <a:moveTo>
                    <a:pt x="0" y="0"/>
                  </a:moveTo>
                  <a:lnTo>
                    <a:pt x="5797296" y="0"/>
                  </a:lnTo>
                  <a:lnTo>
                    <a:pt x="57972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304" r="0" b="-6230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5797296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Trẻ nhàm chán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65860" y="5829300"/>
            <a:ext cx="4347972" cy="2606040"/>
            <a:chOff x="0" y="0"/>
            <a:chExt cx="5797296" cy="3474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97296" cy="3474720"/>
            </a:xfrm>
            <a:custGeom>
              <a:avLst/>
              <a:gdLst/>
              <a:ahLst/>
              <a:cxnLst/>
              <a:rect r="r" b="b" t="t" l="l"/>
              <a:pathLst>
                <a:path h="3474720" w="5797296">
                  <a:moveTo>
                    <a:pt x="0" y="0"/>
                  </a:moveTo>
                  <a:lnTo>
                    <a:pt x="5797296" y="0"/>
                  </a:lnTo>
                  <a:lnTo>
                    <a:pt x="5797296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01" t="0" r="-2690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0"/>
              <a:ext cx="5797296" cy="3569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Cách học đọc-chép truyền thống quá đơn điệu, khiến trẻ mất tập trung và thiếu hứng thú.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258687" y="2596515"/>
            <a:ext cx="5327142" cy="6259830"/>
            <a:chOff x="0" y="0"/>
            <a:chExt cx="7102856" cy="8346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02856" cy="8346440"/>
            </a:xfrm>
            <a:custGeom>
              <a:avLst/>
              <a:gdLst/>
              <a:ahLst/>
              <a:cxnLst/>
              <a:rect r="r" b="b" t="t" l="l"/>
              <a:pathLst>
                <a:path h="8346440" w="7102856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6937629" y="0"/>
                  </a:lnTo>
                  <a:cubicBezTo>
                    <a:pt x="7028815" y="0"/>
                    <a:pt x="7102856" y="73914"/>
                    <a:pt x="7102856" y="165227"/>
                  </a:cubicBezTo>
                  <a:lnTo>
                    <a:pt x="7102856" y="8181213"/>
                  </a:lnTo>
                  <a:cubicBezTo>
                    <a:pt x="7102856" y="8272399"/>
                    <a:pt x="7028942" y="8346440"/>
                    <a:pt x="6937629" y="8346440"/>
                  </a:cubicBezTo>
                  <a:lnTo>
                    <a:pt x="165227" y="8346440"/>
                  </a:lnTo>
                  <a:cubicBezTo>
                    <a:pt x="73914" y="8346440"/>
                    <a:pt x="0" y="8272526"/>
                    <a:pt x="0" y="818121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748272" y="3154680"/>
            <a:ext cx="1508760" cy="1508760"/>
            <a:chOff x="0" y="0"/>
            <a:chExt cx="2011680" cy="2011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solidFill>
              <a:srgbClr val="F1ECF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748272" y="3154680"/>
            <a:ext cx="1508760" cy="1508760"/>
            <a:chOff x="0" y="0"/>
            <a:chExt cx="2011680" cy="20116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0"/>
              <a:ext cx="2011680" cy="2106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20"/>
                </a:lnSpc>
              </a:pPr>
              <a:r>
                <a:rPr lang="en-US" sz="43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748272" y="5006340"/>
            <a:ext cx="4347972" cy="754380"/>
            <a:chOff x="0" y="0"/>
            <a:chExt cx="5797296" cy="1005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972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5797296">
                  <a:moveTo>
                    <a:pt x="0" y="0"/>
                  </a:moveTo>
                  <a:lnTo>
                    <a:pt x="5797296" y="0"/>
                  </a:lnTo>
                  <a:lnTo>
                    <a:pt x="57972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304" r="0" b="-6230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5797296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Thiếu an toàn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748272" y="5829300"/>
            <a:ext cx="4347972" cy="2606040"/>
            <a:chOff x="0" y="0"/>
            <a:chExt cx="5797296" cy="3474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797296" cy="3474720"/>
            </a:xfrm>
            <a:custGeom>
              <a:avLst/>
              <a:gdLst/>
              <a:ahLst/>
              <a:cxnLst/>
              <a:rect r="r" b="b" t="t" l="l"/>
              <a:pathLst>
                <a:path h="3474720" w="5797296">
                  <a:moveTo>
                    <a:pt x="0" y="0"/>
                  </a:moveTo>
                  <a:lnTo>
                    <a:pt x="5797296" y="0"/>
                  </a:lnTo>
                  <a:lnTo>
                    <a:pt x="5797296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01" t="0" r="-26901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0"/>
              <a:ext cx="5797296" cy="3569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Phụ huynh lo ngại nội dung không kiểm soát trên mạng, khó giám sát con khi học online.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841099" y="2596515"/>
            <a:ext cx="5327142" cy="6259830"/>
            <a:chOff x="0" y="0"/>
            <a:chExt cx="7102856" cy="8346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102856" cy="8346440"/>
            </a:xfrm>
            <a:custGeom>
              <a:avLst/>
              <a:gdLst/>
              <a:ahLst/>
              <a:cxnLst/>
              <a:rect r="r" b="b" t="t" l="l"/>
              <a:pathLst>
                <a:path h="8346440" w="7102856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6937629" y="0"/>
                  </a:lnTo>
                  <a:cubicBezTo>
                    <a:pt x="7028815" y="0"/>
                    <a:pt x="7102856" y="73914"/>
                    <a:pt x="7102856" y="165227"/>
                  </a:cubicBezTo>
                  <a:lnTo>
                    <a:pt x="7102856" y="8181213"/>
                  </a:lnTo>
                  <a:cubicBezTo>
                    <a:pt x="7102856" y="8272399"/>
                    <a:pt x="7028942" y="8346440"/>
                    <a:pt x="6937629" y="8346440"/>
                  </a:cubicBezTo>
                  <a:lnTo>
                    <a:pt x="165227" y="8346440"/>
                  </a:lnTo>
                  <a:cubicBezTo>
                    <a:pt x="73914" y="8346440"/>
                    <a:pt x="0" y="8272526"/>
                    <a:pt x="0" y="818121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330684" y="3154680"/>
            <a:ext cx="1508760" cy="1508760"/>
            <a:chOff x="0" y="0"/>
            <a:chExt cx="2011680" cy="20116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solidFill>
              <a:srgbClr val="E5F6F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330684" y="3154680"/>
            <a:ext cx="1508760" cy="1508760"/>
            <a:chOff x="0" y="0"/>
            <a:chExt cx="2011680" cy="20116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0"/>
              <a:ext cx="2011680" cy="2106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20"/>
                </a:lnSpc>
              </a:pPr>
              <a:r>
                <a:rPr lang="en-US" sz="43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📉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330684" y="5006340"/>
            <a:ext cx="4347972" cy="754380"/>
            <a:chOff x="0" y="0"/>
            <a:chExt cx="5797296" cy="1005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7972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5797296">
                  <a:moveTo>
                    <a:pt x="0" y="0"/>
                  </a:moveTo>
                  <a:lnTo>
                    <a:pt x="5797296" y="0"/>
                  </a:lnTo>
                  <a:lnTo>
                    <a:pt x="57972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304" r="0" b="-6230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5797296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Không cá nhân hóa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330684" y="5829300"/>
            <a:ext cx="4347972" cy="2606040"/>
            <a:chOff x="0" y="0"/>
            <a:chExt cx="5797296" cy="34747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797296" cy="3474720"/>
            </a:xfrm>
            <a:custGeom>
              <a:avLst/>
              <a:gdLst/>
              <a:ahLst/>
              <a:cxnLst/>
              <a:rect r="r" b="b" t="t" l="l"/>
              <a:pathLst>
                <a:path h="3474720" w="5797296">
                  <a:moveTo>
                    <a:pt x="0" y="0"/>
                  </a:moveTo>
                  <a:lnTo>
                    <a:pt x="5797296" y="0"/>
                  </a:lnTo>
                  <a:lnTo>
                    <a:pt x="5797296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01" t="0" r="-26901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0"/>
              <a:ext cx="5797296" cy="3569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Chương trình học đồng loạt, không phù hợp tốc độ và năng lực của từng trẻ.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504463" y="9710928"/>
            <a:ext cx="1371600" cy="411480"/>
            <a:chOff x="0" y="0"/>
            <a:chExt cx="182880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 / 20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85800" y="9710928"/>
            <a:ext cx="3017520" cy="411480"/>
            <a:chOff x="0" y="0"/>
            <a:chExt cx="402336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023360" cy="548640"/>
            </a:xfrm>
            <a:custGeom>
              <a:avLst/>
              <a:gdLst/>
              <a:ahLst/>
              <a:cxnLst/>
              <a:rect r="r" b="b" t="t" l="l"/>
              <a:pathLst>
                <a:path h="5486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40233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7C7D9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MELON AI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87552" y="0"/>
                  </a:lnTo>
                  <a:cubicBezTo>
                    <a:pt x="1068324" y="0"/>
                    <a:pt x="1133856" y="65532"/>
                    <a:pt x="1133856" y="146304"/>
                  </a:cubicBezTo>
                  <a:lnTo>
                    <a:pt x="1133856" y="475488"/>
                  </a:lnTo>
                  <a:cubicBezTo>
                    <a:pt x="1133856" y="556260"/>
                    <a:pt x="1068324" y="621792"/>
                    <a:pt x="987552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360" t="0" r="-2036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73352" y="576072"/>
            <a:ext cx="8915400" cy="466344"/>
            <a:chOff x="0" y="0"/>
            <a:chExt cx="1188720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87200" cy="621792"/>
            </a:xfrm>
            <a:custGeom>
              <a:avLst/>
              <a:gdLst/>
              <a:ahLst/>
              <a:cxnLst/>
              <a:rect r="r" b="b" t="t" l="l"/>
              <a:pathLst>
                <a:path h="621792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508" r="0" b="-3225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18872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4B4B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VISION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1151001"/>
            <a:ext cx="1440180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6172B"/>
                </a:solidFill>
                <a:latin typeface="Arial Bold"/>
                <a:ea typeface="Arial Bold"/>
                <a:cs typeface="Arial Bold"/>
                <a:sym typeface="Arial Bold"/>
              </a:rPr>
              <a:t>Product Position Statement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5800" y="2537460"/>
            <a:ext cx="16911828" cy="1577340"/>
            <a:chOff x="0" y="0"/>
            <a:chExt cx="22549104" cy="2103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549104" cy="2103120"/>
            </a:xfrm>
            <a:custGeom>
              <a:avLst/>
              <a:gdLst/>
              <a:ahLst/>
              <a:cxnLst/>
              <a:rect r="r" b="b" t="t" l="l"/>
              <a:pathLst>
                <a:path h="2103120" w="2254910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2384511" y="0"/>
                  </a:lnTo>
                  <a:cubicBezTo>
                    <a:pt x="22475444" y="0"/>
                    <a:pt x="22549104" y="73660"/>
                    <a:pt x="22549104" y="164592"/>
                  </a:cubicBezTo>
                  <a:lnTo>
                    <a:pt x="22549104" y="1938528"/>
                  </a:lnTo>
                  <a:cubicBezTo>
                    <a:pt x="22549104" y="2029460"/>
                    <a:pt x="22475444" y="2103120"/>
                    <a:pt x="22384511" y="2103120"/>
                  </a:cubicBezTo>
                  <a:lnTo>
                    <a:pt x="164592" y="2103120"/>
                  </a:lnTo>
                  <a:cubicBezTo>
                    <a:pt x="73660" y="2103120"/>
                    <a:pt x="0" y="2029460"/>
                    <a:pt x="0" y="1938528"/>
                  </a:cubicBezTo>
                  <a:close/>
                </a:path>
              </a:pathLst>
            </a:custGeom>
            <a:solidFill>
              <a:srgbClr val="E7FBE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60120" y="2537460"/>
            <a:ext cx="16322040" cy="1577340"/>
            <a:chOff x="0" y="0"/>
            <a:chExt cx="21762720" cy="2103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627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627" r="0" b="-15162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1762720" cy="2131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i="true">
                  <a:solidFill>
                    <a:srgbClr val="22C55E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“Học thông minh · Vui hơn · Tiến bộ hơn”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6275" y="4585335"/>
            <a:ext cx="8180070" cy="2419350"/>
            <a:chOff x="0" y="0"/>
            <a:chExt cx="10906760" cy="322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06760" cy="3225800"/>
            </a:xfrm>
            <a:custGeom>
              <a:avLst/>
              <a:gdLst/>
              <a:ahLst/>
              <a:cxnLst/>
              <a:rect r="r" b="b" t="t" l="l"/>
              <a:pathLst>
                <a:path h="3225800" w="10906760">
                  <a:moveTo>
                    <a:pt x="0" y="165862"/>
                  </a:moveTo>
                  <a:cubicBezTo>
                    <a:pt x="0" y="74295"/>
                    <a:pt x="74295" y="0"/>
                    <a:pt x="165862" y="0"/>
                  </a:cubicBezTo>
                  <a:lnTo>
                    <a:pt x="10740898" y="0"/>
                  </a:lnTo>
                  <a:cubicBezTo>
                    <a:pt x="10832465" y="0"/>
                    <a:pt x="10906760" y="74295"/>
                    <a:pt x="10906760" y="165862"/>
                  </a:cubicBezTo>
                  <a:lnTo>
                    <a:pt x="10906760" y="3059938"/>
                  </a:lnTo>
                  <a:cubicBezTo>
                    <a:pt x="10906760" y="3151505"/>
                    <a:pt x="10832465" y="3225800"/>
                    <a:pt x="10740898" y="3225800"/>
                  </a:cubicBezTo>
                  <a:lnTo>
                    <a:pt x="165862" y="3225800"/>
                  </a:lnTo>
                  <a:cubicBezTo>
                    <a:pt x="74295" y="3225800"/>
                    <a:pt x="0" y="3151505"/>
                    <a:pt x="0" y="30599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" y="4978908"/>
            <a:ext cx="2331720" cy="548640"/>
            <a:chOff x="0" y="0"/>
            <a:chExt cx="310896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999232" y="0"/>
                  </a:lnTo>
                  <a:cubicBezTo>
                    <a:pt x="3059811" y="0"/>
                    <a:pt x="3108960" y="49149"/>
                    <a:pt x="3108960" y="109728"/>
                  </a:cubicBezTo>
                  <a:lnTo>
                    <a:pt x="3108960" y="621792"/>
                  </a:lnTo>
                  <a:cubicBezTo>
                    <a:pt x="3108960" y="682371"/>
                    <a:pt x="3059811" y="731520"/>
                    <a:pt x="2999232" y="731520"/>
                  </a:cubicBezTo>
                  <a:lnTo>
                    <a:pt x="109728" y="731520"/>
                  </a:lnTo>
                  <a:cubicBezTo>
                    <a:pt x="49149" y="731520"/>
                    <a:pt x="0" y="682371"/>
                    <a:pt x="0" y="621792"/>
                  </a:cubicBezTo>
                  <a:close/>
                </a:path>
              </a:pathLst>
            </a:custGeom>
            <a:solidFill>
              <a:srgbClr val="E5F6F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97280" y="4978908"/>
            <a:ext cx="2331720" cy="548640"/>
            <a:chOff x="0" y="0"/>
            <a:chExt cx="310896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1089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DÀNH CHO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97280" y="5719572"/>
            <a:ext cx="7338060" cy="1097280"/>
            <a:chOff x="0" y="0"/>
            <a:chExt cx="978408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84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306" r="0" b="-8030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78408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Trẻ em muốn ôn tập, luyện thi vào THCS &amp; Phụ huynh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85935" y="4585335"/>
            <a:ext cx="8180070" cy="2419350"/>
            <a:chOff x="0" y="0"/>
            <a:chExt cx="10906760" cy="3225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06760" cy="3225800"/>
            </a:xfrm>
            <a:custGeom>
              <a:avLst/>
              <a:gdLst/>
              <a:ahLst/>
              <a:cxnLst/>
              <a:rect r="r" b="b" t="t" l="l"/>
              <a:pathLst>
                <a:path h="3225800" w="10906760">
                  <a:moveTo>
                    <a:pt x="0" y="165862"/>
                  </a:moveTo>
                  <a:cubicBezTo>
                    <a:pt x="0" y="74295"/>
                    <a:pt x="74295" y="0"/>
                    <a:pt x="165862" y="0"/>
                  </a:cubicBezTo>
                  <a:lnTo>
                    <a:pt x="10740898" y="0"/>
                  </a:lnTo>
                  <a:cubicBezTo>
                    <a:pt x="10832465" y="0"/>
                    <a:pt x="10906760" y="74295"/>
                    <a:pt x="10906760" y="165862"/>
                  </a:cubicBezTo>
                  <a:lnTo>
                    <a:pt x="10906760" y="3059938"/>
                  </a:lnTo>
                  <a:cubicBezTo>
                    <a:pt x="10906760" y="3151505"/>
                    <a:pt x="10832465" y="3225800"/>
                    <a:pt x="10740898" y="3225800"/>
                  </a:cubicBezTo>
                  <a:lnTo>
                    <a:pt x="165862" y="3225800"/>
                  </a:lnTo>
                  <a:cubicBezTo>
                    <a:pt x="74295" y="3225800"/>
                    <a:pt x="0" y="3151505"/>
                    <a:pt x="0" y="30599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806940" y="4978908"/>
            <a:ext cx="2331720" cy="548640"/>
            <a:chOff x="0" y="0"/>
            <a:chExt cx="310896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999232" y="0"/>
                  </a:lnTo>
                  <a:cubicBezTo>
                    <a:pt x="3059811" y="0"/>
                    <a:pt x="3108960" y="49149"/>
                    <a:pt x="3108960" y="109728"/>
                  </a:cubicBezTo>
                  <a:lnTo>
                    <a:pt x="3108960" y="621792"/>
                  </a:lnTo>
                  <a:cubicBezTo>
                    <a:pt x="3108960" y="682371"/>
                    <a:pt x="3059811" y="731520"/>
                    <a:pt x="2999232" y="731520"/>
                  </a:cubicBezTo>
                  <a:lnTo>
                    <a:pt x="109728" y="731520"/>
                  </a:lnTo>
                  <a:cubicBezTo>
                    <a:pt x="49149" y="731520"/>
                    <a:pt x="0" y="682371"/>
                    <a:pt x="0" y="621792"/>
                  </a:cubicBezTo>
                  <a:close/>
                </a:path>
              </a:pathLst>
            </a:custGeom>
            <a:solidFill>
              <a:srgbClr val="F1ECF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806940" y="4978908"/>
            <a:ext cx="2331720" cy="548640"/>
            <a:chOff x="0" y="0"/>
            <a:chExt cx="310896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31089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ĐÂY LÀ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806940" y="5719572"/>
            <a:ext cx="7338060" cy="1097280"/>
            <a:chOff x="0" y="0"/>
            <a:chExt cx="9784080" cy="14630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84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306" r="0" b="-8030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78408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Nền tảng giáo dục tương tác tích hợp GenAI (EdTech)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76275" y="7397115"/>
            <a:ext cx="8180070" cy="2419350"/>
            <a:chOff x="0" y="0"/>
            <a:chExt cx="10906760" cy="3225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06760" cy="3225800"/>
            </a:xfrm>
            <a:custGeom>
              <a:avLst/>
              <a:gdLst/>
              <a:ahLst/>
              <a:cxnLst/>
              <a:rect r="r" b="b" t="t" l="l"/>
              <a:pathLst>
                <a:path h="3225800" w="10906760">
                  <a:moveTo>
                    <a:pt x="0" y="165862"/>
                  </a:moveTo>
                  <a:cubicBezTo>
                    <a:pt x="0" y="74295"/>
                    <a:pt x="74295" y="0"/>
                    <a:pt x="165862" y="0"/>
                  </a:cubicBezTo>
                  <a:lnTo>
                    <a:pt x="10740898" y="0"/>
                  </a:lnTo>
                  <a:cubicBezTo>
                    <a:pt x="10832465" y="0"/>
                    <a:pt x="10906760" y="74295"/>
                    <a:pt x="10906760" y="165862"/>
                  </a:cubicBezTo>
                  <a:lnTo>
                    <a:pt x="10906760" y="3059938"/>
                  </a:lnTo>
                  <a:cubicBezTo>
                    <a:pt x="10906760" y="3151505"/>
                    <a:pt x="10832465" y="3225800"/>
                    <a:pt x="10740898" y="3225800"/>
                  </a:cubicBezTo>
                  <a:lnTo>
                    <a:pt x="165862" y="3225800"/>
                  </a:lnTo>
                  <a:cubicBezTo>
                    <a:pt x="74295" y="3225800"/>
                    <a:pt x="0" y="3151505"/>
                    <a:pt x="0" y="30599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97280" y="7790688"/>
            <a:ext cx="2331720" cy="548640"/>
            <a:chOff x="0" y="0"/>
            <a:chExt cx="310896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999232" y="0"/>
                  </a:lnTo>
                  <a:cubicBezTo>
                    <a:pt x="3059811" y="0"/>
                    <a:pt x="3108960" y="49149"/>
                    <a:pt x="3108960" y="109728"/>
                  </a:cubicBezTo>
                  <a:lnTo>
                    <a:pt x="3108960" y="621792"/>
                  </a:lnTo>
                  <a:cubicBezTo>
                    <a:pt x="3108960" y="682371"/>
                    <a:pt x="3059811" y="731520"/>
                    <a:pt x="2999232" y="731520"/>
                  </a:cubicBezTo>
                  <a:lnTo>
                    <a:pt x="109728" y="731520"/>
                  </a:lnTo>
                  <a:cubicBezTo>
                    <a:pt x="49149" y="731520"/>
                    <a:pt x="0" y="682371"/>
                    <a:pt x="0" y="621792"/>
                  </a:cubicBezTo>
                  <a:close/>
                </a:path>
              </a:pathLst>
            </a:custGeom>
            <a:solidFill>
              <a:srgbClr val="FFECD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97280" y="7790688"/>
            <a:ext cx="2331720" cy="548640"/>
            <a:chOff x="0" y="0"/>
            <a:chExt cx="310896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31089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KHÁC BIỆT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97280" y="8531352"/>
            <a:ext cx="7338060" cy="1097280"/>
            <a:chOff x="0" y="0"/>
            <a:chExt cx="9784080" cy="14630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784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306" r="0" b="-8030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78408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Biến mọi tài liệu PDF/Ảnh thành bài học tương tác, gamified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385935" y="7397115"/>
            <a:ext cx="8180070" cy="2419350"/>
            <a:chOff x="0" y="0"/>
            <a:chExt cx="10906760" cy="3225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06760" cy="3225800"/>
            </a:xfrm>
            <a:custGeom>
              <a:avLst/>
              <a:gdLst/>
              <a:ahLst/>
              <a:cxnLst/>
              <a:rect r="r" b="b" t="t" l="l"/>
              <a:pathLst>
                <a:path h="3225800" w="10906760">
                  <a:moveTo>
                    <a:pt x="0" y="165862"/>
                  </a:moveTo>
                  <a:cubicBezTo>
                    <a:pt x="0" y="74295"/>
                    <a:pt x="74295" y="0"/>
                    <a:pt x="165862" y="0"/>
                  </a:cubicBezTo>
                  <a:lnTo>
                    <a:pt x="10740898" y="0"/>
                  </a:lnTo>
                  <a:cubicBezTo>
                    <a:pt x="10832465" y="0"/>
                    <a:pt x="10906760" y="74295"/>
                    <a:pt x="10906760" y="165862"/>
                  </a:cubicBezTo>
                  <a:lnTo>
                    <a:pt x="10906760" y="3059938"/>
                  </a:lnTo>
                  <a:cubicBezTo>
                    <a:pt x="10906760" y="3151505"/>
                    <a:pt x="10832465" y="3225800"/>
                    <a:pt x="10740898" y="3225800"/>
                  </a:cubicBezTo>
                  <a:lnTo>
                    <a:pt x="165862" y="3225800"/>
                  </a:lnTo>
                  <a:cubicBezTo>
                    <a:pt x="74295" y="3225800"/>
                    <a:pt x="0" y="3151505"/>
                    <a:pt x="0" y="30599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806940" y="7790688"/>
            <a:ext cx="2331720" cy="548640"/>
            <a:chOff x="0" y="0"/>
            <a:chExt cx="310896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999232" y="0"/>
                  </a:lnTo>
                  <a:cubicBezTo>
                    <a:pt x="3059811" y="0"/>
                    <a:pt x="3108960" y="49149"/>
                    <a:pt x="3108960" y="109728"/>
                  </a:cubicBezTo>
                  <a:lnTo>
                    <a:pt x="3108960" y="621792"/>
                  </a:lnTo>
                  <a:cubicBezTo>
                    <a:pt x="3108960" y="682371"/>
                    <a:pt x="3059811" y="731520"/>
                    <a:pt x="2999232" y="731520"/>
                  </a:cubicBezTo>
                  <a:lnTo>
                    <a:pt x="109728" y="731520"/>
                  </a:lnTo>
                  <a:cubicBezTo>
                    <a:pt x="49149" y="731520"/>
                    <a:pt x="0" y="682371"/>
                    <a:pt x="0" y="621792"/>
                  </a:cubicBezTo>
                  <a:close/>
                </a:path>
              </a:pathLst>
            </a:custGeom>
            <a:solidFill>
              <a:srgbClr val="E7FBE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806940" y="7790688"/>
            <a:ext cx="2331720" cy="548640"/>
            <a:chOff x="0" y="0"/>
            <a:chExt cx="310896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31089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GIÁ TRỊ CỐT LÕI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806940" y="8531352"/>
            <a:ext cx="7338060" cy="1097280"/>
            <a:chOff x="0" y="0"/>
            <a:chExt cx="9784080" cy="14630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84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306" r="0" b="-8030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978408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Tutor cá nhân + Child-Safety Moderation + Real-time Progress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6504463" y="9710928"/>
            <a:ext cx="1371600" cy="411480"/>
            <a:chOff x="0" y="0"/>
            <a:chExt cx="182880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 / 20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85800" y="9710928"/>
            <a:ext cx="3017520" cy="411480"/>
            <a:chOff x="0" y="0"/>
            <a:chExt cx="402336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023360" cy="548640"/>
            </a:xfrm>
            <a:custGeom>
              <a:avLst/>
              <a:gdLst/>
              <a:ahLst/>
              <a:cxnLst/>
              <a:rect r="r" b="b" t="t" l="l"/>
              <a:pathLst>
                <a:path h="5486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40233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7C7D9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MELON AI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87552" y="0"/>
                  </a:lnTo>
                  <a:cubicBezTo>
                    <a:pt x="1068324" y="0"/>
                    <a:pt x="1133856" y="65532"/>
                    <a:pt x="1133856" y="146304"/>
                  </a:cubicBezTo>
                  <a:lnTo>
                    <a:pt x="1133856" y="475488"/>
                  </a:lnTo>
                  <a:cubicBezTo>
                    <a:pt x="1133856" y="556260"/>
                    <a:pt x="1068324" y="621792"/>
                    <a:pt x="987552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360" t="0" r="-2036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73352" y="576072"/>
            <a:ext cx="8915400" cy="466344"/>
            <a:chOff x="0" y="0"/>
            <a:chExt cx="1188720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87200" cy="621792"/>
            </a:xfrm>
            <a:custGeom>
              <a:avLst/>
              <a:gdLst/>
              <a:ahLst/>
              <a:cxnLst/>
              <a:rect r="r" b="b" t="t" l="l"/>
              <a:pathLst>
                <a:path h="621792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508" r="0" b="-3225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18872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4B4B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VISION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1151001"/>
            <a:ext cx="1440180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6172B"/>
                </a:solidFill>
                <a:latin typeface="Arial Bold"/>
                <a:ea typeface="Arial Bold"/>
                <a:cs typeface="Arial Bold"/>
                <a:sym typeface="Arial Bold"/>
              </a:rPr>
              <a:t>Người dùng &amp; Thị trường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76275" y="2596515"/>
            <a:ext cx="5327142" cy="6259830"/>
            <a:chOff x="0" y="0"/>
            <a:chExt cx="7102856" cy="8346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02856" cy="8346440"/>
            </a:xfrm>
            <a:custGeom>
              <a:avLst/>
              <a:gdLst/>
              <a:ahLst/>
              <a:cxnLst/>
              <a:rect r="r" b="b" t="t" l="l"/>
              <a:pathLst>
                <a:path h="8346440" w="7102856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6937629" y="0"/>
                  </a:lnTo>
                  <a:cubicBezTo>
                    <a:pt x="7028815" y="0"/>
                    <a:pt x="7102856" y="73914"/>
                    <a:pt x="7102856" y="165227"/>
                  </a:cubicBezTo>
                  <a:lnTo>
                    <a:pt x="7102856" y="8181213"/>
                  </a:lnTo>
                  <a:cubicBezTo>
                    <a:pt x="7102856" y="8272399"/>
                    <a:pt x="7028942" y="8346440"/>
                    <a:pt x="6937629" y="8346440"/>
                  </a:cubicBezTo>
                  <a:lnTo>
                    <a:pt x="165227" y="8346440"/>
                  </a:lnTo>
                  <a:cubicBezTo>
                    <a:pt x="73914" y="8346440"/>
                    <a:pt x="0" y="8272526"/>
                    <a:pt x="0" y="818121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97280" y="3086100"/>
            <a:ext cx="1303020" cy="1303020"/>
            <a:chOff x="0" y="0"/>
            <a:chExt cx="1737360" cy="1737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E7FBE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97280" y="3086100"/>
            <a:ext cx="1303020" cy="1303020"/>
            <a:chOff x="0" y="0"/>
            <a:chExt cx="1737360" cy="1737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1737360" cy="1813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00"/>
                </a:lnSpc>
              </a:pPr>
              <a:r>
                <a:rPr lang="en-US" sz="37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🧒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606040" y="3127248"/>
            <a:ext cx="2976372" cy="548640"/>
            <a:chOff x="0" y="0"/>
            <a:chExt cx="3968496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68496" cy="731520"/>
            </a:xfrm>
            <a:custGeom>
              <a:avLst/>
              <a:gdLst/>
              <a:ahLst/>
              <a:cxnLst/>
              <a:rect r="r" b="b" t="t" l="l"/>
              <a:pathLst>
                <a:path h="731520" w="3968496">
                  <a:moveTo>
                    <a:pt x="0" y="0"/>
                  </a:moveTo>
                  <a:lnTo>
                    <a:pt x="3968496" y="0"/>
                  </a:lnTo>
                  <a:lnTo>
                    <a:pt x="39684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706" r="0" b="-5570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3968496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KID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606040" y="3634740"/>
            <a:ext cx="2976372" cy="480060"/>
            <a:chOff x="0" y="0"/>
            <a:chExt cx="3968496" cy="640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968496" cy="640080"/>
            </a:xfrm>
            <a:custGeom>
              <a:avLst/>
              <a:gdLst/>
              <a:ahLst/>
              <a:cxnLst/>
              <a:rect r="r" b="b" t="t" l="l"/>
              <a:pathLst>
                <a:path h="640080" w="3968496">
                  <a:moveTo>
                    <a:pt x="0" y="0"/>
                  </a:moveTo>
                  <a:lnTo>
                    <a:pt x="3968496" y="0"/>
                  </a:lnTo>
                  <a:lnTo>
                    <a:pt x="396849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968496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(Học sinh)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65860" y="4732020"/>
            <a:ext cx="4347972" cy="3840480"/>
            <a:chOff x="0" y="0"/>
            <a:chExt cx="5797296" cy="5120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97296" cy="5120640"/>
            </a:xfrm>
            <a:custGeom>
              <a:avLst/>
              <a:gdLst/>
              <a:ahLst/>
              <a:cxnLst/>
              <a:rect r="r" b="b" t="t" l="l"/>
              <a:pathLst>
                <a:path h="5120640" w="5797296">
                  <a:moveTo>
                    <a:pt x="0" y="0"/>
                  </a:moveTo>
                  <a:lnTo>
                    <a:pt x="5797296" y="0"/>
                  </a:lnTo>
                  <a:lnTo>
                    <a:pt x="5797296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3328" t="0" r="-63328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5797296" cy="5168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Học sinh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Học qua flashcard, kéo-thả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Nghe TTS đọc đề bài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Nhận XP, Badge, Leaderboard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258687" y="2596515"/>
            <a:ext cx="5327142" cy="6259830"/>
            <a:chOff x="0" y="0"/>
            <a:chExt cx="7102856" cy="83464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02856" cy="8346440"/>
            </a:xfrm>
            <a:custGeom>
              <a:avLst/>
              <a:gdLst/>
              <a:ahLst/>
              <a:cxnLst/>
              <a:rect r="r" b="b" t="t" l="l"/>
              <a:pathLst>
                <a:path h="8346440" w="7102856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6937629" y="0"/>
                  </a:lnTo>
                  <a:cubicBezTo>
                    <a:pt x="7028815" y="0"/>
                    <a:pt x="7102856" y="73914"/>
                    <a:pt x="7102856" y="165227"/>
                  </a:cubicBezTo>
                  <a:lnTo>
                    <a:pt x="7102856" y="8181213"/>
                  </a:lnTo>
                  <a:cubicBezTo>
                    <a:pt x="7102856" y="8272399"/>
                    <a:pt x="7028942" y="8346440"/>
                    <a:pt x="6937629" y="8346440"/>
                  </a:cubicBezTo>
                  <a:lnTo>
                    <a:pt x="165227" y="8346440"/>
                  </a:lnTo>
                  <a:cubicBezTo>
                    <a:pt x="73914" y="8346440"/>
                    <a:pt x="0" y="8272526"/>
                    <a:pt x="0" y="818121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6679692" y="3086100"/>
            <a:ext cx="1303020" cy="1303020"/>
            <a:chOff x="0" y="0"/>
            <a:chExt cx="1737360" cy="1737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E5F6F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679692" y="3086100"/>
            <a:ext cx="1303020" cy="1303020"/>
            <a:chOff x="0" y="0"/>
            <a:chExt cx="1737360" cy="1737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1737360" cy="1813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00"/>
                </a:lnSpc>
              </a:pPr>
              <a:r>
                <a:rPr lang="en-US" sz="37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👨‍👩‍👧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188452" y="3127248"/>
            <a:ext cx="2976372" cy="548640"/>
            <a:chOff x="0" y="0"/>
            <a:chExt cx="3968496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68496" cy="731520"/>
            </a:xfrm>
            <a:custGeom>
              <a:avLst/>
              <a:gdLst/>
              <a:ahLst/>
              <a:cxnLst/>
              <a:rect r="r" b="b" t="t" l="l"/>
              <a:pathLst>
                <a:path h="731520" w="3968496">
                  <a:moveTo>
                    <a:pt x="0" y="0"/>
                  </a:moveTo>
                  <a:lnTo>
                    <a:pt x="3968496" y="0"/>
                  </a:lnTo>
                  <a:lnTo>
                    <a:pt x="39684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706" r="0" b="-5570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3968496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PARENT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188452" y="3634740"/>
            <a:ext cx="2976372" cy="480060"/>
            <a:chOff x="0" y="0"/>
            <a:chExt cx="3968496" cy="640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68496" cy="640080"/>
            </a:xfrm>
            <a:custGeom>
              <a:avLst/>
              <a:gdLst/>
              <a:ahLst/>
              <a:cxnLst/>
              <a:rect r="r" b="b" t="t" l="l"/>
              <a:pathLst>
                <a:path h="640080" w="3968496">
                  <a:moveTo>
                    <a:pt x="0" y="0"/>
                  </a:moveTo>
                  <a:lnTo>
                    <a:pt x="3968496" y="0"/>
                  </a:lnTo>
                  <a:lnTo>
                    <a:pt x="396849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968496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(Phụ huynh)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748272" y="4732020"/>
            <a:ext cx="4347972" cy="3840480"/>
            <a:chOff x="0" y="0"/>
            <a:chExt cx="5797296" cy="5120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797296" cy="5120640"/>
            </a:xfrm>
            <a:custGeom>
              <a:avLst/>
              <a:gdLst/>
              <a:ahLst/>
              <a:cxnLst/>
              <a:rect r="r" b="b" t="t" l="l"/>
              <a:pathLst>
                <a:path h="5120640" w="5797296">
                  <a:moveTo>
                    <a:pt x="0" y="0"/>
                  </a:moveTo>
                  <a:lnTo>
                    <a:pt x="5797296" y="0"/>
                  </a:lnTo>
                  <a:lnTo>
                    <a:pt x="5797296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3328" t="0" r="-63328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5797296" cy="5168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Quản lý tài khoản con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Upload PDF → AI sinh bài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Xem Dashboard tiến độ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Nhận thông báo học tập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841099" y="2596515"/>
            <a:ext cx="5327142" cy="6259830"/>
            <a:chOff x="0" y="0"/>
            <a:chExt cx="7102856" cy="8346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102856" cy="8346440"/>
            </a:xfrm>
            <a:custGeom>
              <a:avLst/>
              <a:gdLst/>
              <a:ahLst/>
              <a:cxnLst/>
              <a:rect r="r" b="b" t="t" l="l"/>
              <a:pathLst>
                <a:path h="8346440" w="7102856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6937629" y="0"/>
                  </a:lnTo>
                  <a:cubicBezTo>
                    <a:pt x="7028815" y="0"/>
                    <a:pt x="7102856" y="73914"/>
                    <a:pt x="7102856" y="165227"/>
                  </a:cubicBezTo>
                  <a:lnTo>
                    <a:pt x="7102856" y="8181213"/>
                  </a:lnTo>
                  <a:cubicBezTo>
                    <a:pt x="7102856" y="8272399"/>
                    <a:pt x="7028942" y="8346440"/>
                    <a:pt x="6937629" y="8346440"/>
                  </a:cubicBezTo>
                  <a:lnTo>
                    <a:pt x="165227" y="8346440"/>
                  </a:lnTo>
                  <a:cubicBezTo>
                    <a:pt x="73914" y="8346440"/>
                    <a:pt x="0" y="8272526"/>
                    <a:pt x="0" y="818121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262104" y="3086100"/>
            <a:ext cx="1303020" cy="1303020"/>
            <a:chOff x="0" y="0"/>
            <a:chExt cx="1737360" cy="1737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F1ECF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262104" y="3086100"/>
            <a:ext cx="1303020" cy="1303020"/>
            <a:chOff x="0" y="0"/>
            <a:chExt cx="1737360" cy="1737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1737360" cy="1813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00"/>
                </a:lnSpc>
              </a:pPr>
              <a:r>
                <a:rPr lang="en-US" sz="37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🛡️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770864" y="3127248"/>
            <a:ext cx="2976372" cy="548640"/>
            <a:chOff x="0" y="0"/>
            <a:chExt cx="3968496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968496" cy="731520"/>
            </a:xfrm>
            <a:custGeom>
              <a:avLst/>
              <a:gdLst/>
              <a:ahLst/>
              <a:cxnLst/>
              <a:rect r="r" b="b" t="t" l="l"/>
              <a:pathLst>
                <a:path h="731520" w="3968496">
                  <a:moveTo>
                    <a:pt x="0" y="0"/>
                  </a:moveTo>
                  <a:lnTo>
                    <a:pt x="3968496" y="0"/>
                  </a:lnTo>
                  <a:lnTo>
                    <a:pt x="39684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706" r="0" b="-5570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3968496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ADMIN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770864" y="3634740"/>
            <a:ext cx="2976372" cy="480060"/>
            <a:chOff x="0" y="0"/>
            <a:chExt cx="3968496" cy="6400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68496" cy="640080"/>
            </a:xfrm>
            <a:custGeom>
              <a:avLst/>
              <a:gdLst/>
              <a:ahLst/>
              <a:cxnLst/>
              <a:rect r="r" b="b" t="t" l="l"/>
              <a:pathLst>
                <a:path h="640080" w="3968496">
                  <a:moveTo>
                    <a:pt x="0" y="0"/>
                  </a:moveTo>
                  <a:lnTo>
                    <a:pt x="3968496" y="0"/>
                  </a:lnTo>
                  <a:lnTo>
                    <a:pt x="396849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3968496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(Quản trị)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330684" y="4732020"/>
            <a:ext cx="4347972" cy="3840480"/>
            <a:chOff x="0" y="0"/>
            <a:chExt cx="5797296" cy="5120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797296" cy="5120640"/>
            </a:xfrm>
            <a:custGeom>
              <a:avLst/>
              <a:gdLst/>
              <a:ahLst/>
              <a:cxnLst/>
              <a:rect r="r" b="b" t="t" l="l"/>
              <a:pathLst>
                <a:path h="5120640" w="5797296">
                  <a:moveTo>
                    <a:pt x="0" y="0"/>
                  </a:moveTo>
                  <a:lnTo>
                    <a:pt x="5797296" y="0"/>
                  </a:lnTo>
                  <a:lnTo>
                    <a:pt x="5797296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3328" t="0" r="-63328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5797296" cy="5168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Kiểm duyệt nội dung AI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Quản lý Question Bank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Upload &amp; Parse đề thi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Giám sát hệ thống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504463" y="9710928"/>
            <a:ext cx="1371600" cy="411480"/>
            <a:chOff x="0" y="0"/>
            <a:chExt cx="182880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 / 20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85800" y="9710928"/>
            <a:ext cx="3017520" cy="411480"/>
            <a:chOff x="0" y="0"/>
            <a:chExt cx="402336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023360" cy="548640"/>
            </a:xfrm>
            <a:custGeom>
              <a:avLst/>
              <a:gdLst/>
              <a:ahLst/>
              <a:cxnLst/>
              <a:rect r="r" b="b" t="t" l="l"/>
              <a:pathLst>
                <a:path h="5486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40233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7C7D9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MELON AI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87552" y="0"/>
                  </a:lnTo>
                  <a:cubicBezTo>
                    <a:pt x="1068324" y="0"/>
                    <a:pt x="1133856" y="65532"/>
                    <a:pt x="1133856" y="146304"/>
                  </a:cubicBezTo>
                  <a:lnTo>
                    <a:pt x="1133856" y="475488"/>
                  </a:lnTo>
                  <a:cubicBezTo>
                    <a:pt x="1133856" y="556260"/>
                    <a:pt x="1068324" y="621792"/>
                    <a:pt x="987552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360" t="0" r="-2036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73352" y="576072"/>
            <a:ext cx="8915400" cy="466344"/>
            <a:chOff x="0" y="0"/>
            <a:chExt cx="1188720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87200" cy="621792"/>
            </a:xfrm>
            <a:custGeom>
              <a:avLst/>
              <a:gdLst/>
              <a:ahLst/>
              <a:cxnLst/>
              <a:rect r="r" b="b" t="t" l="l"/>
              <a:pathLst>
                <a:path h="621792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508" r="0" b="-3225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18872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4B4B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MANAGEMENT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1151001"/>
            <a:ext cx="1440180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6172B"/>
                </a:solidFill>
                <a:latin typeface="Arial Bold"/>
                <a:ea typeface="Arial Bold"/>
                <a:cs typeface="Arial Bold"/>
                <a:sym typeface="Arial Bold"/>
              </a:rPr>
              <a:t>Cấu trúc Nhóm &amp; Phân công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703320" y="2596515"/>
            <a:ext cx="2570243" cy="6259830"/>
            <a:chOff x="0" y="0"/>
            <a:chExt cx="3426990" cy="8346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26990" cy="8346439"/>
            </a:xfrm>
            <a:custGeom>
              <a:avLst/>
              <a:gdLst/>
              <a:ahLst/>
              <a:cxnLst/>
              <a:rect r="r" b="b" t="t" l="l"/>
              <a:pathLst>
                <a:path h="8346439" w="3426990">
                  <a:moveTo>
                    <a:pt x="0" y="165608"/>
                  </a:moveTo>
                  <a:cubicBezTo>
                    <a:pt x="0" y="74168"/>
                    <a:pt x="60589" y="0"/>
                    <a:pt x="135287" y="0"/>
                  </a:cubicBezTo>
                  <a:lnTo>
                    <a:pt x="3291704" y="0"/>
                  </a:lnTo>
                  <a:cubicBezTo>
                    <a:pt x="3366402" y="0"/>
                    <a:pt x="3426990" y="74168"/>
                    <a:pt x="3426990" y="165608"/>
                  </a:cubicBezTo>
                  <a:lnTo>
                    <a:pt x="3426990" y="8180832"/>
                  </a:lnTo>
                  <a:cubicBezTo>
                    <a:pt x="3426990" y="8272272"/>
                    <a:pt x="3366402" y="8346439"/>
                    <a:pt x="3291704" y="8346439"/>
                  </a:cubicBezTo>
                  <a:lnTo>
                    <a:pt x="135287" y="8346439"/>
                  </a:lnTo>
                  <a:cubicBezTo>
                    <a:pt x="60589" y="8346440"/>
                    <a:pt x="0" y="8272272"/>
                    <a:pt x="0" y="81808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64303" y="2596515"/>
            <a:ext cx="2570243" cy="6259830"/>
            <a:chOff x="0" y="0"/>
            <a:chExt cx="3426990" cy="8346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26990" cy="8346439"/>
            </a:xfrm>
            <a:custGeom>
              <a:avLst/>
              <a:gdLst/>
              <a:ahLst/>
              <a:cxnLst/>
              <a:rect r="r" b="b" t="t" l="l"/>
              <a:pathLst>
                <a:path h="8346439" w="3426990">
                  <a:moveTo>
                    <a:pt x="0" y="165608"/>
                  </a:moveTo>
                  <a:cubicBezTo>
                    <a:pt x="0" y="74168"/>
                    <a:pt x="60589" y="0"/>
                    <a:pt x="135287" y="0"/>
                  </a:cubicBezTo>
                  <a:lnTo>
                    <a:pt x="3291704" y="0"/>
                  </a:lnTo>
                  <a:cubicBezTo>
                    <a:pt x="3366402" y="0"/>
                    <a:pt x="3426990" y="74168"/>
                    <a:pt x="3426990" y="165608"/>
                  </a:cubicBezTo>
                  <a:lnTo>
                    <a:pt x="3426990" y="8180832"/>
                  </a:lnTo>
                  <a:cubicBezTo>
                    <a:pt x="3426990" y="8272272"/>
                    <a:pt x="3366402" y="8346439"/>
                    <a:pt x="3291704" y="8346439"/>
                  </a:cubicBezTo>
                  <a:lnTo>
                    <a:pt x="135287" y="8346439"/>
                  </a:lnTo>
                  <a:cubicBezTo>
                    <a:pt x="60589" y="8346440"/>
                    <a:pt x="0" y="8272272"/>
                    <a:pt x="0" y="81808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4268351" y="3086100"/>
            <a:ext cx="1440180" cy="1440180"/>
            <a:chOff x="0" y="0"/>
            <a:chExt cx="1920240" cy="1920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268351" y="3086100"/>
            <a:ext cx="1440180" cy="1440180"/>
            <a:chOff x="0" y="0"/>
            <a:chExt cx="1920240" cy="1920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920240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HH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630557" y="4869180"/>
            <a:ext cx="2715768" cy="1028700"/>
            <a:chOff x="0" y="0"/>
            <a:chExt cx="3621024" cy="137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21024" cy="1371600"/>
            </a:xfrm>
            <a:custGeom>
              <a:avLst/>
              <a:gdLst/>
              <a:ahLst/>
              <a:cxnLst/>
              <a:rect r="r" b="b" t="t" l="l"/>
              <a:pathLst>
                <a:path h="137160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621024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Nguyễn Huy Hoàng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630557" y="5829300"/>
            <a:ext cx="2715768" cy="411480"/>
            <a:chOff x="0" y="0"/>
            <a:chExt cx="3621024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21024" cy="548640"/>
            </a:xfrm>
            <a:custGeom>
              <a:avLst/>
              <a:gdLst/>
              <a:ahLst/>
              <a:cxnLst/>
              <a:rect r="r" b="b" t="t" l="l"/>
              <a:pathLst>
                <a:path h="54864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3621024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23122031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963932" y="6505575"/>
            <a:ext cx="2049018" cy="19050"/>
            <a:chOff x="0" y="0"/>
            <a:chExt cx="2732024" cy="25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32024" cy="25400"/>
            </a:xfrm>
            <a:custGeom>
              <a:avLst/>
              <a:gdLst/>
              <a:ahLst/>
              <a:cxnLst/>
              <a:rect r="r" b="b" t="t" l="l"/>
              <a:pathLst>
                <a:path h="25400" w="2732024">
                  <a:moveTo>
                    <a:pt x="0" y="0"/>
                  </a:moveTo>
                  <a:lnTo>
                    <a:pt x="2732024" y="25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045810" r="0" b="-2045810"/>
              </a:stretch>
            </a:blip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3630557" y="6720840"/>
            <a:ext cx="2715768" cy="480060"/>
            <a:chOff x="0" y="0"/>
            <a:chExt cx="3621024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21024" cy="640080"/>
            </a:xfrm>
            <a:custGeom>
              <a:avLst/>
              <a:gdLst/>
              <a:ahLst/>
              <a:cxnLst/>
              <a:rect r="r" b="b" t="t" l="l"/>
              <a:pathLst>
                <a:path h="64008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229" r="0" b="-6022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62102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Manager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630557" y="7200900"/>
            <a:ext cx="2715768" cy="1030146"/>
            <a:chOff x="0" y="0"/>
            <a:chExt cx="3621024" cy="137352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21024" cy="1373529"/>
            </a:xfrm>
            <a:custGeom>
              <a:avLst/>
              <a:gdLst/>
              <a:ahLst/>
              <a:cxnLst/>
              <a:rect r="r" b="b" t="t" l="l"/>
              <a:pathLst>
                <a:path h="1373529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1373529"/>
                  </a:lnTo>
                  <a:lnTo>
                    <a:pt x="0" y="13735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24" r="0" b="868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3621024" cy="13925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</a:t>
              </a:r>
              <a:r>
                <a:rPr lang="en-US" sz="157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ect Management &amp; 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 Cases</a:t>
              </a:r>
            </a:p>
            <a:p>
              <a:pPr algn="ctr">
                <a:lnSpc>
                  <a:spcPts val="188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437277" y="2596515"/>
            <a:ext cx="2570243" cy="6259830"/>
            <a:chOff x="0" y="0"/>
            <a:chExt cx="3426990" cy="8346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426990" cy="8346439"/>
            </a:xfrm>
            <a:custGeom>
              <a:avLst/>
              <a:gdLst/>
              <a:ahLst/>
              <a:cxnLst/>
              <a:rect r="r" b="b" t="t" l="l"/>
              <a:pathLst>
                <a:path h="8346439" w="3426990">
                  <a:moveTo>
                    <a:pt x="0" y="165608"/>
                  </a:moveTo>
                  <a:cubicBezTo>
                    <a:pt x="0" y="74168"/>
                    <a:pt x="60589" y="0"/>
                    <a:pt x="135287" y="0"/>
                  </a:cubicBezTo>
                  <a:lnTo>
                    <a:pt x="3291704" y="0"/>
                  </a:lnTo>
                  <a:cubicBezTo>
                    <a:pt x="3366402" y="0"/>
                    <a:pt x="3426990" y="74168"/>
                    <a:pt x="3426990" y="165608"/>
                  </a:cubicBezTo>
                  <a:lnTo>
                    <a:pt x="3426990" y="8180832"/>
                  </a:lnTo>
                  <a:cubicBezTo>
                    <a:pt x="3426990" y="8272272"/>
                    <a:pt x="3366402" y="8346439"/>
                    <a:pt x="3291704" y="8346439"/>
                  </a:cubicBezTo>
                  <a:lnTo>
                    <a:pt x="135287" y="8346439"/>
                  </a:lnTo>
                  <a:cubicBezTo>
                    <a:pt x="60589" y="8346440"/>
                    <a:pt x="0" y="8272272"/>
                    <a:pt x="0" y="81808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1905190" y="2596515"/>
            <a:ext cx="2570243" cy="6259830"/>
            <a:chOff x="0" y="0"/>
            <a:chExt cx="3426990" cy="8346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426990" cy="8346439"/>
            </a:xfrm>
            <a:custGeom>
              <a:avLst/>
              <a:gdLst/>
              <a:ahLst/>
              <a:cxnLst/>
              <a:rect r="r" b="b" t="t" l="l"/>
              <a:pathLst>
                <a:path h="8346439" w="3426990">
                  <a:moveTo>
                    <a:pt x="0" y="165608"/>
                  </a:moveTo>
                  <a:cubicBezTo>
                    <a:pt x="0" y="74168"/>
                    <a:pt x="60589" y="0"/>
                    <a:pt x="135287" y="0"/>
                  </a:cubicBezTo>
                  <a:lnTo>
                    <a:pt x="3291704" y="0"/>
                  </a:lnTo>
                  <a:cubicBezTo>
                    <a:pt x="3366402" y="0"/>
                    <a:pt x="3426990" y="74168"/>
                    <a:pt x="3426990" y="165608"/>
                  </a:cubicBezTo>
                  <a:lnTo>
                    <a:pt x="3426990" y="8180832"/>
                  </a:lnTo>
                  <a:cubicBezTo>
                    <a:pt x="3426990" y="8272272"/>
                    <a:pt x="3366402" y="8346439"/>
                    <a:pt x="3291704" y="8346439"/>
                  </a:cubicBezTo>
                  <a:lnTo>
                    <a:pt x="135287" y="8346439"/>
                  </a:lnTo>
                  <a:cubicBezTo>
                    <a:pt x="60589" y="8346440"/>
                    <a:pt x="0" y="8272272"/>
                    <a:pt x="0" y="81808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456331" y="3086100"/>
            <a:ext cx="1440180" cy="1440180"/>
            <a:chOff x="0" y="0"/>
            <a:chExt cx="1920240" cy="1920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456331" y="3086100"/>
            <a:ext cx="1440180" cy="1440180"/>
            <a:chOff x="0" y="0"/>
            <a:chExt cx="1920240" cy="1920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920240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NB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818537" y="4869180"/>
            <a:ext cx="2715768" cy="1028700"/>
            <a:chOff x="0" y="0"/>
            <a:chExt cx="3621024" cy="13716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21024" cy="1371600"/>
            </a:xfrm>
            <a:custGeom>
              <a:avLst/>
              <a:gdLst/>
              <a:ahLst/>
              <a:cxnLst/>
              <a:rect r="r" b="b" t="t" l="l"/>
              <a:pathLst>
                <a:path h="137160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621024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Nguyễn Bá Nam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818537" y="5829300"/>
            <a:ext cx="2715768" cy="411480"/>
            <a:chOff x="0" y="0"/>
            <a:chExt cx="3621024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621024" cy="548640"/>
            </a:xfrm>
            <a:custGeom>
              <a:avLst/>
              <a:gdLst/>
              <a:ahLst/>
              <a:cxnLst/>
              <a:rect r="r" b="b" t="t" l="l"/>
              <a:pathLst>
                <a:path h="54864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3621024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23122043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151912" y="6505575"/>
            <a:ext cx="2049018" cy="19050"/>
            <a:chOff x="0" y="0"/>
            <a:chExt cx="2732024" cy="25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732024" cy="25400"/>
            </a:xfrm>
            <a:custGeom>
              <a:avLst/>
              <a:gdLst/>
              <a:ahLst/>
              <a:cxnLst/>
              <a:rect r="r" b="b" t="t" l="l"/>
              <a:pathLst>
                <a:path h="25400" w="2732024">
                  <a:moveTo>
                    <a:pt x="0" y="0"/>
                  </a:moveTo>
                  <a:lnTo>
                    <a:pt x="2732024" y="25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045810" r="0" b="-2045810"/>
              </a:stretch>
            </a:blip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1818537" y="6720840"/>
            <a:ext cx="2715768" cy="480060"/>
            <a:chOff x="0" y="0"/>
            <a:chExt cx="3621024" cy="6400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621024" cy="640080"/>
            </a:xfrm>
            <a:custGeom>
              <a:avLst/>
              <a:gdLst/>
              <a:ahLst/>
              <a:cxnLst/>
              <a:rect r="r" b="b" t="t" l="l"/>
              <a:pathLst>
                <a:path h="64008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229" r="0" b="-6022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362102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Software Eng</a:t>
              </a:r>
              <a:r>
                <a:rPr lang="en-US" sz="172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ineer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818537" y="7200900"/>
            <a:ext cx="2715768" cy="822960"/>
            <a:chOff x="0" y="0"/>
            <a:chExt cx="3621024" cy="10972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621024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3621024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 Stack &amp; AI Integration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171233" y="2596515"/>
            <a:ext cx="2570243" cy="6259830"/>
            <a:chOff x="0" y="0"/>
            <a:chExt cx="3426990" cy="83464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426990" cy="8346439"/>
            </a:xfrm>
            <a:custGeom>
              <a:avLst/>
              <a:gdLst/>
              <a:ahLst/>
              <a:cxnLst/>
              <a:rect r="r" b="b" t="t" l="l"/>
              <a:pathLst>
                <a:path h="8346439" w="3426990">
                  <a:moveTo>
                    <a:pt x="0" y="165608"/>
                  </a:moveTo>
                  <a:cubicBezTo>
                    <a:pt x="0" y="74168"/>
                    <a:pt x="60589" y="0"/>
                    <a:pt x="135287" y="0"/>
                  </a:cubicBezTo>
                  <a:lnTo>
                    <a:pt x="3291704" y="0"/>
                  </a:lnTo>
                  <a:cubicBezTo>
                    <a:pt x="3366402" y="0"/>
                    <a:pt x="3426990" y="74168"/>
                    <a:pt x="3426990" y="165608"/>
                  </a:cubicBezTo>
                  <a:lnTo>
                    <a:pt x="3426990" y="8180832"/>
                  </a:lnTo>
                  <a:cubicBezTo>
                    <a:pt x="3426990" y="8272272"/>
                    <a:pt x="3366402" y="8346439"/>
                    <a:pt x="3291704" y="8346439"/>
                  </a:cubicBezTo>
                  <a:lnTo>
                    <a:pt x="135287" y="8346439"/>
                  </a:lnTo>
                  <a:cubicBezTo>
                    <a:pt x="60589" y="8346440"/>
                    <a:pt x="0" y="8272272"/>
                    <a:pt x="0" y="81808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740563" y="3086100"/>
            <a:ext cx="1440180" cy="1440180"/>
            <a:chOff x="0" y="0"/>
            <a:chExt cx="1920240" cy="19202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740563" y="3086100"/>
            <a:ext cx="1440180" cy="1440180"/>
            <a:chOff x="0" y="0"/>
            <a:chExt cx="1920240" cy="19202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1920240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TM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102769" y="4869180"/>
            <a:ext cx="2715768" cy="1028700"/>
            <a:chOff x="0" y="0"/>
            <a:chExt cx="3621024" cy="13716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621024" cy="1371600"/>
            </a:xfrm>
            <a:custGeom>
              <a:avLst/>
              <a:gdLst/>
              <a:ahLst/>
              <a:cxnLst/>
              <a:rect r="r" b="b" t="t" l="l"/>
              <a:pathLst>
                <a:path h="137160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3621024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Trần Tạ Quang Minh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102769" y="5829300"/>
            <a:ext cx="2715768" cy="411480"/>
            <a:chOff x="0" y="0"/>
            <a:chExt cx="3621024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21024" cy="548640"/>
            </a:xfrm>
            <a:custGeom>
              <a:avLst/>
              <a:gdLst/>
              <a:ahLst/>
              <a:cxnLst/>
              <a:rect r="r" b="b" t="t" l="l"/>
              <a:pathLst>
                <a:path h="54864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3621024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23122042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436144" y="6505575"/>
            <a:ext cx="2049018" cy="19050"/>
            <a:chOff x="0" y="0"/>
            <a:chExt cx="2732024" cy="254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732024" cy="25400"/>
            </a:xfrm>
            <a:custGeom>
              <a:avLst/>
              <a:gdLst/>
              <a:ahLst/>
              <a:cxnLst/>
              <a:rect r="r" b="b" t="t" l="l"/>
              <a:pathLst>
                <a:path h="25400" w="2732024">
                  <a:moveTo>
                    <a:pt x="0" y="0"/>
                  </a:moveTo>
                  <a:lnTo>
                    <a:pt x="2732024" y="25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045810" r="0" b="-2045810"/>
              </a:stretch>
            </a:blip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9102769" y="6720840"/>
            <a:ext cx="2715768" cy="480060"/>
            <a:chOff x="0" y="0"/>
            <a:chExt cx="3621024" cy="6400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621024" cy="640080"/>
            </a:xfrm>
            <a:custGeom>
              <a:avLst/>
              <a:gdLst/>
              <a:ahLst/>
              <a:cxnLst/>
              <a:rect r="r" b="b" t="t" l="l"/>
              <a:pathLst>
                <a:path h="64008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229" r="0" b="-6022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362102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AI/ML Engineer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102769" y="7200900"/>
            <a:ext cx="2715768" cy="822960"/>
            <a:chOff x="0" y="0"/>
            <a:chExt cx="3621024" cy="10972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621024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3621024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Evaluation &amp; Experiments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006875" y="3086100"/>
            <a:ext cx="1440180" cy="1440180"/>
            <a:chOff x="0" y="0"/>
            <a:chExt cx="1920240" cy="19202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FF7A0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7006875" y="3086100"/>
            <a:ext cx="1440180" cy="1440180"/>
            <a:chOff x="0" y="0"/>
            <a:chExt cx="1920240" cy="19202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1920240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ĐK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369081" y="4869180"/>
            <a:ext cx="2715768" cy="1028700"/>
            <a:chOff x="0" y="0"/>
            <a:chExt cx="3621024" cy="13716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621024" cy="1371600"/>
            </a:xfrm>
            <a:custGeom>
              <a:avLst/>
              <a:gdLst/>
              <a:ahLst/>
              <a:cxnLst/>
              <a:rect r="r" b="b" t="t" l="l"/>
              <a:pathLst>
                <a:path h="137160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3621024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Nguyễn Đăng Khôi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6369081" y="5829300"/>
            <a:ext cx="2715768" cy="411480"/>
            <a:chOff x="0" y="0"/>
            <a:chExt cx="3621024" cy="5486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621024" cy="548640"/>
            </a:xfrm>
            <a:custGeom>
              <a:avLst/>
              <a:gdLst/>
              <a:ahLst/>
              <a:cxnLst/>
              <a:rect r="r" b="b" t="t" l="l"/>
              <a:pathLst>
                <a:path h="54864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3621024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23122037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702456" y="6505575"/>
            <a:ext cx="2049018" cy="19050"/>
            <a:chOff x="0" y="0"/>
            <a:chExt cx="2732024" cy="254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732024" cy="25400"/>
            </a:xfrm>
            <a:custGeom>
              <a:avLst/>
              <a:gdLst/>
              <a:ahLst/>
              <a:cxnLst/>
              <a:rect r="r" b="b" t="t" l="l"/>
              <a:pathLst>
                <a:path h="25400" w="2732024">
                  <a:moveTo>
                    <a:pt x="0" y="0"/>
                  </a:moveTo>
                  <a:lnTo>
                    <a:pt x="2732024" y="25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045810" r="0" b="-2045810"/>
              </a:stretch>
            </a:blip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6369081" y="6720840"/>
            <a:ext cx="2715768" cy="480060"/>
            <a:chOff x="0" y="0"/>
            <a:chExt cx="3621024" cy="6400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621024" cy="640080"/>
            </a:xfrm>
            <a:custGeom>
              <a:avLst/>
              <a:gdLst/>
              <a:ahLst/>
              <a:cxnLst/>
              <a:rect r="r" b="b" t="t" l="l"/>
              <a:pathLst>
                <a:path h="64008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229" r="0" b="-60229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362102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Analyst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369081" y="7200900"/>
            <a:ext cx="2715768" cy="822960"/>
            <a:chOff x="0" y="0"/>
            <a:chExt cx="3621024" cy="109728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621024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3621024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Vision &amp; Problem Statement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4639146" y="2596515"/>
            <a:ext cx="2570243" cy="6259830"/>
            <a:chOff x="0" y="0"/>
            <a:chExt cx="3426990" cy="83464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426990" cy="8346439"/>
            </a:xfrm>
            <a:custGeom>
              <a:avLst/>
              <a:gdLst/>
              <a:ahLst/>
              <a:cxnLst/>
              <a:rect r="r" b="b" t="t" l="l"/>
              <a:pathLst>
                <a:path h="8346439" w="3426990">
                  <a:moveTo>
                    <a:pt x="0" y="165608"/>
                  </a:moveTo>
                  <a:cubicBezTo>
                    <a:pt x="0" y="74168"/>
                    <a:pt x="60589" y="0"/>
                    <a:pt x="135287" y="0"/>
                  </a:cubicBezTo>
                  <a:lnTo>
                    <a:pt x="3291704" y="0"/>
                  </a:lnTo>
                  <a:cubicBezTo>
                    <a:pt x="3366402" y="0"/>
                    <a:pt x="3426990" y="74168"/>
                    <a:pt x="3426990" y="165608"/>
                  </a:cubicBezTo>
                  <a:lnTo>
                    <a:pt x="3426990" y="8180832"/>
                  </a:lnTo>
                  <a:cubicBezTo>
                    <a:pt x="3426990" y="8272272"/>
                    <a:pt x="3366402" y="8346439"/>
                    <a:pt x="3291704" y="8346439"/>
                  </a:cubicBezTo>
                  <a:lnTo>
                    <a:pt x="135287" y="8346439"/>
                  </a:lnTo>
                  <a:cubicBezTo>
                    <a:pt x="60589" y="8346440"/>
                    <a:pt x="0" y="8272272"/>
                    <a:pt x="0" y="81808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5204178" y="3086100"/>
            <a:ext cx="1440180" cy="1440180"/>
            <a:chOff x="0" y="0"/>
            <a:chExt cx="1920240" cy="19202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5204178" y="3086100"/>
            <a:ext cx="1440180" cy="1440180"/>
            <a:chOff x="0" y="0"/>
            <a:chExt cx="1920240" cy="19202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19050"/>
              <a:ext cx="1920240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LV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4566384" y="4869180"/>
            <a:ext cx="2715768" cy="1028700"/>
            <a:chOff x="0" y="0"/>
            <a:chExt cx="3621024" cy="13716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621024" cy="1371600"/>
            </a:xfrm>
            <a:custGeom>
              <a:avLst/>
              <a:gdLst/>
              <a:ahLst/>
              <a:cxnLst/>
              <a:rect r="r" b="b" t="t" l="l"/>
              <a:pathLst>
                <a:path h="137160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3621024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Lâm Hoàng Vũ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4566384" y="5829300"/>
            <a:ext cx="2715768" cy="411480"/>
            <a:chOff x="0" y="0"/>
            <a:chExt cx="3621024" cy="5486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621024" cy="548640"/>
            </a:xfrm>
            <a:custGeom>
              <a:avLst/>
              <a:gdLst/>
              <a:ahLst/>
              <a:cxnLst/>
              <a:rect r="r" b="b" t="t" l="l"/>
              <a:pathLst>
                <a:path h="54864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19050"/>
              <a:ext cx="3621024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23122056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4899759" y="6505575"/>
            <a:ext cx="2049018" cy="19050"/>
            <a:chOff x="0" y="0"/>
            <a:chExt cx="2732024" cy="254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732024" cy="25400"/>
            </a:xfrm>
            <a:custGeom>
              <a:avLst/>
              <a:gdLst/>
              <a:ahLst/>
              <a:cxnLst/>
              <a:rect r="r" b="b" t="t" l="l"/>
              <a:pathLst>
                <a:path h="25400" w="2732024">
                  <a:moveTo>
                    <a:pt x="0" y="0"/>
                  </a:moveTo>
                  <a:lnTo>
                    <a:pt x="2732024" y="25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045810" r="0" b="-2045810"/>
              </a:stretch>
            </a:blip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112" id="112"/>
          <p:cNvGrpSpPr/>
          <p:nvPr/>
        </p:nvGrpSpPr>
        <p:grpSpPr>
          <a:xfrm rot="0">
            <a:off x="14566384" y="6720840"/>
            <a:ext cx="2715768" cy="480060"/>
            <a:chOff x="0" y="0"/>
            <a:chExt cx="3621024" cy="64008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621024" cy="640080"/>
            </a:xfrm>
            <a:custGeom>
              <a:avLst/>
              <a:gdLst/>
              <a:ahLst/>
              <a:cxnLst/>
              <a:rect r="r" b="b" t="t" l="l"/>
              <a:pathLst>
                <a:path h="64008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229" r="0" b="-60229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362102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QA E</a:t>
              </a:r>
              <a:r>
                <a:rPr lang="en-US" sz="172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ngineer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4566384" y="7200900"/>
            <a:ext cx="2715768" cy="822960"/>
            <a:chOff x="0" y="0"/>
            <a:chExt cx="3621024" cy="109728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621024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19050"/>
              <a:ext cx="3621024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Testing &amp; QA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6504463" y="9710928"/>
            <a:ext cx="1371600" cy="411480"/>
            <a:chOff x="0" y="0"/>
            <a:chExt cx="1828800" cy="5486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 / 20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685800" y="9710928"/>
            <a:ext cx="3017520" cy="411480"/>
            <a:chOff x="0" y="0"/>
            <a:chExt cx="4023360" cy="54864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023360" cy="548640"/>
            </a:xfrm>
            <a:custGeom>
              <a:avLst/>
              <a:gdLst/>
              <a:ahLst/>
              <a:cxnLst/>
              <a:rect r="r" b="b" t="t" l="l"/>
              <a:pathLst>
                <a:path h="5486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19050"/>
              <a:ext cx="40233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7C7D9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MELON AI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529334" y="3086100"/>
            <a:ext cx="1440180" cy="1440180"/>
            <a:chOff x="0" y="0"/>
            <a:chExt cx="1920240" cy="192024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520190" y="3086100"/>
            <a:ext cx="1440180" cy="1440180"/>
            <a:chOff x="0" y="0"/>
            <a:chExt cx="1920240" cy="19202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19050"/>
              <a:ext cx="1920240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891540" y="4869180"/>
            <a:ext cx="2715768" cy="1028700"/>
            <a:chOff x="0" y="0"/>
            <a:chExt cx="3621024" cy="13716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621024" cy="1371600"/>
            </a:xfrm>
            <a:custGeom>
              <a:avLst/>
              <a:gdLst/>
              <a:ahLst/>
              <a:cxnLst/>
              <a:rect r="r" b="b" t="t" l="l"/>
              <a:pathLst>
                <a:path h="137160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3621024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Nguyễn Tấn Hùng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891540" y="5829300"/>
            <a:ext cx="2715768" cy="411480"/>
            <a:chOff x="0" y="0"/>
            <a:chExt cx="3621024" cy="54864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3621024" cy="548640"/>
            </a:xfrm>
            <a:custGeom>
              <a:avLst/>
              <a:gdLst/>
              <a:ahLst/>
              <a:cxnLst/>
              <a:rect r="r" b="b" t="t" l="l"/>
              <a:pathLst>
                <a:path h="54864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19050"/>
              <a:ext cx="3621024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23122007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224915" y="6505575"/>
            <a:ext cx="2049018" cy="19050"/>
            <a:chOff x="0" y="0"/>
            <a:chExt cx="2732024" cy="2540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732024" cy="25400"/>
            </a:xfrm>
            <a:custGeom>
              <a:avLst/>
              <a:gdLst/>
              <a:ahLst/>
              <a:cxnLst/>
              <a:rect r="r" b="b" t="t" l="l"/>
              <a:pathLst>
                <a:path h="25400" w="2732024">
                  <a:moveTo>
                    <a:pt x="0" y="0"/>
                  </a:moveTo>
                  <a:lnTo>
                    <a:pt x="2732024" y="25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045810" r="0" b="-2045810"/>
              </a:stretch>
            </a:blip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137" id="137"/>
          <p:cNvGrpSpPr/>
          <p:nvPr/>
        </p:nvGrpSpPr>
        <p:grpSpPr>
          <a:xfrm rot="0">
            <a:off x="891540" y="6720840"/>
            <a:ext cx="2715768" cy="480060"/>
            <a:chOff x="0" y="0"/>
            <a:chExt cx="3621024" cy="64008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621024" cy="640080"/>
            </a:xfrm>
            <a:custGeom>
              <a:avLst/>
              <a:gdLst/>
              <a:ahLst/>
              <a:cxnLst/>
              <a:rect r="r" b="b" t="t" l="l"/>
              <a:pathLst>
                <a:path h="64008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229" r="0" b="-60229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362102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891540" y="7200900"/>
            <a:ext cx="2715768" cy="822960"/>
            <a:chOff x="0" y="0"/>
            <a:chExt cx="3621024" cy="109728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3621024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19050"/>
              <a:ext cx="3621024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Architecture &amp; NFRs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87552" y="0"/>
                  </a:lnTo>
                  <a:cubicBezTo>
                    <a:pt x="1068324" y="0"/>
                    <a:pt x="1133856" y="65532"/>
                    <a:pt x="1133856" y="146304"/>
                  </a:cubicBezTo>
                  <a:lnTo>
                    <a:pt x="1133856" y="475488"/>
                  </a:lnTo>
                  <a:cubicBezTo>
                    <a:pt x="1133856" y="556260"/>
                    <a:pt x="1068324" y="621792"/>
                    <a:pt x="987552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360" t="0" r="-2036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73352" y="576072"/>
            <a:ext cx="8915400" cy="466344"/>
            <a:chOff x="0" y="0"/>
            <a:chExt cx="1188720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87200" cy="621792"/>
            </a:xfrm>
            <a:custGeom>
              <a:avLst/>
              <a:gdLst/>
              <a:ahLst/>
              <a:cxnLst/>
              <a:rect r="r" b="b" t="t" l="l"/>
              <a:pathLst>
                <a:path h="621792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508" r="0" b="-3225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18872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4B4B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MANAGEMENT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1151001"/>
            <a:ext cx="1440180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6172B"/>
                </a:solidFill>
                <a:latin typeface="Arial Bold"/>
                <a:ea typeface="Arial Bold"/>
                <a:cs typeface="Arial Bold"/>
                <a:sym typeface="Arial Bold"/>
              </a:rPr>
              <a:t>Quy trình Quản lý Dự án · Agile/Scrum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5800" y="2674620"/>
            <a:ext cx="2537460" cy="1851660"/>
            <a:chOff x="0" y="0"/>
            <a:chExt cx="3383280" cy="2468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832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3832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218688" y="0"/>
                  </a:lnTo>
                  <a:cubicBezTo>
                    <a:pt x="3309620" y="0"/>
                    <a:pt x="3383280" y="73660"/>
                    <a:pt x="3383280" y="164592"/>
                  </a:cubicBezTo>
                  <a:lnTo>
                    <a:pt x="3383280" y="2304288"/>
                  </a:lnTo>
                  <a:cubicBezTo>
                    <a:pt x="3383280" y="2395220"/>
                    <a:pt x="3309620" y="2468880"/>
                    <a:pt x="3218688" y="2468880"/>
                  </a:cubicBezTo>
                  <a:lnTo>
                    <a:pt x="164592" y="2468880"/>
                  </a:lnTo>
                  <a:cubicBezTo>
                    <a:pt x="73660" y="2468880"/>
                    <a:pt x="0" y="2395220"/>
                    <a:pt x="0" y="2304288"/>
                  </a:cubicBezTo>
                  <a:close/>
                </a:path>
              </a:pathLst>
            </a:custGeom>
            <a:solidFill>
              <a:srgbClr val="E5F6F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85800" y="2880360"/>
            <a:ext cx="2537460" cy="685800"/>
            <a:chOff x="0" y="0"/>
            <a:chExt cx="338328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83280" cy="914400"/>
            </a:xfrm>
            <a:custGeom>
              <a:avLst/>
              <a:gdLst/>
              <a:ahLst/>
              <a:cxnLst/>
              <a:rect r="r" b="b" t="t" l="l"/>
              <a:pathLst>
                <a:path h="91440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33832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8BDF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5528" y="3662172"/>
            <a:ext cx="2318004" cy="754380"/>
            <a:chOff x="0" y="0"/>
            <a:chExt cx="3090672" cy="1005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90672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90672">
                  <a:moveTo>
                    <a:pt x="0" y="0"/>
                  </a:moveTo>
                  <a:lnTo>
                    <a:pt x="3090672" y="0"/>
                  </a:lnTo>
                  <a:lnTo>
                    <a:pt x="309067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2" r="0" b="-987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3090672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Vision &amp; Setup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154680" y="3223260"/>
            <a:ext cx="384048" cy="685800"/>
            <a:chOff x="0" y="0"/>
            <a:chExt cx="512064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2064" cy="914400"/>
            </a:xfrm>
            <a:custGeom>
              <a:avLst/>
              <a:gdLst/>
              <a:ahLst/>
              <a:cxnLst/>
              <a:rect r="r" b="b" t="t" l="l"/>
              <a:pathLst>
                <a:path h="914400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9113" t="0" r="-17911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12064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401568" y="2674620"/>
            <a:ext cx="2537460" cy="1851660"/>
            <a:chOff x="0" y="0"/>
            <a:chExt cx="3383280" cy="24688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832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3832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218688" y="0"/>
                  </a:lnTo>
                  <a:cubicBezTo>
                    <a:pt x="3309620" y="0"/>
                    <a:pt x="3383280" y="73660"/>
                    <a:pt x="3383280" y="164592"/>
                  </a:cubicBezTo>
                  <a:lnTo>
                    <a:pt x="3383280" y="2304288"/>
                  </a:lnTo>
                  <a:cubicBezTo>
                    <a:pt x="3383280" y="2395220"/>
                    <a:pt x="3309620" y="2468880"/>
                    <a:pt x="3218688" y="2468880"/>
                  </a:cubicBezTo>
                  <a:lnTo>
                    <a:pt x="164592" y="2468880"/>
                  </a:lnTo>
                  <a:cubicBezTo>
                    <a:pt x="73660" y="2468880"/>
                    <a:pt x="0" y="2395220"/>
                    <a:pt x="0" y="2304288"/>
                  </a:cubicBezTo>
                  <a:close/>
                </a:path>
              </a:pathLst>
            </a:custGeom>
            <a:solidFill>
              <a:srgbClr val="E5F6F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401568" y="2880360"/>
            <a:ext cx="2537460" cy="685800"/>
            <a:chOff x="0" y="0"/>
            <a:chExt cx="338328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383280" cy="914400"/>
            </a:xfrm>
            <a:custGeom>
              <a:avLst/>
              <a:gdLst/>
              <a:ahLst/>
              <a:cxnLst/>
              <a:rect r="r" b="b" t="t" l="l"/>
              <a:pathLst>
                <a:path h="91440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3832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8BDF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511296" y="3662172"/>
            <a:ext cx="2318004" cy="754380"/>
            <a:chOff x="0" y="0"/>
            <a:chExt cx="3090672" cy="1005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090672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90672">
                  <a:moveTo>
                    <a:pt x="0" y="0"/>
                  </a:moveTo>
                  <a:lnTo>
                    <a:pt x="3090672" y="0"/>
                  </a:lnTo>
                  <a:lnTo>
                    <a:pt x="309067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2" r="0" b="-987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3090672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870448" y="3223260"/>
            <a:ext cx="384048" cy="685800"/>
            <a:chOff x="0" y="0"/>
            <a:chExt cx="512064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2064" cy="914400"/>
            </a:xfrm>
            <a:custGeom>
              <a:avLst/>
              <a:gdLst/>
              <a:ahLst/>
              <a:cxnLst/>
              <a:rect r="r" b="b" t="t" l="l"/>
              <a:pathLst>
                <a:path h="914400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9113" t="0" r="-17911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12064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117336" y="2674620"/>
            <a:ext cx="2537460" cy="1851660"/>
            <a:chOff x="0" y="0"/>
            <a:chExt cx="3383280" cy="2468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3832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3832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218688" y="0"/>
                  </a:lnTo>
                  <a:cubicBezTo>
                    <a:pt x="3309620" y="0"/>
                    <a:pt x="3383280" y="73660"/>
                    <a:pt x="3383280" y="164592"/>
                  </a:cubicBezTo>
                  <a:lnTo>
                    <a:pt x="3383280" y="2304288"/>
                  </a:lnTo>
                  <a:cubicBezTo>
                    <a:pt x="3383280" y="2395220"/>
                    <a:pt x="3309620" y="2468880"/>
                    <a:pt x="3218688" y="2468880"/>
                  </a:cubicBezTo>
                  <a:lnTo>
                    <a:pt x="164592" y="2468880"/>
                  </a:lnTo>
                  <a:cubicBezTo>
                    <a:pt x="73660" y="2468880"/>
                    <a:pt x="0" y="2395220"/>
                    <a:pt x="0" y="2304288"/>
                  </a:cubicBezTo>
                  <a:close/>
                </a:path>
              </a:pathLst>
            </a:custGeom>
            <a:solidFill>
              <a:srgbClr val="E5F6F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117336" y="2880360"/>
            <a:ext cx="2537460" cy="685800"/>
            <a:chOff x="0" y="0"/>
            <a:chExt cx="338328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383280" cy="914400"/>
            </a:xfrm>
            <a:custGeom>
              <a:avLst/>
              <a:gdLst/>
              <a:ahLst/>
              <a:cxnLst/>
              <a:rect r="r" b="b" t="t" l="l"/>
              <a:pathLst>
                <a:path h="91440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33832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8BDF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227064" y="3662172"/>
            <a:ext cx="2318004" cy="754380"/>
            <a:chOff x="0" y="0"/>
            <a:chExt cx="3090672" cy="1005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90672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90672">
                  <a:moveTo>
                    <a:pt x="0" y="0"/>
                  </a:moveTo>
                  <a:lnTo>
                    <a:pt x="3090672" y="0"/>
                  </a:lnTo>
                  <a:lnTo>
                    <a:pt x="309067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2" r="0" b="-987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3090672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AI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586216" y="3223260"/>
            <a:ext cx="384048" cy="685800"/>
            <a:chOff x="0" y="0"/>
            <a:chExt cx="512064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12064" cy="914400"/>
            </a:xfrm>
            <a:custGeom>
              <a:avLst/>
              <a:gdLst/>
              <a:ahLst/>
              <a:cxnLst/>
              <a:rect r="r" b="b" t="t" l="l"/>
              <a:pathLst>
                <a:path h="914400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9113" t="0" r="-17911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12064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833104" y="2674620"/>
            <a:ext cx="2537460" cy="1851660"/>
            <a:chOff x="0" y="0"/>
            <a:chExt cx="3383280" cy="24688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3832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3832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218688" y="0"/>
                  </a:lnTo>
                  <a:cubicBezTo>
                    <a:pt x="3309620" y="0"/>
                    <a:pt x="3383280" y="73660"/>
                    <a:pt x="3383280" y="164592"/>
                  </a:cubicBezTo>
                  <a:lnTo>
                    <a:pt x="3383280" y="2304288"/>
                  </a:lnTo>
                  <a:cubicBezTo>
                    <a:pt x="3383280" y="2395220"/>
                    <a:pt x="3309620" y="2468880"/>
                    <a:pt x="3218688" y="2468880"/>
                  </a:cubicBezTo>
                  <a:lnTo>
                    <a:pt x="164592" y="2468880"/>
                  </a:lnTo>
                  <a:cubicBezTo>
                    <a:pt x="73660" y="2468880"/>
                    <a:pt x="0" y="2395220"/>
                    <a:pt x="0" y="2304288"/>
                  </a:cubicBezTo>
                  <a:close/>
                </a:path>
              </a:pathLst>
            </a:custGeom>
            <a:solidFill>
              <a:srgbClr val="E5F6F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833104" y="2880360"/>
            <a:ext cx="2537460" cy="685800"/>
            <a:chOff x="0" y="0"/>
            <a:chExt cx="338328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383280" cy="914400"/>
            </a:xfrm>
            <a:custGeom>
              <a:avLst/>
              <a:gdLst/>
              <a:ahLst/>
              <a:cxnLst/>
              <a:rect r="r" b="b" t="t" l="l"/>
              <a:pathLst>
                <a:path h="91440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33832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8BDF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S4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942832" y="3662172"/>
            <a:ext cx="2318004" cy="754380"/>
            <a:chOff x="0" y="0"/>
            <a:chExt cx="3090672" cy="10058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090672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90672">
                  <a:moveTo>
                    <a:pt x="0" y="0"/>
                  </a:moveTo>
                  <a:lnTo>
                    <a:pt x="3090672" y="0"/>
                  </a:lnTo>
                  <a:lnTo>
                    <a:pt x="309067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2" r="0" b="-987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3090672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Working SW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301984" y="3223260"/>
            <a:ext cx="384048" cy="685800"/>
            <a:chOff x="0" y="0"/>
            <a:chExt cx="512064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12064" cy="914400"/>
            </a:xfrm>
            <a:custGeom>
              <a:avLst/>
              <a:gdLst/>
              <a:ahLst/>
              <a:cxnLst/>
              <a:rect r="r" b="b" t="t" l="l"/>
              <a:pathLst>
                <a:path h="914400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9113" t="0" r="-17911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512064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548872" y="2674620"/>
            <a:ext cx="2537460" cy="1851660"/>
            <a:chOff x="0" y="0"/>
            <a:chExt cx="3383280" cy="24688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3832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3832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218688" y="0"/>
                  </a:lnTo>
                  <a:cubicBezTo>
                    <a:pt x="3309620" y="0"/>
                    <a:pt x="3383280" y="73660"/>
                    <a:pt x="3383280" y="164592"/>
                  </a:cubicBezTo>
                  <a:lnTo>
                    <a:pt x="3383280" y="2304288"/>
                  </a:lnTo>
                  <a:cubicBezTo>
                    <a:pt x="3383280" y="2395220"/>
                    <a:pt x="3309620" y="2468880"/>
                    <a:pt x="3218688" y="2468880"/>
                  </a:cubicBezTo>
                  <a:lnTo>
                    <a:pt x="164592" y="2468880"/>
                  </a:lnTo>
                  <a:cubicBezTo>
                    <a:pt x="73660" y="2468880"/>
                    <a:pt x="0" y="2395220"/>
                    <a:pt x="0" y="2304288"/>
                  </a:cubicBezTo>
                  <a:close/>
                </a:path>
              </a:pathLst>
            </a:custGeom>
            <a:solidFill>
              <a:srgbClr val="E5F6FE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548872" y="2880360"/>
            <a:ext cx="2537460" cy="685800"/>
            <a:chOff x="0" y="0"/>
            <a:chExt cx="3383280" cy="914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383280" cy="914400"/>
            </a:xfrm>
            <a:custGeom>
              <a:avLst/>
              <a:gdLst/>
              <a:ahLst/>
              <a:cxnLst/>
              <a:rect r="r" b="b" t="t" l="l"/>
              <a:pathLst>
                <a:path h="91440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33832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8BDF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S5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658600" y="3662172"/>
            <a:ext cx="2318004" cy="754380"/>
            <a:chOff x="0" y="0"/>
            <a:chExt cx="3090672" cy="10058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090672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90672">
                  <a:moveTo>
                    <a:pt x="0" y="0"/>
                  </a:moveTo>
                  <a:lnTo>
                    <a:pt x="3090672" y="0"/>
                  </a:lnTo>
                  <a:lnTo>
                    <a:pt x="309067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2" r="0" b="-987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3090672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Testing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017752" y="3223260"/>
            <a:ext cx="384048" cy="685800"/>
            <a:chOff x="0" y="0"/>
            <a:chExt cx="512064" cy="914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12064" cy="914400"/>
            </a:xfrm>
            <a:custGeom>
              <a:avLst/>
              <a:gdLst/>
              <a:ahLst/>
              <a:cxnLst/>
              <a:rect r="r" b="b" t="t" l="l"/>
              <a:pathLst>
                <a:path h="914400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9113" t="0" r="-17911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512064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264640" y="2674620"/>
            <a:ext cx="2537460" cy="1851660"/>
            <a:chOff x="0" y="0"/>
            <a:chExt cx="3383280" cy="24688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3832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3832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218688" y="0"/>
                  </a:lnTo>
                  <a:cubicBezTo>
                    <a:pt x="3309620" y="0"/>
                    <a:pt x="3383280" y="73660"/>
                    <a:pt x="3383280" y="164592"/>
                  </a:cubicBezTo>
                  <a:lnTo>
                    <a:pt x="3383280" y="2304288"/>
                  </a:lnTo>
                  <a:cubicBezTo>
                    <a:pt x="3383280" y="2395220"/>
                    <a:pt x="3309620" y="2468880"/>
                    <a:pt x="3218688" y="2468880"/>
                  </a:cubicBezTo>
                  <a:lnTo>
                    <a:pt x="164592" y="2468880"/>
                  </a:lnTo>
                  <a:cubicBezTo>
                    <a:pt x="73660" y="2468880"/>
                    <a:pt x="0" y="2395220"/>
                    <a:pt x="0" y="2304288"/>
                  </a:cubicBezTo>
                  <a:close/>
                </a:path>
              </a:pathLst>
            </a:custGeom>
            <a:solidFill>
              <a:srgbClr val="E5F6F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264640" y="2880360"/>
            <a:ext cx="2537460" cy="685800"/>
            <a:chOff x="0" y="0"/>
            <a:chExt cx="3383280" cy="9144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383280" cy="914400"/>
            </a:xfrm>
            <a:custGeom>
              <a:avLst/>
              <a:gdLst/>
              <a:ahLst/>
              <a:cxnLst/>
              <a:rect r="r" b="b" t="t" l="l"/>
              <a:pathLst>
                <a:path h="91440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33832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8BDF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S6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374368" y="3662172"/>
            <a:ext cx="2318004" cy="754380"/>
            <a:chOff x="0" y="0"/>
            <a:chExt cx="3090672" cy="10058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090672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90672">
                  <a:moveTo>
                    <a:pt x="0" y="0"/>
                  </a:moveTo>
                  <a:lnTo>
                    <a:pt x="3090672" y="0"/>
                  </a:lnTo>
                  <a:lnTo>
                    <a:pt x="309067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2" r="0" b="-987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3090672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 Prep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76275" y="5133975"/>
            <a:ext cx="3996690" cy="3036570"/>
            <a:chOff x="0" y="0"/>
            <a:chExt cx="5328920" cy="40487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328920" cy="4048760"/>
            </a:xfrm>
            <a:custGeom>
              <a:avLst/>
              <a:gdLst/>
              <a:ahLst/>
              <a:cxnLst/>
              <a:rect r="r" b="b" t="t" l="l"/>
              <a:pathLst>
                <a:path h="4048760" w="532892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5163312" y="0"/>
                  </a:lnTo>
                  <a:cubicBezTo>
                    <a:pt x="5254752" y="0"/>
                    <a:pt x="5328920" y="74168"/>
                    <a:pt x="5328920" y="165608"/>
                  </a:cubicBezTo>
                  <a:lnTo>
                    <a:pt x="5328920" y="3883152"/>
                  </a:lnTo>
                  <a:cubicBezTo>
                    <a:pt x="5328920" y="3974592"/>
                    <a:pt x="5254752" y="4048760"/>
                    <a:pt x="5163312" y="4048760"/>
                  </a:cubicBezTo>
                  <a:lnTo>
                    <a:pt x="165608" y="4048760"/>
                  </a:lnTo>
                  <a:cubicBezTo>
                    <a:pt x="74168" y="4048760"/>
                    <a:pt x="0" y="3974592"/>
                    <a:pt x="0" y="38831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028700" y="5486400"/>
            <a:ext cx="960120" cy="822960"/>
            <a:chOff x="0" y="0"/>
            <a:chExt cx="1280160" cy="10972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280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76200"/>
              <a:ext cx="128016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🗂️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28700" y="6377940"/>
            <a:ext cx="3291840" cy="548640"/>
            <a:chOff x="0" y="0"/>
            <a:chExt cx="4389120" cy="7315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43891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Jira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28700" y="6954012"/>
            <a:ext cx="3291840" cy="1028700"/>
            <a:chOff x="0" y="0"/>
            <a:chExt cx="4389120" cy="13716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3891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4389120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Quản lý Sprint, backlog &amp; task tracking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4900803" y="5133975"/>
            <a:ext cx="3996690" cy="3036570"/>
            <a:chOff x="0" y="0"/>
            <a:chExt cx="5328920" cy="40487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328920" cy="4048760"/>
            </a:xfrm>
            <a:custGeom>
              <a:avLst/>
              <a:gdLst/>
              <a:ahLst/>
              <a:cxnLst/>
              <a:rect r="r" b="b" t="t" l="l"/>
              <a:pathLst>
                <a:path h="4048760" w="532892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5163312" y="0"/>
                  </a:lnTo>
                  <a:cubicBezTo>
                    <a:pt x="5254752" y="0"/>
                    <a:pt x="5328920" y="74168"/>
                    <a:pt x="5328920" y="165608"/>
                  </a:cubicBezTo>
                  <a:lnTo>
                    <a:pt x="5328920" y="3883152"/>
                  </a:lnTo>
                  <a:cubicBezTo>
                    <a:pt x="5328920" y="3974592"/>
                    <a:pt x="5254752" y="4048760"/>
                    <a:pt x="5163312" y="4048760"/>
                  </a:cubicBezTo>
                  <a:lnTo>
                    <a:pt x="165608" y="4048760"/>
                  </a:lnTo>
                  <a:cubicBezTo>
                    <a:pt x="74168" y="4048760"/>
                    <a:pt x="0" y="3974592"/>
                    <a:pt x="0" y="38831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5253228" y="5486400"/>
            <a:ext cx="960120" cy="822960"/>
            <a:chOff x="0" y="0"/>
            <a:chExt cx="1280160" cy="10972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280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76200"/>
              <a:ext cx="128016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🐙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5253228" y="6377940"/>
            <a:ext cx="3291840" cy="548640"/>
            <a:chOff x="0" y="0"/>
            <a:chExt cx="4389120" cy="73152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43891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GitHub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5253228" y="6954012"/>
            <a:ext cx="3291840" cy="1028700"/>
            <a:chOff x="0" y="0"/>
            <a:chExt cx="4389120" cy="13716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3891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4389120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Version control, PR review, CI/CD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125331" y="5133975"/>
            <a:ext cx="3996690" cy="3036570"/>
            <a:chOff x="0" y="0"/>
            <a:chExt cx="5328920" cy="404876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328920" cy="4048760"/>
            </a:xfrm>
            <a:custGeom>
              <a:avLst/>
              <a:gdLst/>
              <a:ahLst/>
              <a:cxnLst/>
              <a:rect r="r" b="b" t="t" l="l"/>
              <a:pathLst>
                <a:path h="4048760" w="532892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5163312" y="0"/>
                  </a:lnTo>
                  <a:cubicBezTo>
                    <a:pt x="5254752" y="0"/>
                    <a:pt x="5328920" y="74168"/>
                    <a:pt x="5328920" y="165608"/>
                  </a:cubicBezTo>
                  <a:lnTo>
                    <a:pt x="5328920" y="3883152"/>
                  </a:lnTo>
                  <a:cubicBezTo>
                    <a:pt x="5328920" y="3974592"/>
                    <a:pt x="5254752" y="4048760"/>
                    <a:pt x="5163312" y="4048760"/>
                  </a:cubicBezTo>
                  <a:lnTo>
                    <a:pt x="165608" y="4048760"/>
                  </a:lnTo>
                  <a:cubicBezTo>
                    <a:pt x="74168" y="4048760"/>
                    <a:pt x="0" y="3974592"/>
                    <a:pt x="0" y="38831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9477756" y="5486400"/>
            <a:ext cx="960120" cy="822960"/>
            <a:chOff x="0" y="0"/>
            <a:chExt cx="1280160" cy="10972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280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76200"/>
              <a:ext cx="128016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💬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477756" y="6377940"/>
            <a:ext cx="3291840" cy="548640"/>
            <a:chOff x="0" y="0"/>
            <a:chExt cx="4389120" cy="73152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43891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60"/>
                </a:lnSpc>
              </a:pPr>
              <a:r>
                <a:rPr lang="en-US" sz="20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Messenger - Google meet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477756" y="6954012"/>
            <a:ext cx="3291840" cy="1028700"/>
            <a:chOff x="0" y="0"/>
            <a:chExt cx="4389120" cy="13716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3891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28575"/>
              <a:ext cx="4389120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Communication &amp; weekly meeting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3349859" y="5133975"/>
            <a:ext cx="3996690" cy="3036570"/>
            <a:chOff x="0" y="0"/>
            <a:chExt cx="5328920" cy="404876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328920" cy="4048760"/>
            </a:xfrm>
            <a:custGeom>
              <a:avLst/>
              <a:gdLst/>
              <a:ahLst/>
              <a:cxnLst/>
              <a:rect r="r" b="b" t="t" l="l"/>
              <a:pathLst>
                <a:path h="4048760" w="532892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5163312" y="0"/>
                  </a:lnTo>
                  <a:cubicBezTo>
                    <a:pt x="5254752" y="0"/>
                    <a:pt x="5328920" y="74168"/>
                    <a:pt x="5328920" y="165608"/>
                  </a:cubicBezTo>
                  <a:lnTo>
                    <a:pt x="5328920" y="3883152"/>
                  </a:lnTo>
                  <a:cubicBezTo>
                    <a:pt x="5328920" y="3974592"/>
                    <a:pt x="5254752" y="4048760"/>
                    <a:pt x="5163312" y="4048760"/>
                  </a:cubicBezTo>
                  <a:lnTo>
                    <a:pt x="165608" y="4048760"/>
                  </a:lnTo>
                  <a:cubicBezTo>
                    <a:pt x="74168" y="4048760"/>
                    <a:pt x="0" y="3974592"/>
                    <a:pt x="0" y="38831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13702284" y="5486400"/>
            <a:ext cx="960120" cy="822960"/>
            <a:chOff x="0" y="0"/>
            <a:chExt cx="1280160" cy="109728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280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76200"/>
              <a:ext cx="128016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📄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3702284" y="6377940"/>
            <a:ext cx="3291840" cy="548640"/>
            <a:chOff x="0" y="0"/>
            <a:chExt cx="4389120" cy="73152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19050"/>
              <a:ext cx="43891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GDrive + Github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3702284" y="6954012"/>
            <a:ext cx="3291840" cy="1028700"/>
            <a:chOff x="0" y="0"/>
            <a:chExt cx="4389120" cy="13716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3891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28575"/>
              <a:ext cx="4389120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Tài liệu &amp; báo cáo cuối Sprint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6504463" y="9710928"/>
            <a:ext cx="1371600" cy="411480"/>
            <a:chOff x="0" y="0"/>
            <a:chExt cx="1828800" cy="5486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 / 20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685800" y="9710928"/>
            <a:ext cx="3017520" cy="411480"/>
            <a:chOff x="0" y="0"/>
            <a:chExt cx="4023360" cy="54864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023360" cy="548640"/>
            </a:xfrm>
            <a:custGeom>
              <a:avLst/>
              <a:gdLst/>
              <a:ahLst/>
              <a:cxnLst/>
              <a:rect r="r" b="b" t="t" l="l"/>
              <a:pathLst>
                <a:path h="5486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19050"/>
              <a:ext cx="40233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7C7D9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MELON AI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87552" y="0"/>
                  </a:lnTo>
                  <a:cubicBezTo>
                    <a:pt x="1068324" y="0"/>
                    <a:pt x="1133856" y="65532"/>
                    <a:pt x="1133856" y="146304"/>
                  </a:cubicBezTo>
                  <a:lnTo>
                    <a:pt x="1133856" y="475488"/>
                  </a:lnTo>
                  <a:cubicBezTo>
                    <a:pt x="1133856" y="556260"/>
                    <a:pt x="1068324" y="621792"/>
                    <a:pt x="987552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360" t="0" r="-2036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73352" y="576072"/>
            <a:ext cx="8915400" cy="466344"/>
            <a:chOff x="0" y="0"/>
            <a:chExt cx="1188720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87200" cy="621792"/>
            </a:xfrm>
            <a:custGeom>
              <a:avLst/>
              <a:gdLst/>
              <a:ahLst/>
              <a:cxnLst/>
              <a:rect r="r" b="b" t="t" l="l"/>
              <a:pathLst>
                <a:path h="621792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508" r="0" b="-3225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18872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4B4B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USE-CASES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1151001"/>
            <a:ext cx="1440180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6172B"/>
                </a:solidFill>
                <a:latin typeface="Arial Bold"/>
                <a:ea typeface="Arial Bold"/>
                <a:cs typeface="Arial Bold"/>
                <a:sym typeface="Arial Bold"/>
              </a:rPr>
              <a:t>5 Core Use-Cases của Hệ thống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76275" y="2527935"/>
            <a:ext cx="5327142" cy="2967990"/>
            <a:chOff x="0" y="0"/>
            <a:chExt cx="7102856" cy="3957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02856" cy="3957320"/>
            </a:xfrm>
            <a:custGeom>
              <a:avLst/>
              <a:gdLst/>
              <a:ahLst/>
              <a:cxnLst/>
              <a:rect r="r" b="b" t="t" l="l"/>
              <a:pathLst>
                <a:path h="3957320" w="710285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6937248" y="0"/>
                  </a:lnTo>
                  <a:cubicBezTo>
                    <a:pt x="7028688" y="0"/>
                    <a:pt x="7102856" y="74168"/>
                    <a:pt x="7102856" y="165608"/>
                  </a:cubicBezTo>
                  <a:lnTo>
                    <a:pt x="7102856" y="3791712"/>
                  </a:lnTo>
                  <a:cubicBezTo>
                    <a:pt x="7102856" y="3883152"/>
                    <a:pt x="7028688" y="3957320"/>
                    <a:pt x="6937248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700" y="2839212"/>
            <a:ext cx="2331720" cy="493776"/>
            <a:chOff x="0" y="0"/>
            <a:chExt cx="3108960" cy="6583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08960" cy="658368"/>
            </a:xfrm>
            <a:custGeom>
              <a:avLst/>
              <a:gdLst/>
              <a:ahLst/>
              <a:cxnLst/>
              <a:rect r="r" b="b" t="t" l="l"/>
              <a:pathLst>
                <a:path h="658368" w="31089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999232" y="0"/>
                  </a:lnTo>
                  <a:cubicBezTo>
                    <a:pt x="3059811" y="0"/>
                    <a:pt x="3108960" y="49149"/>
                    <a:pt x="3108960" y="109728"/>
                  </a:cubicBezTo>
                  <a:lnTo>
                    <a:pt x="3108960" y="548640"/>
                  </a:lnTo>
                  <a:cubicBezTo>
                    <a:pt x="3108960" y="609219"/>
                    <a:pt x="3059811" y="658368"/>
                    <a:pt x="2999232" y="658368"/>
                  </a:cubicBezTo>
                  <a:lnTo>
                    <a:pt x="109728" y="658368"/>
                  </a:lnTo>
                  <a:cubicBezTo>
                    <a:pt x="49149" y="658368"/>
                    <a:pt x="0" y="609219"/>
                    <a:pt x="0" y="548640"/>
                  </a:cubicBezTo>
                  <a:close/>
                </a:path>
              </a:pathLst>
            </a:custGeom>
            <a:solidFill>
              <a:srgbClr val="E7FBE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28700" y="2839212"/>
            <a:ext cx="2331720" cy="493776"/>
            <a:chOff x="0" y="0"/>
            <a:chExt cx="3108960" cy="6583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08960" cy="658368"/>
            </a:xfrm>
            <a:custGeom>
              <a:avLst/>
              <a:gdLst/>
              <a:ahLst/>
              <a:cxnLst/>
              <a:rect r="r" b="b" t="t" l="l"/>
              <a:pathLst>
                <a:path h="658368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012" r="0" b="-4201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310896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ML-AUTH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3470148"/>
            <a:ext cx="4622292" cy="617220"/>
            <a:chOff x="0" y="0"/>
            <a:chExt cx="6163056" cy="822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63056" cy="822960"/>
            </a:xfrm>
            <a:custGeom>
              <a:avLst/>
              <a:gdLst/>
              <a:ahLst/>
              <a:cxnLst/>
              <a:rect r="r" b="b" t="t" l="l"/>
              <a:pathLst>
                <a:path h="82296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921" r="0" b="-9592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6163056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Xác thực &amp; Phân quyền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4114800"/>
            <a:ext cx="4622292" cy="1234440"/>
            <a:chOff x="0" y="0"/>
            <a:chExt cx="6163056" cy="1645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63056" cy="1645920"/>
            </a:xfrm>
            <a:custGeom>
              <a:avLst/>
              <a:gdLst/>
              <a:ahLst/>
              <a:cxnLst/>
              <a:rect r="r" b="b" t="t" l="l"/>
              <a:pathLst>
                <a:path h="164592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60" r="0" b="-2296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6163056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Parent (Google OAuth) / Kid (ID+PIN) / Admin — Role-based access control, JWT tokens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258687" y="2527935"/>
            <a:ext cx="5327142" cy="2967990"/>
            <a:chOff x="0" y="0"/>
            <a:chExt cx="7102856" cy="39573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02856" cy="3957320"/>
            </a:xfrm>
            <a:custGeom>
              <a:avLst/>
              <a:gdLst/>
              <a:ahLst/>
              <a:cxnLst/>
              <a:rect r="r" b="b" t="t" l="l"/>
              <a:pathLst>
                <a:path h="3957320" w="710285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6937248" y="0"/>
                  </a:lnTo>
                  <a:cubicBezTo>
                    <a:pt x="7028688" y="0"/>
                    <a:pt x="7102856" y="74168"/>
                    <a:pt x="7102856" y="165608"/>
                  </a:cubicBezTo>
                  <a:lnTo>
                    <a:pt x="7102856" y="3791712"/>
                  </a:lnTo>
                  <a:cubicBezTo>
                    <a:pt x="7102856" y="3883152"/>
                    <a:pt x="7028688" y="3957320"/>
                    <a:pt x="6937248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611112" y="2839212"/>
            <a:ext cx="2331720" cy="493776"/>
            <a:chOff x="0" y="0"/>
            <a:chExt cx="3108960" cy="6583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08960" cy="658368"/>
            </a:xfrm>
            <a:custGeom>
              <a:avLst/>
              <a:gdLst/>
              <a:ahLst/>
              <a:cxnLst/>
              <a:rect r="r" b="b" t="t" l="l"/>
              <a:pathLst>
                <a:path h="658368" w="31089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999232" y="0"/>
                  </a:lnTo>
                  <a:cubicBezTo>
                    <a:pt x="3059811" y="0"/>
                    <a:pt x="3108960" y="49149"/>
                    <a:pt x="3108960" y="109728"/>
                  </a:cubicBezTo>
                  <a:lnTo>
                    <a:pt x="3108960" y="548640"/>
                  </a:lnTo>
                  <a:cubicBezTo>
                    <a:pt x="3108960" y="609219"/>
                    <a:pt x="3059811" y="658368"/>
                    <a:pt x="2999232" y="658368"/>
                  </a:cubicBezTo>
                  <a:lnTo>
                    <a:pt x="109728" y="658368"/>
                  </a:lnTo>
                  <a:cubicBezTo>
                    <a:pt x="49149" y="658368"/>
                    <a:pt x="0" y="609219"/>
                    <a:pt x="0" y="548640"/>
                  </a:cubicBezTo>
                  <a:close/>
                </a:path>
              </a:pathLst>
            </a:custGeom>
            <a:solidFill>
              <a:srgbClr val="E5F6F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611112" y="2839212"/>
            <a:ext cx="2331720" cy="493776"/>
            <a:chOff x="0" y="0"/>
            <a:chExt cx="3108960" cy="6583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108960" cy="658368"/>
            </a:xfrm>
            <a:custGeom>
              <a:avLst/>
              <a:gdLst/>
              <a:ahLst/>
              <a:cxnLst/>
              <a:rect r="r" b="b" t="t" l="l"/>
              <a:pathLst>
                <a:path h="658368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012" r="0" b="-4201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310896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ML-SUBS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611112" y="3470148"/>
            <a:ext cx="4622292" cy="617220"/>
            <a:chOff x="0" y="0"/>
            <a:chExt cx="6163056" cy="822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163056" cy="822960"/>
            </a:xfrm>
            <a:custGeom>
              <a:avLst/>
              <a:gdLst/>
              <a:ahLst/>
              <a:cxnLst/>
              <a:rect r="r" b="b" t="t" l="l"/>
              <a:pathLst>
                <a:path h="82296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921" r="0" b="-9592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6163056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Subscription &amp; Paywall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611112" y="4114800"/>
            <a:ext cx="4622292" cy="1234440"/>
            <a:chOff x="0" y="0"/>
            <a:chExt cx="6163056" cy="1645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163056" cy="1645920"/>
            </a:xfrm>
            <a:custGeom>
              <a:avLst/>
              <a:gdLst/>
              <a:ahLst/>
              <a:cxnLst/>
              <a:rect r="r" b="b" t="t" l="l"/>
              <a:pathLst>
                <a:path h="164592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60" r="0" b="-2296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6163056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Stripe integration, Free/Pro tiers — Feature gating dựa trên subscription plan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841099" y="2527935"/>
            <a:ext cx="5327142" cy="2967990"/>
            <a:chOff x="0" y="0"/>
            <a:chExt cx="7102856" cy="39573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102856" cy="3957320"/>
            </a:xfrm>
            <a:custGeom>
              <a:avLst/>
              <a:gdLst/>
              <a:ahLst/>
              <a:cxnLst/>
              <a:rect r="r" b="b" t="t" l="l"/>
              <a:pathLst>
                <a:path h="3957320" w="710285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6937248" y="0"/>
                  </a:lnTo>
                  <a:cubicBezTo>
                    <a:pt x="7028688" y="0"/>
                    <a:pt x="7102856" y="74168"/>
                    <a:pt x="7102856" y="165608"/>
                  </a:cubicBezTo>
                  <a:lnTo>
                    <a:pt x="7102856" y="3791712"/>
                  </a:lnTo>
                  <a:cubicBezTo>
                    <a:pt x="7102856" y="3883152"/>
                    <a:pt x="7028688" y="3957320"/>
                    <a:pt x="6937248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193524" y="2839212"/>
            <a:ext cx="2331720" cy="493776"/>
            <a:chOff x="0" y="0"/>
            <a:chExt cx="3108960" cy="65836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108960" cy="658368"/>
            </a:xfrm>
            <a:custGeom>
              <a:avLst/>
              <a:gdLst/>
              <a:ahLst/>
              <a:cxnLst/>
              <a:rect r="r" b="b" t="t" l="l"/>
              <a:pathLst>
                <a:path h="658368" w="31089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999232" y="0"/>
                  </a:lnTo>
                  <a:cubicBezTo>
                    <a:pt x="3059811" y="0"/>
                    <a:pt x="3108960" y="49149"/>
                    <a:pt x="3108960" y="109728"/>
                  </a:cubicBezTo>
                  <a:lnTo>
                    <a:pt x="3108960" y="548640"/>
                  </a:lnTo>
                  <a:cubicBezTo>
                    <a:pt x="3108960" y="609219"/>
                    <a:pt x="3059811" y="658368"/>
                    <a:pt x="2999232" y="658368"/>
                  </a:cubicBezTo>
                  <a:lnTo>
                    <a:pt x="109728" y="658368"/>
                  </a:lnTo>
                  <a:cubicBezTo>
                    <a:pt x="49149" y="658368"/>
                    <a:pt x="0" y="609219"/>
                    <a:pt x="0" y="548640"/>
                  </a:cubicBezTo>
                  <a:close/>
                </a:path>
              </a:pathLst>
            </a:custGeom>
            <a:solidFill>
              <a:srgbClr val="F1ECF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193524" y="2839212"/>
            <a:ext cx="2331720" cy="493776"/>
            <a:chOff x="0" y="0"/>
            <a:chExt cx="3108960" cy="6583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108960" cy="658368"/>
            </a:xfrm>
            <a:custGeom>
              <a:avLst/>
              <a:gdLst/>
              <a:ahLst/>
              <a:cxnLst/>
              <a:rect r="r" b="b" t="t" l="l"/>
              <a:pathLst>
                <a:path h="658368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012" r="0" b="-4201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310896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ML-PARSE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193524" y="3470148"/>
            <a:ext cx="4622292" cy="617220"/>
            <a:chOff x="0" y="0"/>
            <a:chExt cx="6163056" cy="822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163056" cy="822960"/>
            </a:xfrm>
            <a:custGeom>
              <a:avLst/>
              <a:gdLst/>
              <a:ahLst/>
              <a:cxnLst/>
              <a:rect r="r" b="b" t="t" l="l"/>
              <a:pathLst>
                <a:path h="82296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921" r="0" b="-9592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6163056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PDF/Ảnh → Question Bank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193524" y="4114800"/>
            <a:ext cx="4622292" cy="1234440"/>
            <a:chOff x="0" y="0"/>
            <a:chExt cx="6163056" cy="16459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163056" cy="1645920"/>
            </a:xfrm>
            <a:custGeom>
              <a:avLst/>
              <a:gdLst/>
              <a:ahLst/>
              <a:cxnLst/>
              <a:rect r="r" b="b" t="t" l="l"/>
              <a:pathLst>
                <a:path h="164592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60" r="0" b="-2296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6163056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Gemini 2.5 Pro OCR + GPT-4.1 structured extraction — Toán tiếng Việt lớp 4-5, LaTeX compiler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76275" y="5751195"/>
            <a:ext cx="5327142" cy="2967990"/>
            <a:chOff x="0" y="0"/>
            <a:chExt cx="7102856" cy="39573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102856" cy="3957320"/>
            </a:xfrm>
            <a:custGeom>
              <a:avLst/>
              <a:gdLst/>
              <a:ahLst/>
              <a:cxnLst/>
              <a:rect r="r" b="b" t="t" l="l"/>
              <a:pathLst>
                <a:path h="3957320" w="710285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6937248" y="0"/>
                  </a:lnTo>
                  <a:cubicBezTo>
                    <a:pt x="7028688" y="0"/>
                    <a:pt x="7102856" y="74168"/>
                    <a:pt x="7102856" y="165608"/>
                  </a:cubicBezTo>
                  <a:lnTo>
                    <a:pt x="7102856" y="3791712"/>
                  </a:lnTo>
                  <a:cubicBezTo>
                    <a:pt x="7102856" y="3883152"/>
                    <a:pt x="7028688" y="3957320"/>
                    <a:pt x="6937248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28700" y="6062472"/>
            <a:ext cx="2331720" cy="493776"/>
            <a:chOff x="0" y="0"/>
            <a:chExt cx="3108960" cy="65836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108960" cy="658368"/>
            </a:xfrm>
            <a:custGeom>
              <a:avLst/>
              <a:gdLst/>
              <a:ahLst/>
              <a:cxnLst/>
              <a:rect r="r" b="b" t="t" l="l"/>
              <a:pathLst>
                <a:path h="658368" w="31089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999232" y="0"/>
                  </a:lnTo>
                  <a:cubicBezTo>
                    <a:pt x="3059811" y="0"/>
                    <a:pt x="3108960" y="49149"/>
                    <a:pt x="3108960" y="109728"/>
                  </a:cubicBezTo>
                  <a:lnTo>
                    <a:pt x="3108960" y="548640"/>
                  </a:lnTo>
                  <a:cubicBezTo>
                    <a:pt x="3108960" y="609219"/>
                    <a:pt x="3059811" y="658368"/>
                    <a:pt x="2999232" y="658368"/>
                  </a:cubicBezTo>
                  <a:lnTo>
                    <a:pt x="109728" y="658368"/>
                  </a:lnTo>
                  <a:cubicBezTo>
                    <a:pt x="49149" y="658368"/>
                    <a:pt x="0" y="609219"/>
                    <a:pt x="0" y="548640"/>
                  </a:cubicBezTo>
                  <a:close/>
                </a:path>
              </a:pathLst>
            </a:custGeom>
            <a:solidFill>
              <a:srgbClr val="FFECDC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28700" y="6062472"/>
            <a:ext cx="2331720" cy="493776"/>
            <a:chOff x="0" y="0"/>
            <a:chExt cx="3108960" cy="6583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108960" cy="658368"/>
            </a:xfrm>
            <a:custGeom>
              <a:avLst/>
              <a:gdLst/>
              <a:ahLst/>
              <a:cxnLst/>
              <a:rect r="r" b="b" t="t" l="l"/>
              <a:pathLst>
                <a:path h="658368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012" r="0" b="-4201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310896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ML-PRAC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28700" y="6693408"/>
            <a:ext cx="4622292" cy="617220"/>
            <a:chOff x="0" y="0"/>
            <a:chExt cx="6163056" cy="8229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163056" cy="822960"/>
            </a:xfrm>
            <a:custGeom>
              <a:avLst/>
              <a:gdLst/>
              <a:ahLst/>
              <a:cxnLst/>
              <a:rect r="r" b="b" t="t" l="l"/>
              <a:pathLst>
                <a:path h="82296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921" r="0" b="-9592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6163056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Tutor &amp; Quiz (RAG)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28700" y="7338060"/>
            <a:ext cx="4622292" cy="1234440"/>
            <a:chOff x="0" y="0"/>
            <a:chExt cx="6163056" cy="16459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163056" cy="1645920"/>
            </a:xfrm>
            <a:custGeom>
              <a:avLst/>
              <a:gdLst/>
              <a:ahLst/>
              <a:cxnLst/>
              <a:rect r="r" b="b" t="t" l="l"/>
              <a:pathLst>
                <a:path h="164592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60" r="0" b="-2296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6163056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GPT-4o-mini + Pinecone Vector DB — RAG pipeline: PDF ingestion → quiz generation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258687" y="5751195"/>
            <a:ext cx="5327142" cy="2967990"/>
            <a:chOff x="0" y="0"/>
            <a:chExt cx="7102856" cy="39573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102856" cy="3957320"/>
            </a:xfrm>
            <a:custGeom>
              <a:avLst/>
              <a:gdLst/>
              <a:ahLst/>
              <a:cxnLst/>
              <a:rect r="r" b="b" t="t" l="l"/>
              <a:pathLst>
                <a:path h="3957320" w="710285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6937248" y="0"/>
                  </a:lnTo>
                  <a:cubicBezTo>
                    <a:pt x="7028688" y="0"/>
                    <a:pt x="7102856" y="74168"/>
                    <a:pt x="7102856" y="165608"/>
                  </a:cubicBezTo>
                  <a:lnTo>
                    <a:pt x="7102856" y="3791712"/>
                  </a:lnTo>
                  <a:cubicBezTo>
                    <a:pt x="7102856" y="3883152"/>
                    <a:pt x="7028688" y="3957320"/>
                    <a:pt x="6937248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6611112" y="6062472"/>
            <a:ext cx="2331720" cy="493776"/>
            <a:chOff x="0" y="0"/>
            <a:chExt cx="3108960" cy="65836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108960" cy="658368"/>
            </a:xfrm>
            <a:custGeom>
              <a:avLst/>
              <a:gdLst/>
              <a:ahLst/>
              <a:cxnLst/>
              <a:rect r="r" b="b" t="t" l="l"/>
              <a:pathLst>
                <a:path h="658368" w="31089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999232" y="0"/>
                  </a:lnTo>
                  <a:cubicBezTo>
                    <a:pt x="3059811" y="0"/>
                    <a:pt x="3108960" y="49149"/>
                    <a:pt x="3108960" y="109728"/>
                  </a:cubicBezTo>
                  <a:lnTo>
                    <a:pt x="3108960" y="548640"/>
                  </a:lnTo>
                  <a:cubicBezTo>
                    <a:pt x="3108960" y="609219"/>
                    <a:pt x="3059811" y="658368"/>
                    <a:pt x="2999232" y="658368"/>
                  </a:cubicBezTo>
                  <a:lnTo>
                    <a:pt x="109728" y="658368"/>
                  </a:lnTo>
                  <a:cubicBezTo>
                    <a:pt x="49149" y="658368"/>
                    <a:pt x="0" y="609219"/>
                    <a:pt x="0" y="548640"/>
                  </a:cubicBezTo>
                  <a:close/>
                </a:path>
              </a:pathLst>
            </a:custGeom>
            <a:solidFill>
              <a:srgbClr val="FFF7D6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611112" y="6062472"/>
            <a:ext cx="2331720" cy="493776"/>
            <a:chOff x="0" y="0"/>
            <a:chExt cx="3108960" cy="65836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108960" cy="658368"/>
            </a:xfrm>
            <a:custGeom>
              <a:avLst/>
              <a:gdLst/>
              <a:ahLst/>
              <a:cxnLst/>
              <a:rect r="r" b="b" t="t" l="l"/>
              <a:pathLst>
                <a:path h="658368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012" r="0" b="-4201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310896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ML-GAMI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611112" y="6693408"/>
            <a:ext cx="4622292" cy="617220"/>
            <a:chOff x="0" y="0"/>
            <a:chExt cx="6163056" cy="8229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163056" cy="822960"/>
            </a:xfrm>
            <a:custGeom>
              <a:avLst/>
              <a:gdLst/>
              <a:ahLst/>
              <a:cxnLst/>
              <a:rect r="r" b="b" t="t" l="l"/>
              <a:pathLst>
                <a:path h="82296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921" r="0" b="-9592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6163056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Gamification System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611112" y="7338060"/>
            <a:ext cx="4622292" cy="1234440"/>
            <a:chOff x="0" y="0"/>
            <a:chExt cx="6163056" cy="16459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163056" cy="1645920"/>
            </a:xfrm>
            <a:custGeom>
              <a:avLst/>
              <a:gdLst/>
              <a:ahLst/>
              <a:cxnLst/>
              <a:rect r="r" b="b" t="t" l="l"/>
              <a:pathLst>
                <a:path h="164592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60" r="0" b="-2296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6163056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XP, Level, Badge, Leaderboard — Zustand global state, Firebase persistence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6504463" y="9710928"/>
            <a:ext cx="1371600" cy="411480"/>
            <a:chOff x="0" y="0"/>
            <a:chExt cx="1828800" cy="548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 / 20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685800" y="9710928"/>
            <a:ext cx="3017520" cy="411480"/>
            <a:chOff x="0" y="0"/>
            <a:chExt cx="4023360" cy="5486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023360" cy="548640"/>
            </a:xfrm>
            <a:custGeom>
              <a:avLst/>
              <a:gdLst/>
              <a:ahLst/>
              <a:cxnLst/>
              <a:rect r="r" b="b" t="t" l="l"/>
              <a:pathLst>
                <a:path h="5486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40233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7C7D9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MELON AI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87552" y="0"/>
                  </a:lnTo>
                  <a:cubicBezTo>
                    <a:pt x="1068324" y="0"/>
                    <a:pt x="1133856" y="65532"/>
                    <a:pt x="1133856" y="146304"/>
                  </a:cubicBezTo>
                  <a:lnTo>
                    <a:pt x="1133856" y="475488"/>
                  </a:lnTo>
                  <a:cubicBezTo>
                    <a:pt x="1133856" y="556260"/>
                    <a:pt x="1068324" y="621792"/>
                    <a:pt x="987552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360" t="0" r="-2036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73352" y="576072"/>
            <a:ext cx="8915400" cy="466344"/>
            <a:chOff x="0" y="0"/>
            <a:chExt cx="1188720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87200" cy="621792"/>
            </a:xfrm>
            <a:custGeom>
              <a:avLst/>
              <a:gdLst/>
              <a:ahLst/>
              <a:cxnLst/>
              <a:rect r="r" b="b" t="t" l="l"/>
              <a:pathLst>
                <a:path h="621792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508" r="0" b="-3225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18872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4B4B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ARCHITECTURE &amp; NFR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1151001"/>
            <a:ext cx="1440180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6172B"/>
                </a:solidFill>
                <a:latin typeface="Arial Bold"/>
                <a:ea typeface="Arial Bold"/>
                <a:cs typeface="Arial Bold"/>
                <a:sym typeface="Arial Bold"/>
              </a:rPr>
              <a:t>Yêu cầu Phi chức năng (NFRs)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76275" y="2527935"/>
            <a:ext cx="5327142" cy="2967990"/>
            <a:chOff x="0" y="0"/>
            <a:chExt cx="7102856" cy="3957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02856" cy="3957320"/>
            </a:xfrm>
            <a:custGeom>
              <a:avLst/>
              <a:gdLst/>
              <a:ahLst/>
              <a:cxnLst/>
              <a:rect r="r" b="b" t="t" l="l"/>
              <a:pathLst>
                <a:path h="3957320" w="710285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6937248" y="0"/>
                  </a:lnTo>
                  <a:cubicBezTo>
                    <a:pt x="7028688" y="0"/>
                    <a:pt x="7102856" y="74168"/>
                    <a:pt x="7102856" y="165608"/>
                  </a:cubicBezTo>
                  <a:lnTo>
                    <a:pt x="7102856" y="3791712"/>
                  </a:lnTo>
                  <a:cubicBezTo>
                    <a:pt x="7102856" y="3883152"/>
                    <a:pt x="7028688" y="3957320"/>
                    <a:pt x="6937248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87552" y="2839212"/>
            <a:ext cx="822960" cy="822960"/>
            <a:chOff x="0" y="0"/>
            <a:chExt cx="109728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ECD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87552" y="2839212"/>
            <a:ext cx="822960" cy="822960"/>
            <a:chOff x="0" y="0"/>
            <a:chExt cx="109728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88820" y="2866644"/>
            <a:ext cx="3662172" cy="754380"/>
            <a:chOff x="0" y="0"/>
            <a:chExt cx="4882896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828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4882896">
                  <a:moveTo>
                    <a:pt x="0" y="0"/>
                  </a:moveTo>
                  <a:lnTo>
                    <a:pt x="4882896" y="0"/>
                  </a:lnTo>
                  <a:lnTo>
                    <a:pt x="48828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591" r="0" b="-4459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882896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Performance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3840480"/>
            <a:ext cx="4622292" cy="1508760"/>
            <a:chOff x="0" y="0"/>
            <a:chExt cx="6163056" cy="2011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63056" cy="2011680"/>
            </a:xfrm>
            <a:custGeom>
              <a:avLst/>
              <a:gdLst/>
              <a:ahLst/>
              <a:cxnLst/>
              <a:rect r="r" b="b" t="t" l="l"/>
              <a:pathLst>
                <a:path h="201168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95" r="0" b="-969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163056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85036" indent="-142518" lvl="1">
                <a:lnSpc>
                  <a:spcPts val="1889"/>
                </a:lnSpc>
                <a:buFont typeface="Arial"/>
                <a:buChar char="•"/>
              </a:pPr>
              <a:r>
                <a:rPr lang="en-US" sz="15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Response time &lt; 2s</a:t>
              </a:r>
            </a:p>
            <a:p>
              <a:pPr algn="l" marL="285036" indent="-142518" lvl="1">
                <a:lnSpc>
                  <a:spcPts val="1889"/>
                </a:lnSpc>
                <a:buFont typeface="Arial"/>
                <a:buChar char="•"/>
              </a:pPr>
              <a:r>
                <a:rPr lang="en-US" sz="15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streaming via SSE</a:t>
              </a:r>
            </a:p>
            <a:p>
              <a:pPr algn="l" marL="285036" indent="-142518" lvl="1">
                <a:lnSpc>
                  <a:spcPts val="1889"/>
                </a:lnSpc>
                <a:buFont typeface="Arial"/>
                <a:buChar char="•"/>
              </a:pPr>
              <a:r>
                <a:rPr lang="en-US" sz="15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TTS cache (SHA256)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258687" y="2527935"/>
            <a:ext cx="5327142" cy="2967990"/>
            <a:chOff x="0" y="0"/>
            <a:chExt cx="7102856" cy="39573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02856" cy="3957320"/>
            </a:xfrm>
            <a:custGeom>
              <a:avLst/>
              <a:gdLst/>
              <a:ahLst/>
              <a:cxnLst/>
              <a:rect r="r" b="b" t="t" l="l"/>
              <a:pathLst>
                <a:path h="3957320" w="710285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6937248" y="0"/>
                  </a:lnTo>
                  <a:cubicBezTo>
                    <a:pt x="7028688" y="0"/>
                    <a:pt x="7102856" y="74168"/>
                    <a:pt x="7102856" y="165608"/>
                  </a:cubicBezTo>
                  <a:lnTo>
                    <a:pt x="7102856" y="3791712"/>
                  </a:lnTo>
                  <a:cubicBezTo>
                    <a:pt x="7102856" y="3883152"/>
                    <a:pt x="7028688" y="3957320"/>
                    <a:pt x="6937248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569964" y="2839212"/>
            <a:ext cx="822960" cy="822960"/>
            <a:chOff x="0" y="0"/>
            <a:chExt cx="109728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E5F6F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569964" y="2839212"/>
            <a:ext cx="822960" cy="822960"/>
            <a:chOff x="0" y="0"/>
            <a:chExt cx="109728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📈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571232" y="2866644"/>
            <a:ext cx="3662172" cy="754380"/>
            <a:chOff x="0" y="0"/>
            <a:chExt cx="4882896" cy="1005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8828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4882896">
                  <a:moveTo>
                    <a:pt x="0" y="0"/>
                  </a:moveTo>
                  <a:lnTo>
                    <a:pt x="4882896" y="0"/>
                  </a:lnTo>
                  <a:lnTo>
                    <a:pt x="48828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591" r="0" b="-4459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882896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Scalability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611112" y="3840480"/>
            <a:ext cx="4622292" cy="1508760"/>
            <a:chOff x="0" y="0"/>
            <a:chExt cx="6163056" cy="20116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163056" cy="2011680"/>
            </a:xfrm>
            <a:custGeom>
              <a:avLst/>
              <a:gdLst/>
              <a:ahLst/>
              <a:cxnLst/>
              <a:rect r="r" b="b" t="t" l="l"/>
              <a:pathLst>
                <a:path h="201168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95" r="0" b="-969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6163056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85036" indent="-142518" lvl="1">
                <a:lnSpc>
                  <a:spcPts val="1889"/>
                </a:lnSpc>
                <a:buFont typeface="Arial"/>
                <a:buChar char="•"/>
              </a:pPr>
              <a:r>
                <a:rPr lang="en-US" sz="15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Chịu tải 1,000 CCU</a:t>
              </a:r>
            </a:p>
            <a:p>
              <a:pPr algn="l" marL="285036" indent="-142518" lvl="1">
                <a:lnSpc>
                  <a:spcPts val="1889"/>
                </a:lnSpc>
                <a:buFont typeface="Arial"/>
                <a:buChar char="•"/>
              </a:pPr>
              <a:r>
                <a:rPr lang="en-US" sz="15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Vercel edge deployment</a:t>
              </a:r>
            </a:p>
            <a:p>
              <a:pPr algn="l" marL="285036" indent="-142518" lvl="1">
                <a:lnSpc>
                  <a:spcPts val="1889"/>
                </a:lnSpc>
                <a:buFont typeface="Arial"/>
                <a:buChar char="•"/>
              </a:pPr>
              <a:r>
                <a:rPr lang="en-US" sz="15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Firebase auto-scale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841099" y="2527935"/>
            <a:ext cx="5327142" cy="2967990"/>
            <a:chOff x="0" y="0"/>
            <a:chExt cx="7102856" cy="39573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102856" cy="3957320"/>
            </a:xfrm>
            <a:custGeom>
              <a:avLst/>
              <a:gdLst/>
              <a:ahLst/>
              <a:cxnLst/>
              <a:rect r="r" b="b" t="t" l="l"/>
              <a:pathLst>
                <a:path h="3957320" w="710285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6937248" y="0"/>
                  </a:lnTo>
                  <a:cubicBezTo>
                    <a:pt x="7028688" y="0"/>
                    <a:pt x="7102856" y="74168"/>
                    <a:pt x="7102856" y="165608"/>
                  </a:cubicBezTo>
                  <a:lnTo>
                    <a:pt x="7102856" y="3791712"/>
                  </a:lnTo>
                  <a:cubicBezTo>
                    <a:pt x="7102856" y="3883152"/>
                    <a:pt x="7028688" y="3957320"/>
                    <a:pt x="6937248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152376" y="2839212"/>
            <a:ext cx="822960" cy="822960"/>
            <a:chOff x="0" y="0"/>
            <a:chExt cx="109728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1ECF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152376" y="2839212"/>
            <a:ext cx="822960" cy="822960"/>
            <a:chOff x="0" y="0"/>
            <a:chExt cx="109728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🔐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153644" y="2866644"/>
            <a:ext cx="3662172" cy="754380"/>
            <a:chOff x="0" y="0"/>
            <a:chExt cx="4882896" cy="1005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828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4882896">
                  <a:moveTo>
                    <a:pt x="0" y="0"/>
                  </a:moveTo>
                  <a:lnTo>
                    <a:pt x="4882896" y="0"/>
                  </a:lnTo>
                  <a:lnTo>
                    <a:pt x="48828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591" r="0" b="-4459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4882896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Security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193524" y="3840480"/>
            <a:ext cx="4622292" cy="1508760"/>
            <a:chOff x="0" y="0"/>
            <a:chExt cx="6163056" cy="2011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163056" cy="2011680"/>
            </a:xfrm>
            <a:custGeom>
              <a:avLst/>
              <a:gdLst/>
              <a:ahLst/>
              <a:cxnLst/>
              <a:rect r="r" b="b" t="t" l="l"/>
              <a:pathLst>
                <a:path h="201168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95" r="0" b="-969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6163056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85036" indent="-142518" lvl="1">
                <a:lnSpc>
                  <a:spcPts val="1889"/>
                </a:lnSpc>
                <a:buFont typeface="Arial"/>
                <a:buChar char="•"/>
              </a:pPr>
              <a:r>
                <a:rPr lang="en-US" sz="15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JWT token auth</a:t>
              </a:r>
            </a:p>
            <a:p>
              <a:pPr algn="l" marL="285036" indent="-142518" lvl="1">
                <a:lnSpc>
                  <a:spcPts val="1889"/>
                </a:lnSpc>
                <a:buFont typeface="Arial"/>
                <a:buChar char="•"/>
              </a:pPr>
              <a:r>
                <a:rPr lang="en-US" sz="15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Secrets trong env vars</a:t>
              </a:r>
            </a:p>
            <a:p>
              <a:pPr algn="l" marL="285036" indent="-142518" lvl="1">
                <a:lnSpc>
                  <a:spcPts val="1889"/>
                </a:lnSpc>
                <a:buFont typeface="Arial"/>
                <a:buChar char="•"/>
              </a:pPr>
              <a:r>
                <a:rPr lang="en-US" sz="15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Next.js API Proxy layer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76275" y="5751195"/>
            <a:ext cx="5327142" cy="2967990"/>
            <a:chOff x="0" y="0"/>
            <a:chExt cx="7102856" cy="39573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102856" cy="3957320"/>
            </a:xfrm>
            <a:custGeom>
              <a:avLst/>
              <a:gdLst/>
              <a:ahLst/>
              <a:cxnLst/>
              <a:rect r="r" b="b" t="t" l="l"/>
              <a:pathLst>
                <a:path h="3957320" w="710285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6937248" y="0"/>
                  </a:lnTo>
                  <a:cubicBezTo>
                    <a:pt x="7028688" y="0"/>
                    <a:pt x="7102856" y="74168"/>
                    <a:pt x="7102856" y="165608"/>
                  </a:cubicBezTo>
                  <a:lnTo>
                    <a:pt x="7102856" y="3791712"/>
                  </a:lnTo>
                  <a:cubicBezTo>
                    <a:pt x="7102856" y="3883152"/>
                    <a:pt x="7028688" y="3957320"/>
                    <a:pt x="6937248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87552" y="6062472"/>
            <a:ext cx="822960" cy="822960"/>
            <a:chOff x="0" y="0"/>
            <a:chExt cx="1097280" cy="10972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E7FBEF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87552" y="6062472"/>
            <a:ext cx="822960" cy="822960"/>
            <a:chOff x="0" y="0"/>
            <a:chExt cx="1097280" cy="10972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🛡️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988820" y="6089904"/>
            <a:ext cx="3662172" cy="754380"/>
            <a:chOff x="0" y="0"/>
            <a:chExt cx="4882896" cy="10058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8828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4882896">
                  <a:moveTo>
                    <a:pt x="0" y="0"/>
                  </a:moveTo>
                  <a:lnTo>
                    <a:pt x="4882896" y="0"/>
                  </a:lnTo>
                  <a:lnTo>
                    <a:pt x="48828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591" r="0" b="-4459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4882896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Child Safety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28700" y="7063740"/>
            <a:ext cx="4622292" cy="1508760"/>
            <a:chOff x="0" y="0"/>
            <a:chExt cx="6163056" cy="20116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163056" cy="2011680"/>
            </a:xfrm>
            <a:custGeom>
              <a:avLst/>
              <a:gdLst/>
              <a:ahLst/>
              <a:cxnLst/>
              <a:rect r="r" b="b" t="t" l="l"/>
              <a:pathLst>
                <a:path h="201168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95" r="0" b="-969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6163056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85036" indent="-142518" lvl="1">
                <a:lnSpc>
                  <a:spcPts val="1889"/>
                </a:lnSpc>
                <a:buFont typeface="Arial"/>
                <a:buChar char="•"/>
              </a:pPr>
              <a:r>
                <a:rPr lang="en-US" sz="15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OpenAI Moderation API</a:t>
              </a:r>
            </a:p>
            <a:p>
              <a:pPr algn="l" marL="285036" indent="-142518" lvl="1">
                <a:lnSpc>
                  <a:spcPts val="1889"/>
                </a:lnSpc>
                <a:buFont typeface="Arial"/>
                <a:buChar char="•"/>
              </a:pPr>
              <a:r>
                <a:rPr lang="en-US" sz="15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100% input/output filter</a:t>
              </a:r>
            </a:p>
            <a:p>
              <a:pPr algn="l" marL="285036" indent="-142518" lvl="1">
                <a:lnSpc>
                  <a:spcPts val="1889"/>
                </a:lnSpc>
                <a:buFont typeface="Arial"/>
                <a:buChar char="•"/>
              </a:pPr>
              <a:r>
                <a:rPr lang="en-US" sz="15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Zero-tolerance policy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258687" y="5751195"/>
            <a:ext cx="5327142" cy="2967990"/>
            <a:chOff x="0" y="0"/>
            <a:chExt cx="7102856" cy="39573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102856" cy="3957320"/>
            </a:xfrm>
            <a:custGeom>
              <a:avLst/>
              <a:gdLst/>
              <a:ahLst/>
              <a:cxnLst/>
              <a:rect r="r" b="b" t="t" l="l"/>
              <a:pathLst>
                <a:path h="3957320" w="710285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6937248" y="0"/>
                  </a:lnTo>
                  <a:cubicBezTo>
                    <a:pt x="7028688" y="0"/>
                    <a:pt x="7102856" y="74168"/>
                    <a:pt x="7102856" y="165608"/>
                  </a:cubicBezTo>
                  <a:lnTo>
                    <a:pt x="7102856" y="3791712"/>
                  </a:lnTo>
                  <a:cubicBezTo>
                    <a:pt x="7102856" y="3883152"/>
                    <a:pt x="7028688" y="3957320"/>
                    <a:pt x="6937248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6569964" y="6062472"/>
            <a:ext cx="822960" cy="822960"/>
            <a:chOff x="0" y="0"/>
            <a:chExt cx="1097280" cy="10972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F7D6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569964" y="6062472"/>
            <a:ext cx="822960" cy="822960"/>
            <a:chOff x="0" y="0"/>
            <a:chExt cx="1097280" cy="10972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🔁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571232" y="6089904"/>
            <a:ext cx="3662172" cy="754380"/>
            <a:chOff x="0" y="0"/>
            <a:chExt cx="4882896" cy="10058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8828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4882896">
                  <a:moveTo>
                    <a:pt x="0" y="0"/>
                  </a:moveTo>
                  <a:lnTo>
                    <a:pt x="4882896" y="0"/>
                  </a:lnTo>
                  <a:lnTo>
                    <a:pt x="48828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591" r="0" b="-4459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4882896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Reliability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611112" y="7063740"/>
            <a:ext cx="4622292" cy="1508760"/>
            <a:chOff x="0" y="0"/>
            <a:chExt cx="6163056" cy="20116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163056" cy="2011680"/>
            </a:xfrm>
            <a:custGeom>
              <a:avLst/>
              <a:gdLst/>
              <a:ahLst/>
              <a:cxnLst/>
              <a:rect r="r" b="b" t="t" l="l"/>
              <a:pathLst>
                <a:path h="201168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95" r="0" b="-969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6163056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85036" indent="-142518" lvl="1">
                <a:lnSpc>
                  <a:spcPts val="1889"/>
                </a:lnSpc>
                <a:buFont typeface="Arial"/>
                <a:buChar char="•"/>
              </a:pPr>
              <a:r>
                <a:rPr lang="en-US" sz="15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CI/CD GitHub Actions</a:t>
              </a:r>
            </a:p>
            <a:p>
              <a:pPr algn="l" marL="285036" indent="-142518" lvl="1">
                <a:lnSpc>
                  <a:spcPts val="1889"/>
                </a:lnSpc>
                <a:buFont typeface="Arial"/>
                <a:buChar char="•"/>
              </a:pPr>
              <a:r>
                <a:rPr lang="en-US" sz="15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Atomic Vercel deploy</a:t>
              </a:r>
            </a:p>
            <a:p>
              <a:pPr algn="l" marL="285036" indent="-142518" lvl="1">
                <a:lnSpc>
                  <a:spcPts val="1889"/>
                </a:lnSpc>
                <a:buFont typeface="Arial"/>
                <a:buChar char="•"/>
              </a:pPr>
              <a:r>
                <a:rPr lang="en-US" sz="15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PR-gated merges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1841099" y="5751195"/>
            <a:ext cx="5327142" cy="2967990"/>
            <a:chOff x="0" y="0"/>
            <a:chExt cx="7102856" cy="39573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102856" cy="3957320"/>
            </a:xfrm>
            <a:custGeom>
              <a:avLst/>
              <a:gdLst/>
              <a:ahLst/>
              <a:cxnLst/>
              <a:rect r="r" b="b" t="t" l="l"/>
              <a:pathLst>
                <a:path h="3957320" w="710285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6937248" y="0"/>
                  </a:lnTo>
                  <a:cubicBezTo>
                    <a:pt x="7028688" y="0"/>
                    <a:pt x="7102856" y="74168"/>
                    <a:pt x="7102856" y="165608"/>
                  </a:cubicBezTo>
                  <a:lnTo>
                    <a:pt x="7102856" y="3791712"/>
                  </a:lnTo>
                  <a:cubicBezTo>
                    <a:pt x="7102856" y="3883152"/>
                    <a:pt x="7028688" y="3957320"/>
                    <a:pt x="6937248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2152376" y="6062472"/>
            <a:ext cx="822960" cy="822960"/>
            <a:chOff x="0" y="0"/>
            <a:chExt cx="1097280" cy="10972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E5F6FE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152376" y="6062472"/>
            <a:ext cx="822960" cy="822960"/>
            <a:chOff x="0" y="0"/>
            <a:chExt cx="1097280" cy="10972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🌐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153644" y="6089904"/>
            <a:ext cx="3662172" cy="754380"/>
            <a:chOff x="0" y="0"/>
            <a:chExt cx="4882896" cy="10058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8828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4882896">
                  <a:moveTo>
                    <a:pt x="0" y="0"/>
                  </a:moveTo>
                  <a:lnTo>
                    <a:pt x="4882896" y="0"/>
                  </a:lnTo>
                  <a:lnTo>
                    <a:pt x="48828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591" r="0" b="-4459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4882896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Compatibility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193524" y="7063740"/>
            <a:ext cx="4622292" cy="1508760"/>
            <a:chOff x="0" y="0"/>
            <a:chExt cx="6163056" cy="20116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163056" cy="2011680"/>
            </a:xfrm>
            <a:custGeom>
              <a:avLst/>
              <a:gdLst/>
              <a:ahLst/>
              <a:cxnLst/>
              <a:rect r="r" b="b" t="t" l="l"/>
              <a:pathLst>
                <a:path h="201168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95" r="0" b="-969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6163056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85036" indent="-142518" lvl="1">
                <a:lnSpc>
                  <a:spcPts val="1889"/>
                </a:lnSpc>
                <a:buFont typeface="Arial"/>
                <a:buChar char="•"/>
              </a:pPr>
              <a:r>
                <a:rPr lang="en-US" sz="15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Chrome/Firefox/Safari</a:t>
              </a:r>
            </a:p>
            <a:p>
              <a:pPr algn="l" marL="285036" indent="-142518" lvl="1">
                <a:lnSpc>
                  <a:spcPts val="1889"/>
                </a:lnSpc>
                <a:buFont typeface="Arial"/>
                <a:buChar char="•"/>
              </a:pPr>
              <a:r>
                <a:rPr lang="en-US" sz="15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Responsive UI</a:t>
              </a:r>
            </a:p>
            <a:p>
              <a:pPr algn="l" marL="285036" indent="-142518" lvl="1">
                <a:lnSpc>
                  <a:spcPts val="1889"/>
                </a:lnSpc>
                <a:buFont typeface="Arial"/>
                <a:buChar char="•"/>
              </a:pPr>
              <a:r>
                <a:rPr lang="en-US" sz="15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Tailwind v4 design system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6504463" y="9710928"/>
            <a:ext cx="1371600" cy="411480"/>
            <a:chOff x="0" y="0"/>
            <a:chExt cx="1828800" cy="5486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 / 20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85800" y="9710928"/>
            <a:ext cx="3017520" cy="411480"/>
            <a:chOff x="0" y="0"/>
            <a:chExt cx="4023360" cy="548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023360" cy="548640"/>
            </a:xfrm>
            <a:custGeom>
              <a:avLst/>
              <a:gdLst/>
              <a:ahLst/>
              <a:cxnLst/>
              <a:rect r="r" b="b" t="t" l="l"/>
              <a:pathLst>
                <a:path h="5486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40233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7C7D9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MELON AI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87552" y="0"/>
                  </a:lnTo>
                  <a:cubicBezTo>
                    <a:pt x="1068324" y="0"/>
                    <a:pt x="1133856" y="65532"/>
                    <a:pt x="1133856" y="146304"/>
                  </a:cubicBezTo>
                  <a:lnTo>
                    <a:pt x="1133856" y="475488"/>
                  </a:lnTo>
                  <a:cubicBezTo>
                    <a:pt x="1133856" y="556260"/>
                    <a:pt x="1068324" y="621792"/>
                    <a:pt x="987552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360" t="0" r="-2036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73352" y="576072"/>
            <a:ext cx="8915400" cy="466344"/>
            <a:chOff x="0" y="0"/>
            <a:chExt cx="1188720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87200" cy="621792"/>
            </a:xfrm>
            <a:custGeom>
              <a:avLst/>
              <a:gdLst/>
              <a:ahLst/>
              <a:cxnLst/>
              <a:rect r="r" b="b" t="t" l="l"/>
              <a:pathLst>
                <a:path h="621792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508" r="0" b="-3225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18872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4B4B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ARCHITECTURE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1151001"/>
            <a:ext cx="1440180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6172B"/>
                </a:solidFill>
                <a:latin typeface="Arial Bold"/>
                <a:ea typeface="Arial Bold"/>
                <a:cs typeface="Arial Bold"/>
                <a:sym typeface="Arial Bold"/>
              </a:rPr>
              <a:t>Hybrid Split-Stack Architecture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20927" y="2527935"/>
            <a:ext cx="15655290" cy="1322070"/>
            <a:chOff x="0" y="0"/>
            <a:chExt cx="20873720" cy="1762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873721" cy="1762760"/>
            </a:xfrm>
            <a:custGeom>
              <a:avLst/>
              <a:gdLst/>
              <a:ahLst/>
              <a:cxnLst/>
              <a:rect r="r" b="b" t="t" l="l"/>
              <a:pathLst>
                <a:path h="1762760" w="20873721">
                  <a:moveTo>
                    <a:pt x="0" y="167005"/>
                  </a:moveTo>
                  <a:cubicBezTo>
                    <a:pt x="0" y="74803"/>
                    <a:pt x="74803" y="0"/>
                    <a:pt x="167005" y="0"/>
                  </a:cubicBezTo>
                  <a:lnTo>
                    <a:pt x="20706716" y="0"/>
                  </a:lnTo>
                  <a:cubicBezTo>
                    <a:pt x="20798918" y="0"/>
                    <a:pt x="20873721" y="74803"/>
                    <a:pt x="20873721" y="167005"/>
                  </a:cubicBezTo>
                  <a:lnTo>
                    <a:pt x="20873721" y="1595755"/>
                  </a:lnTo>
                  <a:cubicBezTo>
                    <a:pt x="20873721" y="1687957"/>
                    <a:pt x="20798918" y="1762760"/>
                    <a:pt x="20706716" y="1762760"/>
                  </a:cubicBezTo>
                  <a:lnTo>
                    <a:pt x="167005" y="1762760"/>
                  </a:lnTo>
                  <a:cubicBezTo>
                    <a:pt x="74803" y="1762760"/>
                    <a:pt x="0" y="1687957"/>
                    <a:pt x="0" y="15957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632204" y="2811780"/>
            <a:ext cx="754380" cy="754380"/>
            <a:chOff x="0" y="0"/>
            <a:chExt cx="100584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E7FBE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32204" y="2811780"/>
            <a:ext cx="754380" cy="754380"/>
            <a:chOff x="0" y="0"/>
            <a:chExt cx="100584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058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🌐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633472" y="2702052"/>
            <a:ext cx="4937760" cy="960120"/>
            <a:chOff x="0" y="0"/>
            <a:chExt cx="658368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65836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Browser Client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639812" y="2702052"/>
            <a:ext cx="9052560" cy="960120"/>
            <a:chOff x="0" y="0"/>
            <a:chExt cx="12070080" cy="12801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070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3716" r="0" b="-13371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0700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19 · Next.js App Router · Tailwind v4 · Zustand · Framer Motion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805672" y="3840480"/>
            <a:ext cx="685800" cy="576072"/>
            <a:chOff x="0" y="0"/>
            <a:chExt cx="914400" cy="7680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768096"/>
            </a:xfrm>
            <a:custGeom>
              <a:avLst/>
              <a:gdLst/>
              <a:ahLst/>
              <a:cxnLst/>
              <a:rect r="r" b="b" t="t" l="l"/>
              <a:pathLst>
                <a:path h="76809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7775" t="0" r="-57775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914400" cy="825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20927" y="4407027"/>
            <a:ext cx="15655290" cy="1322070"/>
            <a:chOff x="0" y="0"/>
            <a:chExt cx="20873720" cy="17627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873721" cy="1762760"/>
            </a:xfrm>
            <a:custGeom>
              <a:avLst/>
              <a:gdLst/>
              <a:ahLst/>
              <a:cxnLst/>
              <a:rect r="r" b="b" t="t" l="l"/>
              <a:pathLst>
                <a:path h="1762760" w="20873721">
                  <a:moveTo>
                    <a:pt x="0" y="167005"/>
                  </a:moveTo>
                  <a:cubicBezTo>
                    <a:pt x="0" y="74803"/>
                    <a:pt x="74803" y="0"/>
                    <a:pt x="167005" y="0"/>
                  </a:cubicBezTo>
                  <a:lnTo>
                    <a:pt x="20706716" y="0"/>
                  </a:lnTo>
                  <a:cubicBezTo>
                    <a:pt x="20798918" y="0"/>
                    <a:pt x="20873721" y="74803"/>
                    <a:pt x="20873721" y="167005"/>
                  </a:cubicBezTo>
                  <a:lnTo>
                    <a:pt x="20873721" y="1595755"/>
                  </a:lnTo>
                  <a:cubicBezTo>
                    <a:pt x="20873721" y="1687957"/>
                    <a:pt x="20798918" y="1762760"/>
                    <a:pt x="20706716" y="1762760"/>
                  </a:cubicBezTo>
                  <a:lnTo>
                    <a:pt x="167005" y="1762760"/>
                  </a:lnTo>
                  <a:cubicBezTo>
                    <a:pt x="74803" y="1762760"/>
                    <a:pt x="0" y="1687957"/>
                    <a:pt x="0" y="15957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632204" y="4690872"/>
            <a:ext cx="754380" cy="754380"/>
            <a:chOff x="0" y="0"/>
            <a:chExt cx="100584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E5F6F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32204" y="4690872"/>
            <a:ext cx="754380" cy="754380"/>
            <a:chOff x="0" y="0"/>
            <a:chExt cx="1005840" cy="1005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0058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🔷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633472" y="4581144"/>
            <a:ext cx="4937760" cy="960120"/>
            <a:chOff x="0" y="0"/>
            <a:chExt cx="6583680" cy="1280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65836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Next.js API Proxy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639812" y="4581144"/>
            <a:ext cx="9052560" cy="960120"/>
            <a:chOff x="0" y="0"/>
            <a:chExt cx="12070080" cy="12801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070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3716" r="0" b="-13371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20700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Secure Gateway · JWT Validation · Secret Protection · Route Handlers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805672" y="5719572"/>
            <a:ext cx="685800" cy="576072"/>
            <a:chOff x="0" y="0"/>
            <a:chExt cx="914400" cy="7680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768096"/>
            </a:xfrm>
            <a:custGeom>
              <a:avLst/>
              <a:gdLst/>
              <a:ahLst/>
              <a:cxnLst/>
              <a:rect r="r" b="b" t="t" l="l"/>
              <a:pathLst>
                <a:path h="76809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7775" t="0" r="-57775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914400" cy="825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20927" y="6286119"/>
            <a:ext cx="15655290" cy="1322070"/>
            <a:chOff x="0" y="0"/>
            <a:chExt cx="20873720" cy="17627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873721" cy="1762760"/>
            </a:xfrm>
            <a:custGeom>
              <a:avLst/>
              <a:gdLst/>
              <a:ahLst/>
              <a:cxnLst/>
              <a:rect r="r" b="b" t="t" l="l"/>
              <a:pathLst>
                <a:path h="1762760" w="20873721">
                  <a:moveTo>
                    <a:pt x="0" y="167005"/>
                  </a:moveTo>
                  <a:cubicBezTo>
                    <a:pt x="0" y="74803"/>
                    <a:pt x="74803" y="0"/>
                    <a:pt x="167005" y="0"/>
                  </a:cubicBezTo>
                  <a:lnTo>
                    <a:pt x="20706716" y="0"/>
                  </a:lnTo>
                  <a:cubicBezTo>
                    <a:pt x="20798918" y="0"/>
                    <a:pt x="20873721" y="74803"/>
                    <a:pt x="20873721" y="167005"/>
                  </a:cubicBezTo>
                  <a:lnTo>
                    <a:pt x="20873721" y="1595755"/>
                  </a:lnTo>
                  <a:cubicBezTo>
                    <a:pt x="20873721" y="1687957"/>
                    <a:pt x="20798918" y="1762760"/>
                    <a:pt x="20706716" y="1762760"/>
                  </a:cubicBezTo>
                  <a:lnTo>
                    <a:pt x="167005" y="1762760"/>
                  </a:lnTo>
                  <a:cubicBezTo>
                    <a:pt x="74803" y="1762760"/>
                    <a:pt x="0" y="1687957"/>
                    <a:pt x="0" y="15957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632204" y="6569964"/>
            <a:ext cx="754380" cy="754380"/>
            <a:chOff x="0" y="0"/>
            <a:chExt cx="1005840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1ECF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632204" y="6569964"/>
            <a:ext cx="754380" cy="754380"/>
            <a:chOff x="0" y="0"/>
            <a:chExt cx="1005840" cy="1005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058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🐍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633472" y="6460236"/>
            <a:ext cx="4937760" cy="960120"/>
            <a:chOff x="0" y="0"/>
            <a:chExt cx="6583680" cy="12801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65836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Python FastAPI Backend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639812" y="6460236"/>
            <a:ext cx="9052560" cy="960120"/>
            <a:chOff x="0" y="0"/>
            <a:chExt cx="12070080" cy="12801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070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3716" r="0" b="-13371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20700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Engine: RAG · TTS · Vision Parsing · PyMuPDF · LangChain · Pinecone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805672" y="8174736"/>
            <a:ext cx="685800" cy="438912"/>
            <a:chOff x="0" y="0"/>
            <a:chExt cx="914400" cy="58521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4400" cy="585216"/>
            </a:xfrm>
            <a:custGeom>
              <a:avLst/>
              <a:gdLst/>
              <a:ahLst/>
              <a:cxnLst/>
              <a:rect r="r" b="b" t="t" l="l"/>
              <a:pathLst>
                <a:path h="58521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114" t="0" r="-32114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914400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30452" y="8641080"/>
            <a:ext cx="15636240" cy="411480"/>
            <a:chOff x="0" y="0"/>
            <a:chExt cx="2084832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848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0431" r="0" b="-69043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208483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25">
                  <a:solidFill>
                    <a:srgbClr val="7C7D9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EXTERNAL SERVICES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30452" y="9107424"/>
            <a:ext cx="2688336" cy="754380"/>
            <a:chOff x="0" y="0"/>
            <a:chExt cx="3584448" cy="10058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58444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584448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419856" y="0"/>
                  </a:lnTo>
                  <a:cubicBezTo>
                    <a:pt x="3510788" y="0"/>
                    <a:pt x="3584448" y="73660"/>
                    <a:pt x="3584448" y="164592"/>
                  </a:cubicBezTo>
                  <a:lnTo>
                    <a:pt x="3584448" y="841248"/>
                  </a:lnTo>
                  <a:cubicBezTo>
                    <a:pt x="3584448" y="932180"/>
                    <a:pt x="3510788" y="1005840"/>
                    <a:pt x="3419856" y="1005840"/>
                  </a:cubicBezTo>
                  <a:lnTo>
                    <a:pt x="164592" y="1005840"/>
                  </a:lnTo>
                  <a:cubicBezTo>
                    <a:pt x="73660" y="1005840"/>
                    <a:pt x="0" y="932180"/>
                    <a:pt x="0" y="841248"/>
                  </a:cubicBezTo>
                  <a:close/>
                </a:path>
              </a:pathLst>
            </a:custGeom>
            <a:solidFill>
              <a:srgbClr val="FAFAFD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330452" y="9107424"/>
            <a:ext cx="2688336" cy="754380"/>
            <a:chOff x="0" y="0"/>
            <a:chExt cx="3584448" cy="10058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58444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37" r="0" b="-1943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3584448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🔥 Firebase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4567428" y="9107424"/>
            <a:ext cx="2688336" cy="754380"/>
            <a:chOff x="0" y="0"/>
            <a:chExt cx="3584448" cy="10058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58444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584448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419856" y="0"/>
                  </a:lnTo>
                  <a:cubicBezTo>
                    <a:pt x="3510788" y="0"/>
                    <a:pt x="3584448" y="73660"/>
                    <a:pt x="3584448" y="164592"/>
                  </a:cubicBezTo>
                  <a:lnTo>
                    <a:pt x="3584448" y="841248"/>
                  </a:lnTo>
                  <a:cubicBezTo>
                    <a:pt x="3584448" y="932180"/>
                    <a:pt x="3510788" y="1005840"/>
                    <a:pt x="3419856" y="1005840"/>
                  </a:cubicBezTo>
                  <a:lnTo>
                    <a:pt x="164592" y="1005840"/>
                  </a:lnTo>
                  <a:cubicBezTo>
                    <a:pt x="73660" y="1005840"/>
                    <a:pt x="0" y="932180"/>
                    <a:pt x="0" y="841248"/>
                  </a:cubicBezTo>
                  <a:close/>
                </a:path>
              </a:pathLst>
            </a:custGeom>
            <a:solidFill>
              <a:srgbClr val="FAFAFD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4567428" y="9107424"/>
            <a:ext cx="2688336" cy="754380"/>
            <a:chOff x="0" y="0"/>
            <a:chExt cx="3584448" cy="10058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58444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37" r="0" b="-1943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3584448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📦 Pinecone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804404" y="9107424"/>
            <a:ext cx="2688336" cy="754380"/>
            <a:chOff x="0" y="0"/>
            <a:chExt cx="3584448" cy="10058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58444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584448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419856" y="0"/>
                  </a:lnTo>
                  <a:cubicBezTo>
                    <a:pt x="3510788" y="0"/>
                    <a:pt x="3584448" y="73660"/>
                    <a:pt x="3584448" y="164592"/>
                  </a:cubicBezTo>
                  <a:lnTo>
                    <a:pt x="3584448" y="841248"/>
                  </a:lnTo>
                  <a:cubicBezTo>
                    <a:pt x="3584448" y="932180"/>
                    <a:pt x="3510788" y="1005840"/>
                    <a:pt x="3419856" y="1005840"/>
                  </a:cubicBezTo>
                  <a:lnTo>
                    <a:pt x="164592" y="1005840"/>
                  </a:lnTo>
                  <a:cubicBezTo>
                    <a:pt x="73660" y="1005840"/>
                    <a:pt x="0" y="932180"/>
                    <a:pt x="0" y="841248"/>
                  </a:cubicBezTo>
                  <a:close/>
                </a:path>
              </a:pathLst>
            </a:custGeom>
            <a:solidFill>
              <a:srgbClr val="FAFAFD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804404" y="9107424"/>
            <a:ext cx="2688336" cy="754380"/>
            <a:chOff x="0" y="0"/>
            <a:chExt cx="3584448" cy="10058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58444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37" r="0" b="-1943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3584448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🤖 GPT-4o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041380" y="9107424"/>
            <a:ext cx="2688336" cy="754380"/>
            <a:chOff x="0" y="0"/>
            <a:chExt cx="3584448" cy="10058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58444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584448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419856" y="0"/>
                  </a:lnTo>
                  <a:cubicBezTo>
                    <a:pt x="3510788" y="0"/>
                    <a:pt x="3584448" y="73660"/>
                    <a:pt x="3584448" y="164592"/>
                  </a:cubicBezTo>
                  <a:lnTo>
                    <a:pt x="3584448" y="841248"/>
                  </a:lnTo>
                  <a:cubicBezTo>
                    <a:pt x="3584448" y="932180"/>
                    <a:pt x="3510788" y="1005840"/>
                    <a:pt x="3419856" y="1005840"/>
                  </a:cubicBezTo>
                  <a:lnTo>
                    <a:pt x="164592" y="1005840"/>
                  </a:lnTo>
                  <a:cubicBezTo>
                    <a:pt x="73660" y="1005840"/>
                    <a:pt x="0" y="932180"/>
                    <a:pt x="0" y="841248"/>
                  </a:cubicBezTo>
                  <a:close/>
                </a:path>
              </a:pathLst>
            </a:custGeom>
            <a:solidFill>
              <a:srgbClr val="FAFAFD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041380" y="9107424"/>
            <a:ext cx="2688336" cy="754380"/>
            <a:chOff x="0" y="0"/>
            <a:chExt cx="3584448" cy="10058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58444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37" r="0" b="-1943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3584448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💎 Gemini 2.0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4278356" y="9107424"/>
            <a:ext cx="2688336" cy="754380"/>
            <a:chOff x="0" y="0"/>
            <a:chExt cx="3584448" cy="10058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58444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584448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419856" y="0"/>
                  </a:lnTo>
                  <a:cubicBezTo>
                    <a:pt x="3510788" y="0"/>
                    <a:pt x="3584448" y="73660"/>
                    <a:pt x="3584448" y="164592"/>
                  </a:cubicBezTo>
                  <a:lnTo>
                    <a:pt x="3584448" y="841248"/>
                  </a:lnTo>
                  <a:cubicBezTo>
                    <a:pt x="3584448" y="932180"/>
                    <a:pt x="3510788" y="1005840"/>
                    <a:pt x="3419856" y="1005840"/>
                  </a:cubicBezTo>
                  <a:lnTo>
                    <a:pt x="164592" y="1005840"/>
                  </a:lnTo>
                  <a:cubicBezTo>
                    <a:pt x="73660" y="1005840"/>
                    <a:pt x="0" y="932180"/>
                    <a:pt x="0" y="841248"/>
                  </a:cubicBezTo>
                  <a:close/>
                </a:path>
              </a:pathLst>
            </a:custGeom>
            <a:solidFill>
              <a:srgbClr val="FAFAFD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4278356" y="9107424"/>
            <a:ext cx="2688336" cy="754380"/>
            <a:chOff x="0" y="0"/>
            <a:chExt cx="3584448" cy="10058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584448" cy="1005840"/>
            </a:xfrm>
            <a:custGeom>
              <a:avLst/>
              <a:gdLst/>
              <a:ahLst/>
              <a:cxnLst/>
              <a:rect r="r" b="b" t="t" l="l"/>
              <a:pathLst>
                <a:path h="1005840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37" r="0" b="-1943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3584448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🎙️ ElevenLabs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6504463" y="9710928"/>
            <a:ext cx="1371600" cy="411480"/>
            <a:chOff x="0" y="0"/>
            <a:chExt cx="1828800" cy="5486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/ 20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685800" y="9710928"/>
            <a:ext cx="3017520" cy="411480"/>
            <a:chOff x="0" y="0"/>
            <a:chExt cx="4023360" cy="5486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023360" cy="548640"/>
            </a:xfrm>
            <a:custGeom>
              <a:avLst/>
              <a:gdLst/>
              <a:ahLst/>
              <a:cxnLst/>
              <a:rect r="r" b="b" t="t" l="l"/>
              <a:pathLst>
                <a:path h="5486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40233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7C7D9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MELON AI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87552" y="0"/>
                  </a:lnTo>
                  <a:cubicBezTo>
                    <a:pt x="1068324" y="0"/>
                    <a:pt x="1133856" y="65532"/>
                    <a:pt x="1133856" y="146304"/>
                  </a:cubicBezTo>
                  <a:lnTo>
                    <a:pt x="1133856" y="475488"/>
                  </a:lnTo>
                  <a:cubicBezTo>
                    <a:pt x="1133856" y="556260"/>
                    <a:pt x="1068324" y="621792"/>
                    <a:pt x="987552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360" t="0" r="-2036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73352" y="576072"/>
            <a:ext cx="8915400" cy="466344"/>
            <a:chOff x="0" y="0"/>
            <a:chExt cx="1188720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87200" cy="621792"/>
            </a:xfrm>
            <a:custGeom>
              <a:avLst/>
              <a:gdLst/>
              <a:ahLst/>
              <a:cxnLst/>
              <a:rect r="r" b="b" t="t" l="l"/>
              <a:pathLst>
                <a:path h="621792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508" r="0" b="-3225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18872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4B4B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ARCHITECTURE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1151001"/>
            <a:ext cx="1440180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6172B"/>
                </a:solidFill>
                <a:latin typeface="Arial Bold"/>
                <a:ea typeface="Arial Bold"/>
                <a:cs typeface="Arial Bold"/>
                <a:sym typeface="Arial Bold"/>
              </a:rPr>
              <a:t>Data Flow: PDF → Quiz (RAG Pipeline)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5800" y="2537460"/>
            <a:ext cx="2441448" cy="1851660"/>
            <a:chOff x="0" y="0"/>
            <a:chExt cx="3255264" cy="2468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55264" cy="2468880"/>
            </a:xfrm>
            <a:custGeom>
              <a:avLst/>
              <a:gdLst/>
              <a:ahLst/>
              <a:cxnLst/>
              <a:rect r="r" b="b" t="t" l="l"/>
              <a:pathLst>
                <a:path h="2468880" w="325526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090672" y="0"/>
                  </a:lnTo>
                  <a:cubicBezTo>
                    <a:pt x="3181604" y="0"/>
                    <a:pt x="3255264" y="73660"/>
                    <a:pt x="3255264" y="164592"/>
                  </a:cubicBezTo>
                  <a:lnTo>
                    <a:pt x="3255264" y="2304288"/>
                  </a:lnTo>
                  <a:cubicBezTo>
                    <a:pt x="3255264" y="2395220"/>
                    <a:pt x="3181604" y="2468880"/>
                    <a:pt x="3090672" y="2468880"/>
                  </a:cubicBezTo>
                  <a:lnTo>
                    <a:pt x="164592" y="2468880"/>
                  </a:lnTo>
                  <a:cubicBezTo>
                    <a:pt x="73660" y="2468880"/>
                    <a:pt x="0" y="2395220"/>
                    <a:pt x="0" y="2304288"/>
                  </a:cubicBezTo>
                  <a:close/>
                </a:path>
              </a:pathLst>
            </a:custGeom>
            <a:solidFill>
              <a:srgbClr val="F1ECF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50392" y="2674620"/>
            <a:ext cx="685800" cy="548640"/>
            <a:chOff x="0" y="0"/>
            <a:chExt cx="9144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914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A78B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50392" y="3223260"/>
            <a:ext cx="2112264" cy="1097280"/>
            <a:chOff x="0" y="0"/>
            <a:chExt cx="2816352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6352" cy="1463040"/>
            </a:xfrm>
            <a:custGeom>
              <a:avLst/>
              <a:gdLst/>
              <a:ahLst/>
              <a:cxnLst/>
              <a:rect r="r" b="b" t="t" l="l"/>
              <a:pathLst>
                <a:path h="1463040" w="2816352">
                  <a:moveTo>
                    <a:pt x="0" y="0"/>
                  </a:moveTo>
                  <a:lnTo>
                    <a:pt x="2816352" y="0"/>
                  </a:lnTo>
                  <a:lnTo>
                    <a:pt x="2816352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651" t="0" r="-16651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816352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Upload PDF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099816" y="3113532"/>
            <a:ext cx="260604" cy="685800"/>
            <a:chOff x="0" y="0"/>
            <a:chExt cx="347472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7472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7640" t="0" r="-28764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347472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326130" y="2537460"/>
            <a:ext cx="2441448" cy="1851660"/>
            <a:chOff x="0" y="0"/>
            <a:chExt cx="3255264" cy="24688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55264" cy="2468880"/>
            </a:xfrm>
            <a:custGeom>
              <a:avLst/>
              <a:gdLst/>
              <a:ahLst/>
              <a:cxnLst/>
              <a:rect r="r" b="b" t="t" l="l"/>
              <a:pathLst>
                <a:path h="2468880" w="325526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090672" y="0"/>
                  </a:lnTo>
                  <a:cubicBezTo>
                    <a:pt x="3181604" y="0"/>
                    <a:pt x="3255264" y="73660"/>
                    <a:pt x="3255264" y="164592"/>
                  </a:cubicBezTo>
                  <a:lnTo>
                    <a:pt x="3255264" y="2304288"/>
                  </a:lnTo>
                  <a:cubicBezTo>
                    <a:pt x="3255264" y="2395220"/>
                    <a:pt x="3181604" y="2468880"/>
                    <a:pt x="3090672" y="2468880"/>
                  </a:cubicBezTo>
                  <a:lnTo>
                    <a:pt x="164592" y="2468880"/>
                  </a:lnTo>
                  <a:cubicBezTo>
                    <a:pt x="73660" y="2468880"/>
                    <a:pt x="0" y="2395220"/>
                    <a:pt x="0" y="2304288"/>
                  </a:cubicBezTo>
                  <a:close/>
                </a:path>
              </a:pathLst>
            </a:custGeom>
            <a:solidFill>
              <a:srgbClr val="F1ECF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490722" y="2674620"/>
            <a:ext cx="685800" cy="548640"/>
            <a:chOff x="0" y="0"/>
            <a:chExt cx="91440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914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A78B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490722" y="3223260"/>
            <a:ext cx="2112264" cy="1097280"/>
            <a:chOff x="0" y="0"/>
            <a:chExt cx="2816352" cy="1463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16352" cy="1463040"/>
            </a:xfrm>
            <a:custGeom>
              <a:avLst/>
              <a:gdLst/>
              <a:ahLst/>
              <a:cxnLst/>
              <a:rect r="r" b="b" t="t" l="l"/>
              <a:pathLst>
                <a:path h="1463040" w="2816352">
                  <a:moveTo>
                    <a:pt x="0" y="0"/>
                  </a:moveTo>
                  <a:lnTo>
                    <a:pt x="2816352" y="0"/>
                  </a:lnTo>
                  <a:lnTo>
                    <a:pt x="2816352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651" t="0" r="-16651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2816352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Extract Text (PyMuPDF)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740146" y="3113532"/>
            <a:ext cx="260604" cy="685800"/>
            <a:chOff x="0" y="0"/>
            <a:chExt cx="347472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7472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7640" t="0" r="-28764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347472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966460" y="2537460"/>
            <a:ext cx="2441448" cy="1851660"/>
            <a:chOff x="0" y="0"/>
            <a:chExt cx="3255264" cy="2468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55264" cy="2468880"/>
            </a:xfrm>
            <a:custGeom>
              <a:avLst/>
              <a:gdLst/>
              <a:ahLst/>
              <a:cxnLst/>
              <a:rect r="r" b="b" t="t" l="l"/>
              <a:pathLst>
                <a:path h="2468880" w="325526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090672" y="0"/>
                  </a:lnTo>
                  <a:cubicBezTo>
                    <a:pt x="3181604" y="0"/>
                    <a:pt x="3255264" y="73660"/>
                    <a:pt x="3255264" y="164592"/>
                  </a:cubicBezTo>
                  <a:lnTo>
                    <a:pt x="3255264" y="2304288"/>
                  </a:lnTo>
                  <a:cubicBezTo>
                    <a:pt x="3255264" y="2395220"/>
                    <a:pt x="3181604" y="2468880"/>
                    <a:pt x="3090672" y="2468880"/>
                  </a:cubicBezTo>
                  <a:lnTo>
                    <a:pt x="164592" y="2468880"/>
                  </a:lnTo>
                  <a:cubicBezTo>
                    <a:pt x="73660" y="2468880"/>
                    <a:pt x="0" y="2395220"/>
                    <a:pt x="0" y="2304288"/>
                  </a:cubicBezTo>
                  <a:close/>
                </a:path>
              </a:pathLst>
            </a:custGeom>
            <a:solidFill>
              <a:srgbClr val="F1ECF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131052" y="2674620"/>
            <a:ext cx="685800" cy="548640"/>
            <a:chOff x="0" y="0"/>
            <a:chExt cx="91440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1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914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A78B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131052" y="3223260"/>
            <a:ext cx="2112264" cy="1097280"/>
            <a:chOff x="0" y="0"/>
            <a:chExt cx="2816352" cy="1463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816352" cy="1463040"/>
            </a:xfrm>
            <a:custGeom>
              <a:avLst/>
              <a:gdLst/>
              <a:ahLst/>
              <a:cxnLst/>
              <a:rect r="r" b="b" t="t" l="l"/>
              <a:pathLst>
                <a:path h="1463040" w="2816352">
                  <a:moveTo>
                    <a:pt x="0" y="0"/>
                  </a:moveTo>
                  <a:lnTo>
                    <a:pt x="2816352" y="0"/>
                  </a:lnTo>
                  <a:lnTo>
                    <a:pt x="2816352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651" t="0" r="-1665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816352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Generate Embeddings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380476" y="3113532"/>
            <a:ext cx="260604" cy="685800"/>
            <a:chOff x="0" y="0"/>
            <a:chExt cx="347472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7472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7640" t="0" r="-28764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347472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606790" y="2537460"/>
            <a:ext cx="2441448" cy="1851660"/>
            <a:chOff x="0" y="0"/>
            <a:chExt cx="3255264" cy="24688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255264" cy="2468880"/>
            </a:xfrm>
            <a:custGeom>
              <a:avLst/>
              <a:gdLst/>
              <a:ahLst/>
              <a:cxnLst/>
              <a:rect r="r" b="b" t="t" l="l"/>
              <a:pathLst>
                <a:path h="2468880" w="325526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090672" y="0"/>
                  </a:lnTo>
                  <a:cubicBezTo>
                    <a:pt x="3181604" y="0"/>
                    <a:pt x="3255264" y="73660"/>
                    <a:pt x="3255264" y="164592"/>
                  </a:cubicBezTo>
                  <a:lnTo>
                    <a:pt x="3255264" y="2304288"/>
                  </a:lnTo>
                  <a:cubicBezTo>
                    <a:pt x="3255264" y="2395220"/>
                    <a:pt x="3181604" y="2468880"/>
                    <a:pt x="3090672" y="2468880"/>
                  </a:cubicBezTo>
                  <a:lnTo>
                    <a:pt x="164592" y="2468880"/>
                  </a:lnTo>
                  <a:cubicBezTo>
                    <a:pt x="73660" y="2468880"/>
                    <a:pt x="0" y="2395220"/>
                    <a:pt x="0" y="2304288"/>
                  </a:cubicBezTo>
                  <a:close/>
                </a:path>
              </a:pathLst>
            </a:custGeom>
            <a:solidFill>
              <a:srgbClr val="F1ECF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771382" y="2674620"/>
            <a:ext cx="685800" cy="548640"/>
            <a:chOff x="0" y="0"/>
            <a:chExt cx="91440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1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914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A78B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771382" y="3223260"/>
            <a:ext cx="2112264" cy="1097280"/>
            <a:chOff x="0" y="0"/>
            <a:chExt cx="2816352" cy="14630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816352" cy="1463040"/>
            </a:xfrm>
            <a:custGeom>
              <a:avLst/>
              <a:gdLst/>
              <a:ahLst/>
              <a:cxnLst/>
              <a:rect r="r" b="b" t="t" l="l"/>
              <a:pathLst>
                <a:path h="1463040" w="2816352">
                  <a:moveTo>
                    <a:pt x="0" y="0"/>
                  </a:moveTo>
                  <a:lnTo>
                    <a:pt x="2816352" y="0"/>
                  </a:lnTo>
                  <a:lnTo>
                    <a:pt x="2816352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651" t="0" r="-16651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2816352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Upsert to Pinecone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020806" y="3113532"/>
            <a:ext cx="260604" cy="685800"/>
            <a:chOff x="0" y="0"/>
            <a:chExt cx="347472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47472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7640" t="0" r="-287640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347472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247120" y="2537460"/>
            <a:ext cx="2441448" cy="1851660"/>
            <a:chOff x="0" y="0"/>
            <a:chExt cx="3255264" cy="24688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55264" cy="2468880"/>
            </a:xfrm>
            <a:custGeom>
              <a:avLst/>
              <a:gdLst/>
              <a:ahLst/>
              <a:cxnLst/>
              <a:rect r="r" b="b" t="t" l="l"/>
              <a:pathLst>
                <a:path h="2468880" w="325526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090672" y="0"/>
                  </a:lnTo>
                  <a:cubicBezTo>
                    <a:pt x="3181604" y="0"/>
                    <a:pt x="3255264" y="73660"/>
                    <a:pt x="3255264" y="164592"/>
                  </a:cubicBezTo>
                  <a:lnTo>
                    <a:pt x="3255264" y="2304288"/>
                  </a:lnTo>
                  <a:cubicBezTo>
                    <a:pt x="3255264" y="2395220"/>
                    <a:pt x="3181604" y="2468880"/>
                    <a:pt x="3090672" y="2468880"/>
                  </a:cubicBezTo>
                  <a:lnTo>
                    <a:pt x="164592" y="2468880"/>
                  </a:lnTo>
                  <a:cubicBezTo>
                    <a:pt x="73660" y="2468880"/>
                    <a:pt x="0" y="2395220"/>
                    <a:pt x="0" y="2304288"/>
                  </a:cubicBezTo>
                  <a:close/>
                </a:path>
              </a:pathLst>
            </a:custGeom>
            <a:solidFill>
              <a:srgbClr val="F1ECFE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411712" y="2674620"/>
            <a:ext cx="685800" cy="548640"/>
            <a:chOff x="0" y="0"/>
            <a:chExt cx="91440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914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A78B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411712" y="3223260"/>
            <a:ext cx="2112264" cy="1097280"/>
            <a:chOff x="0" y="0"/>
            <a:chExt cx="2816352" cy="14630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816352" cy="1463040"/>
            </a:xfrm>
            <a:custGeom>
              <a:avLst/>
              <a:gdLst/>
              <a:ahLst/>
              <a:cxnLst/>
              <a:rect r="r" b="b" t="t" l="l"/>
              <a:pathLst>
                <a:path h="1463040" w="2816352">
                  <a:moveTo>
                    <a:pt x="0" y="0"/>
                  </a:moveTo>
                  <a:lnTo>
                    <a:pt x="2816352" y="0"/>
                  </a:lnTo>
                  <a:lnTo>
                    <a:pt x="2816352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651" t="0" r="-16651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2816352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RAG Retrieval + GPT-4o-mini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661136" y="3113532"/>
            <a:ext cx="260604" cy="685800"/>
            <a:chOff x="0" y="0"/>
            <a:chExt cx="347472" cy="914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47472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7640" t="0" r="-287640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347472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887450" y="2537460"/>
            <a:ext cx="2441448" cy="1851660"/>
            <a:chOff x="0" y="0"/>
            <a:chExt cx="3255264" cy="24688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255264" cy="2468880"/>
            </a:xfrm>
            <a:custGeom>
              <a:avLst/>
              <a:gdLst/>
              <a:ahLst/>
              <a:cxnLst/>
              <a:rect r="r" b="b" t="t" l="l"/>
              <a:pathLst>
                <a:path h="2468880" w="325526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090672" y="0"/>
                  </a:lnTo>
                  <a:cubicBezTo>
                    <a:pt x="3181604" y="0"/>
                    <a:pt x="3255264" y="73660"/>
                    <a:pt x="3255264" y="164592"/>
                  </a:cubicBezTo>
                  <a:lnTo>
                    <a:pt x="3255264" y="2304288"/>
                  </a:lnTo>
                  <a:cubicBezTo>
                    <a:pt x="3255264" y="2395220"/>
                    <a:pt x="3181604" y="2468880"/>
                    <a:pt x="3090672" y="2468880"/>
                  </a:cubicBezTo>
                  <a:lnTo>
                    <a:pt x="164592" y="2468880"/>
                  </a:lnTo>
                  <a:cubicBezTo>
                    <a:pt x="73660" y="2468880"/>
                    <a:pt x="0" y="2395220"/>
                    <a:pt x="0" y="2304288"/>
                  </a:cubicBezTo>
                  <a:close/>
                </a:path>
              </a:pathLst>
            </a:custGeom>
            <a:solidFill>
              <a:srgbClr val="F1ECF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052042" y="2674620"/>
            <a:ext cx="685800" cy="548640"/>
            <a:chOff x="0" y="0"/>
            <a:chExt cx="91440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914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A78B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052042" y="3223260"/>
            <a:ext cx="2112264" cy="1097280"/>
            <a:chOff x="0" y="0"/>
            <a:chExt cx="2816352" cy="14630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816352" cy="1463040"/>
            </a:xfrm>
            <a:custGeom>
              <a:avLst/>
              <a:gdLst/>
              <a:ahLst/>
              <a:cxnLst/>
              <a:rect r="r" b="b" t="t" l="l"/>
              <a:pathLst>
                <a:path h="1463040" w="2816352">
                  <a:moveTo>
                    <a:pt x="0" y="0"/>
                  </a:moveTo>
                  <a:lnTo>
                    <a:pt x="2816352" y="0"/>
                  </a:lnTo>
                  <a:lnTo>
                    <a:pt x="2816352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651" t="0" r="-16651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2816352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Quiz JSON to Student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85800" y="4869180"/>
            <a:ext cx="15773400" cy="1440180"/>
            <a:chOff x="0" y="0"/>
            <a:chExt cx="21031200" cy="19202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10312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10312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0866608" y="0"/>
                  </a:lnTo>
                  <a:cubicBezTo>
                    <a:pt x="20957539" y="0"/>
                    <a:pt x="21031200" y="73660"/>
                    <a:pt x="21031200" y="164592"/>
                  </a:cubicBezTo>
                  <a:lnTo>
                    <a:pt x="21031200" y="1755648"/>
                  </a:lnTo>
                  <a:cubicBezTo>
                    <a:pt x="21031200" y="1846580"/>
                    <a:pt x="20957539" y="1920240"/>
                    <a:pt x="20866608" y="1920240"/>
                  </a:cubicBezTo>
                  <a:lnTo>
                    <a:pt x="164592" y="1920240"/>
                  </a:lnTo>
                  <a:cubicBezTo>
                    <a:pt x="73660" y="1920240"/>
                    <a:pt x="0" y="1846580"/>
                    <a:pt x="0" y="1755648"/>
                  </a:cubicBezTo>
                  <a:close/>
                </a:path>
              </a:pathLst>
            </a:custGeom>
            <a:solidFill>
              <a:srgbClr val="FAFAFD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097280" y="4869180"/>
            <a:ext cx="14950440" cy="1440180"/>
            <a:chOff x="0" y="0"/>
            <a:chExt cx="19933920" cy="19202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99339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273" r="0" b="-152273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1993392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TTS Flow:  </a:t>
              </a:r>
              <a:r>
                <a:rPr lang="en-US" sz="19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Child taps 🔊 → FastAPI → SHA256 Cache Check → ElevenLabs API → Firebase Storage → Audio URL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685800" y="6652260"/>
            <a:ext cx="15773400" cy="1440180"/>
            <a:chOff x="0" y="0"/>
            <a:chExt cx="21031200" cy="19202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10312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10312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0866608" y="0"/>
                  </a:lnTo>
                  <a:cubicBezTo>
                    <a:pt x="20957539" y="0"/>
                    <a:pt x="21031200" y="73660"/>
                    <a:pt x="21031200" y="164592"/>
                  </a:cubicBezTo>
                  <a:lnTo>
                    <a:pt x="21031200" y="1755648"/>
                  </a:lnTo>
                  <a:cubicBezTo>
                    <a:pt x="21031200" y="1846580"/>
                    <a:pt x="20957539" y="1920240"/>
                    <a:pt x="20866608" y="1920240"/>
                  </a:cubicBezTo>
                  <a:lnTo>
                    <a:pt x="164592" y="1920240"/>
                  </a:lnTo>
                  <a:cubicBezTo>
                    <a:pt x="73660" y="1920240"/>
                    <a:pt x="0" y="1846580"/>
                    <a:pt x="0" y="1755648"/>
                  </a:cubicBezTo>
                  <a:close/>
                </a:path>
              </a:pathLst>
            </a:custGeom>
            <a:solidFill>
              <a:srgbClr val="E7FBEF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097280" y="6652260"/>
            <a:ext cx="14950440" cy="1440180"/>
            <a:chOff x="0" y="0"/>
            <a:chExt cx="19933920" cy="19202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99339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273" r="0" b="-15227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1993392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🛡️  Child Safety Gate:  </a:t>
              </a:r>
              <a:r>
                <a:rPr lang="en-US" sz="1950">
                  <a:solidFill>
                    <a:srgbClr val="1617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Mọi output AI (text/audio) đều đi qua OpenAI Moderation API trước khi hiển thị cho trẻ.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6504463" y="9710928"/>
            <a:ext cx="1371600" cy="411480"/>
            <a:chOff x="0" y="0"/>
            <a:chExt cx="1828800" cy="5486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 / 20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685800" y="9710928"/>
            <a:ext cx="3017520" cy="411480"/>
            <a:chOff x="0" y="0"/>
            <a:chExt cx="4023360" cy="5486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023360" cy="548640"/>
            </a:xfrm>
            <a:custGeom>
              <a:avLst/>
              <a:gdLst/>
              <a:ahLst/>
              <a:cxnLst/>
              <a:rect r="r" b="b" t="t" l="l"/>
              <a:pathLst>
                <a:path h="5486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40233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7C7D9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MELON AI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87552" y="0"/>
                  </a:lnTo>
                  <a:cubicBezTo>
                    <a:pt x="1068324" y="0"/>
                    <a:pt x="1133856" y="65532"/>
                    <a:pt x="1133856" y="146304"/>
                  </a:cubicBezTo>
                  <a:lnTo>
                    <a:pt x="1133856" y="475488"/>
                  </a:lnTo>
                  <a:cubicBezTo>
                    <a:pt x="1133856" y="556260"/>
                    <a:pt x="1068324" y="621792"/>
                    <a:pt x="987552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FF7A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360" t="0" r="-2036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73352" y="576072"/>
            <a:ext cx="8915400" cy="466344"/>
            <a:chOff x="0" y="0"/>
            <a:chExt cx="1188720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87200" cy="621792"/>
            </a:xfrm>
            <a:custGeom>
              <a:avLst/>
              <a:gdLst/>
              <a:ahLst/>
              <a:cxnLst/>
              <a:rect r="r" b="b" t="t" l="l"/>
              <a:pathLst>
                <a:path h="621792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508" r="0" b="-3225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18872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4B4B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TECHNOLOGY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1151001"/>
            <a:ext cx="1440180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6172B"/>
                </a:solidFill>
                <a:latin typeface="Arial Bold"/>
                <a:ea typeface="Arial Bold"/>
                <a:cs typeface="Arial Bold"/>
                <a:sym typeface="Arial Bold"/>
              </a:rPr>
              <a:t>Technology Stack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76275" y="2596515"/>
            <a:ext cx="5327142" cy="6259830"/>
            <a:chOff x="0" y="0"/>
            <a:chExt cx="7102856" cy="8346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02856" cy="8346440"/>
            </a:xfrm>
            <a:custGeom>
              <a:avLst/>
              <a:gdLst/>
              <a:ahLst/>
              <a:cxnLst/>
              <a:rect r="r" b="b" t="t" l="l"/>
              <a:pathLst>
                <a:path h="8346440" w="7102856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6937629" y="0"/>
                  </a:lnTo>
                  <a:cubicBezTo>
                    <a:pt x="7028815" y="0"/>
                    <a:pt x="7102856" y="73914"/>
                    <a:pt x="7102856" y="165227"/>
                  </a:cubicBezTo>
                  <a:lnTo>
                    <a:pt x="7102856" y="8181213"/>
                  </a:lnTo>
                  <a:cubicBezTo>
                    <a:pt x="7102856" y="8272399"/>
                    <a:pt x="7028942" y="8346440"/>
                    <a:pt x="6937629" y="8346440"/>
                  </a:cubicBezTo>
                  <a:lnTo>
                    <a:pt x="165227" y="8346440"/>
                  </a:lnTo>
                  <a:cubicBezTo>
                    <a:pt x="73914" y="8346440"/>
                    <a:pt x="0" y="8272526"/>
                    <a:pt x="0" y="818121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97280" y="3044952"/>
            <a:ext cx="960120" cy="960120"/>
            <a:chOff x="0" y="0"/>
            <a:chExt cx="128016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E7FBE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97280" y="3044952"/>
            <a:ext cx="960120" cy="960120"/>
            <a:chOff x="0" y="0"/>
            <a:chExt cx="1280160" cy="1280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28016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🖥️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263140" y="3044952"/>
            <a:ext cx="3387852" cy="960120"/>
            <a:chOff x="0" y="0"/>
            <a:chExt cx="4517136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17136" cy="1280160"/>
            </a:xfrm>
            <a:custGeom>
              <a:avLst/>
              <a:gdLst/>
              <a:ahLst/>
              <a:cxnLst/>
              <a:rect r="r" b="b" t="t" l="l"/>
              <a:pathLst>
                <a:path h="1280160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54" r="0" b="-1875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517136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Frontend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65860" y="4320540"/>
            <a:ext cx="4347972" cy="4114800"/>
            <a:chOff x="0" y="0"/>
            <a:chExt cx="5797296" cy="5486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97296" cy="5486400"/>
            </a:xfrm>
            <a:custGeom>
              <a:avLst/>
              <a:gdLst/>
              <a:ahLst/>
              <a:cxnLst/>
              <a:rect r="r" b="b" t="t" l="l"/>
              <a:pathLst>
                <a:path h="5486400" w="5797296">
                  <a:moveTo>
                    <a:pt x="0" y="0"/>
                  </a:moveTo>
                  <a:lnTo>
                    <a:pt x="5797296" y="0"/>
                  </a:lnTo>
                  <a:lnTo>
                    <a:pt x="5797296" y="5486400"/>
                  </a:lnTo>
                  <a:lnTo>
                    <a:pt x="0" y="5486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422" t="0" r="-71422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797296" cy="5524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Next.js 16 (App Router)</a:t>
              </a:r>
            </a:p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19 + TypeScript</a:t>
              </a:r>
            </a:p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Tailwind CSS v4 · shadcn/Radix</a:t>
              </a:r>
            </a:p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Zustand · TanStack Query</a:t>
              </a:r>
            </a:p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Framer Motion (animations)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258687" y="2596515"/>
            <a:ext cx="5327142" cy="6259830"/>
            <a:chOff x="0" y="0"/>
            <a:chExt cx="7102856" cy="8346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02856" cy="8346440"/>
            </a:xfrm>
            <a:custGeom>
              <a:avLst/>
              <a:gdLst/>
              <a:ahLst/>
              <a:cxnLst/>
              <a:rect r="r" b="b" t="t" l="l"/>
              <a:pathLst>
                <a:path h="8346440" w="7102856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6937629" y="0"/>
                  </a:lnTo>
                  <a:cubicBezTo>
                    <a:pt x="7028815" y="0"/>
                    <a:pt x="7102856" y="73914"/>
                    <a:pt x="7102856" y="165227"/>
                  </a:cubicBezTo>
                  <a:lnTo>
                    <a:pt x="7102856" y="8181213"/>
                  </a:lnTo>
                  <a:cubicBezTo>
                    <a:pt x="7102856" y="8272399"/>
                    <a:pt x="7028942" y="8346440"/>
                    <a:pt x="6937629" y="8346440"/>
                  </a:cubicBezTo>
                  <a:lnTo>
                    <a:pt x="165227" y="8346440"/>
                  </a:lnTo>
                  <a:cubicBezTo>
                    <a:pt x="73914" y="8346440"/>
                    <a:pt x="0" y="8272526"/>
                    <a:pt x="0" y="818121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679692" y="3044952"/>
            <a:ext cx="960120" cy="960120"/>
            <a:chOff x="0" y="0"/>
            <a:chExt cx="1280160" cy="1280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E5F6F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679692" y="3044952"/>
            <a:ext cx="960120" cy="960120"/>
            <a:chOff x="0" y="0"/>
            <a:chExt cx="1280160" cy="12801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28016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⚙️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845552" y="3044952"/>
            <a:ext cx="3387852" cy="960120"/>
            <a:chOff x="0" y="0"/>
            <a:chExt cx="4517136" cy="12801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17136" cy="1280160"/>
            </a:xfrm>
            <a:custGeom>
              <a:avLst/>
              <a:gdLst/>
              <a:ahLst/>
              <a:cxnLst/>
              <a:rect r="r" b="b" t="t" l="l"/>
              <a:pathLst>
                <a:path h="1280160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54" r="0" b="-1875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517136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Backend / AI Engine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748272" y="4320540"/>
            <a:ext cx="4347972" cy="4114800"/>
            <a:chOff x="0" y="0"/>
            <a:chExt cx="5797296" cy="5486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797296" cy="5486400"/>
            </a:xfrm>
            <a:custGeom>
              <a:avLst/>
              <a:gdLst/>
              <a:ahLst/>
              <a:cxnLst/>
              <a:rect r="r" b="b" t="t" l="l"/>
              <a:pathLst>
                <a:path h="5486400" w="5797296">
                  <a:moveTo>
                    <a:pt x="0" y="0"/>
                  </a:moveTo>
                  <a:lnTo>
                    <a:pt x="5797296" y="0"/>
                  </a:lnTo>
                  <a:lnTo>
                    <a:pt x="5797296" y="5486400"/>
                  </a:lnTo>
                  <a:lnTo>
                    <a:pt x="0" y="5486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422" t="0" r="-71422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797296" cy="5524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3.11 + FastAPI</a:t>
              </a:r>
            </a:p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PyMuPDF (PDF extraction)</a:t>
              </a:r>
            </a:p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LangChain + Pinecone (RAG)</a:t>
              </a:r>
            </a:p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OpenRouter (model routing)</a:t>
              </a:r>
            </a:p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SSE (streaming responses)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841099" y="2596515"/>
            <a:ext cx="5327142" cy="6259830"/>
            <a:chOff x="0" y="0"/>
            <a:chExt cx="7102856" cy="8346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102856" cy="8346440"/>
            </a:xfrm>
            <a:custGeom>
              <a:avLst/>
              <a:gdLst/>
              <a:ahLst/>
              <a:cxnLst/>
              <a:rect r="r" b="b" t="t" l="l"/>
              <a:pathLst>
                <a:path h="8346440" w="7102856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6937629" y="0"/>
                  </a:lnTo>
                  <a:cubicBezTo>
                    <a:pt x="7028815" y="0"/>
                    <a:pt x="7102856" y="73914"/>
                    <a:pt x="7102856" y="165227"/>
                  </a:cubicBezTo>
                  <a:lnTo>
                    <a:pt x="7102856" y="8181213"/>
                  </a:lnTo>
                  <a:cubicBezTo>
                    <a:pt x="7102856" y="8272399"/>
                    <a:pt x="7028942" y="8346440"/>
                    <a:pt x="6937629" y="8346440"/>
                  </a:cubicBezTo>
                  <a:lnTo>
                    <a:pt x="165227" y="8346440"/>
                  </a:lnTo>
                  <a:cubicBezTo>
                    <a:pt x="73914" y="8346440"/>
                    <a:pt x="0" y="8272526"/>
                    <a:pt x="0" y="818121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262104" y="3044952"/>
            <a:ext cx="960120" cy="960120"/>
            <a:chOff x="0" y="0"/>
            <a:chExt cx="1280160" cy="12801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F1ECF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262104" y="3044952"/>
            <a:ext cx="960120" cy="960120"/>
            <a:chOff x="0" y="0"/>
            <a:chExt cx="1280160" cy="12801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128016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☁️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427964" y="3044952"/>
            <a:ext cx="3387852" cy="960120"/>
            <a:chOff x="0" y="0"/>
            <a:chExt cx="4517136" cy="12801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517136" cy="1280160"/>
            </a:xfrm>
            <a:custGeom>
              <a:avLst/>
              <a:gdLst/>
              <a:ahLst/>
              <a:cxnLst/>
              <a:rect r="r" b="b" t="t" l="l"/>
              <a:pathLst>
                <a:path h="1280160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54" r="0" b="-1875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4517136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Infrastructure &amp; DB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330684" y="4320540"/>
            <a:ext cx="4347972" cy="4114800"/>
            <a:chOff x="0" y="0"/>
            <a:chExt cx="5797296" cy="5486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797296" cy="5486400"/>
            </a:xfrm>
            <a:custGeom>
              <a:avLst/>
              <a:gdLst/>
              <a:ahLst/>
              <a:cxnLst/>
              <a:rect r="r" b="b" t="t" l="l"/>
              <a:pathLst>
                <a:path h="5486400" w="5797296">
                  <a:moveTo>
                    <a:pt x="0" y="0"/>
                  </a:moveTo>
                  <a:lnTo>
                    <a:pt x="5797296" y="0"/>
                  </a:lnTo>
                  <a:lnTo>
                    <a:pt x="5797296" y="5486400"/>
                  </a:lnTo>
                  <a:lnTo>
                    <a:pt x="0" y="5486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422" t="0" r="-71422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797296" cy="5524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Firebase Auth + Firestore</a:t>
              </a:r>
            </a:p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Firebase Storage (assets)</a:t>
              </a:r>
            </a:p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Pinecone (vector DB)</a:t>
              </a:r>
            </a:p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Vercel (frontend deploy)</a:t>
              </a:r>
            </a:p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 Actions (CI/CD)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504463" y="9710928"/>
            <a:ext cx="1371600" cy="411480"/>
            <a:chOff x="0" y="0"/>
            <a:chExt cx="182880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 / 20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85800" y="9710928"/>
            <a:ext cx="3017520" cy="411480"/>
            <a:chOff x="0" y="0"/>
            <a:chExt cx="402336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023360" cy="548640"/>
            </a:xfrm>
            <a:custGeom>
              <a:avLst/>
              <a:gdLst/>
              <a:ahLst/>
              <a:cxnLst/>
              <a:rect r="r" b="b" t="t" l="l"/>
              <a:pathLst>
                <a:path h="5486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40233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7C7D9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MELON AI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87552" y="0"/>
                  </a:lnTo>
                  <a:cubicBezTo>
                    <a:pt x="1068324" y="0"/>
                    <a:pt x="1133856" y="65532"/>
                    <a:pt x="1133856" y="146304"/>
                  </a:cubicBezTo>
                  <a:lnTo>
                    <a:pt x="1133856" y="475488"/>
                  </a:lnTo>
                  <a:cubicBezTo>
                    <a:pt x="1133856" y="556260"/>
                    <a:pt x="1068324" y="621792"/>
                    <a:pt x="987552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FF7A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360" t="0" r="-2036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73352" y="576072"/>
            <a:ext cx="8915400" cy="466344"/>
            <a:chOff x="0" y="0"/>
            <a:chExt cx="1188720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87200" cy="621792"/>
            </a:xfrm>
            <a:custGeom>
              <a:avLst/>
              <a:gdLst/>
              <a:ahLst/>
              <a:cxnLst/>
              <a:rect r="r" b="b" t="t" l="l"/>
              <a:pathLst>
                <a:path h="621792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508" r="0" b="-3225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18872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4B4B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INTEGRATION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1151001"/>
            <a:ext cx="1440180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6172B"/>
                </a:solidFill>
                <a:latin typeface="Arial Bold"/>
                <a:ea typeface="Arial Bold"/>
                <a:cs typeface="Arial Bold"/>
                <a:sym typeface="Arial Bold"/>
              </a:rPr>
              <a:t>5 AI Models – The Brain of Melon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76275" y="2527935"/>
            <a:ext cx="5327142" cy="2967990"/>
            <a:chOff x="0" y="0"/>
            <a:chExt cx="7102856" cy="3957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02856" cy="3957320"/>
            </a:xfrm>
            <a:custGeom>
              <a:avLst/>
              <a:gdLst/>
              <a:ahLst/>
              <a:cxnLst/>
              <a:rect r="r" b="b" t="t" l="l"/>
              <a:pathLst>
                <a:path h="3957320" w="710285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6937248" y="0"/>
                  </a:lnTo>
                  <a:cubicBezTo>
                    <a:pt x="7028688" y="0"/>
                    <a:pt x="7102856" y="74168"/>
                    <a:pt x="7102856" y="165608"/>
                  </a:cubicBezTo>
                  <a:lnTo>
                    <a:pt x="7102856" y="3791712"/>
                  </a:lnTo>
                  <a:cubicBezTo>
                    <a:pt x="7102856" y="3883152"/>
                    <a:pt x="7028688" y="3957320"/>
                    <a:pt x="6937248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87552" y="2811780"/>
            <a:ext cx="822960" cy="822960"/>
            <a:chOff x="0" y="0"/>
            <a:chExt cx="109728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E7FBE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87552" y="2811780"/>
            <a:ext cx="822960" cy="822960"/>
            <a:chOff x="0" y="0"/>
            <a:chExt cx="109728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🤖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88820" y="2811780"/>
            <a:ext cx="3662172" cy="438912"/>
            <a:chOff x="0" y="0"/>
            <a:chExt cx="4882896" cy="585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82896" cy="585216"/>
            </a:xfrm>
            <a:custGeom>
              <a:avLst/>
              <a:gdLst/>
              <a:ahLst/>
              <a:cxnLst/>
              <a:rect r="r" b="b" t="t" l="l"/>
              <a:pathLst>
                <a:path h="585216" w="4882896">
                  <a:moveTo>
                    <a:pt x="0" y="0"/>
                  </a:moveTo>
                  <a:lnTo>
                    <a:pt x="4882896" y="0"/>
                  </a:lnTo>
                  <a:lnTo>
                    <a:pt x="488289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578" r="0" b="-11257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4882896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GPT-4o-mini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988820" y="3250692"/>
            <a:ext cx="3662172" cy="411480"/>
            <a:chOff x="0" y="0"/>
            <a:chExt cx="4882896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82896" cy="548640"/>
            </a:xfrm>
            <a:custGeom>
              <a:avLst/>
              <a:gdLst/>
              <a:ahLst/>
              <a:cxnLst/>
              <a:rect r="r" b="b" t="t" l="l"/>
              <a:pathLst>
                <a:path h="548640" w="4882896">
                  <a:moveTo>
                    <a:pt x="0" y="0"/>
                  </a:moveTo>
                  <a:lnTo>
                    <a:pt x="4882896" y="0"/>
                  </a:lnTo>
                  <a:lnTo>
                    <a:pt x="488289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416" r="0" b="-12341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882896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7C7D9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AI Tutor Chatbot &amp; RAG Quiz Generator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3840480"/>
            <a:ext cx="4622292" cy="1508760"/>
            <a:chOff x="0" y="0"/>
            <a:chExt cx="6163056" cy="20116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163056" cy="2011680"/>
            </a:xfrm>
            <a:custGeom>
              <a:avLst/>
              <a:gdLst/>
              <a:ahLst/>
              <a:cxnLst/>
              <a:rect r="r" b="b" t="t" l="l"/>
              <a:pathLst>
                <a:path h="201168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95" r="0" b="-969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163056" cy="205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Gia sư ảo trả lời theo context bài học, sinh MCQA quiz chính xác &gt; 90%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258687" y="2527935"/>
            <a:ext cx="5327142" cy="2967990"/>
            <a:chOff x="0" y="0"/>
            <a:chExt cx="7102856" cy="39573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02856" cy="3957320"/>
            </a:xfrm>
            <a:custGeom>
              <a:avLst/>
              <a:gdLst/>
              <a:ahLst/>
              <a:cxnLst/>
              <a:rect r="r" b="b" t="t" l="l"/>
              <a:pathLst>
                <a:path h="3957320" w="710285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6937248" y="0"/>
                  </a:lnTo>
                  <a:cubicBezTo>
                    <a:pt x="7028688" y="0"/>
                    <a:pt x="7102856" y="74168"/>
                    <a:pt x="7102856" y="165608"/>
                  </a:cubicBezTo>
                  <a:lnTo>
                    <a:pt x="7102856" y="3791712"/>
                  </a:lnTo>
                  <a:cubicBezTo>
                    <a:pt x="7102856" y="3883152"/>
                    <a:pt x="7028688" y="3957320"/>
                    <a:pt x="6937248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6569964" y="2811780"/>
            <a:ext cx="822960" cy="822960"/>
            <a:chOff x="0" y="0"/>
            <a:chExt cx="109728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E5F6F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569964" y="2811780"/>
            <a:ext cx="822960" cy="822960"/>
            <a:chOff x="0" y="0"/>
            <a:chExt cx="109728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🤖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571232" y="2811780"/>
            <a:ext cx="3662172" cy="438912"/>
            <a:chOff x="0" y="0"/>
            <a:chExt cx="4882896" cy="5852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82896" cy="585216"/>
            </a:xfrm>
            <a:custGeom>
              <a:avLst/>
              <a:gdLst/>
              <a:ahLst/>
              <a:cxnLst/>
              <a:rect r="r" b="b" t="t" l="l"/>
              <a:pathLst>
                <a:path h="585216" w="4882896">
                  <a:moveTo>
                    <a:pt x="0" y="0"/>
                  </a:moveTo>
                  <a:lnTo>
                    <a:pt x="4882896" y="0"/>
                  </a:lnTo>
                  <a:lnTo>
                    <a:pt x="488289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578" r="0" b="-11257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4882896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Gemini 2.0 / 2.5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571232" y="3250692"/>
            <a:ext cx="3662172" cy="411480"/>
            <a:chOff x="0" y="0"/>
            <a:chExt cx="4882896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82896" cy="548640"/>
            </a:xfrm>
            <a:custGeom>
              <a:avLst/>
              <a:gdLst/>
              <a:ahLst/>
              <a:cxnLst/>
              <a:rect r="r" b="b" t="t" l="l"/>
              <a:pathLst>
                <a:path h="548640" w="4882896">
                  <a:moveTo>
                    <a:pt x="0" y="0"/>
                  </a:moveTo>
                  <a:lnTo>
                    <a:pt x="4882896" y="0"/>
                  </a:lnTo>
                  <a:lnTo>
                    <a:pt x="488289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416" r="0" b="-12341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882896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7C7D9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Multimodal Vision Problem Parser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611112" y="3840480"/>
            <a:ext cx="4622292" cy="1508760"/>
            <a:chOff x="0" y="0"/>
            <a:chExt cx="6163056" cy="20116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163056" cy="2011680"/>
            </a:xfrm>
            <a:custGeom>
              <a:avLst/>
              <a:gdLst/>
              <a:ahLst/>
              <a:cxnLst/>
              <a:rect r="r" b="b" t="t" l="l"/>
              <a:pathLst>
                <a:path h="201168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95" r="0" b="-969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6163056" cy="205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OCR ảnh bài Toán tiếng Việt, LaTeX — field extraction accuracy &gt; 85%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841099" y="2527935"/>
            <a:ext cx="5327142" cy="2967990"/>
            <a:chOff x="0" y="0"/>
            <a:chExt cx="7102856" cy="39573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102856" cy="3957320"/>
            </a:xfrm>
            <a:custGeom>
              <a:avLst/>
              <a:gdLst/>
              <a:ahLst/>
              <a:cxnLst/>
              <a:rect r="r" b="b" t="t" l="l"/>
              <a:pathLst>
                <a:path h="3957320" w="710285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6937248" y="0"/>
                  </a:lnTo>
                  <a:cubicBezTo>
                    <a:pt x="7028688" y="0"/>
                    <a:pt x="7102856" y="74168"/>
                    <a:pt x="7102856" y="165608"/>
                  </a:cubicBezTo>
                  <a:lnTo>
                    <a:pt x="7102856" y="3791712"/>
                  </a:lnTo>
                  <a:cubicBezTo>
                    <a:pt x="7102856" y="3883152"/>
                    <a:pt x="7028688" y="3957320"/>
                    <a:pt x="6937248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152376" y="2811780"/>
            <a:ext cx="822960" cy="822960"/>
            <a:chOff x="0" y="0"/>
            <a:chExt cx="109728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1ECF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152376" y="2811780"/>
            <a:ext cx="822960" cy="822960"/>
            <a:chOff x="0" y="0"/>
            <a:chExt cx="109728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🤖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153644" y="2811780"/>
            <a:ext cx="3662172" cy="438912"/>
            <a:chOff x="0" y="0"/>
            <a:chExt cx="4882896" cy="5852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82896" cy="585216"/>
            </a:xfrm>
            <a:custGeom>
              <a:avLst/>
              <a:gdLst/>
              <a:ahLst/>
              <a:cxnLst/>
              <a:rect r="r" b="b" t="t" l="l"/>
              <a:pathLst>
                <a:path h="585216" w="4882896">
                  <a:moveTo>
                    <a:pt x="0" y="0"/>
                  </a:moveTo>
                  <a:lnTo>
                    <a:pt x="4882896" y="0"/>
                  </a:lnTo>
                  <a:lnTo>
                    <a:pt x="488289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578" r="0" b="-11257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4882896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ElevenLabs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153644" y="3250692"/>
            <a:ext cx="3662172" cy="411480"/>
            <a:chOff x="0" y="0"/>
            <a:chExt cx="4882896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82896" cy="548640"/>
            </a:xfrm>
            <a:custGeom>
              <a:avLst/>
              <a:gdLst/>
              <a:ahLst/>
              <a:cxnLst/>
              <a:rect r="r" b="b" t="t" l="l"/>
              <a:pathLst>
                <a:path h="548640" w="4882896">
                  <a:moveTo>
                    <a:pt x="0" y="0"/>
                  </a:moveTo>
                  <a:lnTo>
                    <a:pt x="4882896" y="0"/>
                  </a:lnTo>
                  <a:lnTo>
                    <a:pt x="488289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416" r="0" b="-12341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882896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7C7D9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Text-to-Speech (TTS)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193524" y="3840480"/>
            <a:ext cx="4622292" cy="1508760"/>
            <a:chOff x="0" y="0"/>
            <a:chExt cx="6163056" cy="20116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163056" cy="2011680"/>
            </a:xfrm>
            <a:custGeom>
              <a:avLst/>
              <a:gdLst/>
              <a:ahLst/>
              <a:cxnLst/>
              <a:rect r="r" b="b" t="t" l="l"/>
              <a:pathLst>
                <a:path h="201168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95" r="0" b="-969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6163056" cy="205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Giọng đọc tự nhiên đa ngôn ngữ, caching SHA256 giảm chi phí 70%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76275" y="5751195"/>
            <a:ext cx="5327142" cy="2967990"/>
            <a:chOff x="0" y="0"/>
            <a:chExt cx="7102856" cy="39573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102856" cy="3957320"/>
            </a:xfrm>
            <a:custGeom>
              <a:avLst/>
              <a:gdLst/>
              <a:ahLst/>
              <a:cxnLst/>
              <a:rect r="r" b="b" t="t" l="l"/>
              <a:pathLst>
                <a:path h="3957320" w="710285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6937248" y="0"/>
                  </a:lnTo>
                  <a:cubicBezTo>
                    <a:pt x="7028688" y="0"/>
                    <a:pt x="7102856" y="74168"/>
                    <a:pt x="7102856" y="165608"/>
                  </a:cubicBezTo>
                  <a:lnTo>
                    <a:pt x="7102856" y="3791712"/>
                  </a:lnTo>
                  <a:cubicBezTo>
                    <a:pt x="7102856" y="3883152"/>
                    <a:pt x="7028688" y="3957320"/>
                    <a:pt x="6937248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987552" y="6035040"/>
            <a:ext cx="822960" cy="822960"/>
            <a:chOff x="0" y="0"/>
            <a:chExt cx="1097280" cy="10972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ECDC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87552" y="6035040"/>
            <a:ext cx="822960" cy="822960"/>
            <a:chOff x="0" y="0"/>
            <a:chExt cx="1097280" cy="10972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🤖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988820" y="6035040"/>
            <a:ext cx="3662172" cy="438912"/>
            <a:chOff x="0" y="0"/>
            <a:chExt cx="4882896" cy="58521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882896" cy="585216"/>
            </a:xfrm>
            <a:custGeom>
              <a:avLst/>
              <a:gdLst/>
              <a:ahLst/>
              <a:cxnLst/>
              <a:rect r="r" b="b" t="t" l="l"/>
              <a:pathLst>
                <a:path h="585216" w="4882896">
                  <a:moveTo>
                    <a:pt x="0" y="0"/>
                  </a:moveTo>
                  <a:lnTo>
                    <a:pt x="4882896" y="0"/>
                  </a:lnTo>
                  <a:lnTo>
                    <a:pt x="488289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578" r="0" b="-112578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4882896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Whisper-1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988820" y="6473952"/>
            <a:ext cx="3662172" cy="411480"/>
            <a:chOff x="0" y="0"/>
            <a:chExt cx="4882896" cy="548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882896" cy="548640"/>
            </a:xfrm>
            <a:custGeom>
              <a:avLst/>
              <a:gdLst/>
              <a:ahLst/>
              <a:cxnLst/>
              <a:rect r="r" b="b" t="t" l="l"/>
              <a:pathLst>
                <a:path h="548640" w="4882896">
                  <a:moveTo>
                    <a:pt x="0" y="0"/>
                  </a:moveTo>
                  <a:lnTo>
                    <a:pt x="4882896" y="0"/>
                  </a:lnTo>
                  <a:lnTo>
                    <a:pt x="488289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416" r="0" b="-12341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4882896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7C7D9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Speech-to-Text (STT)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28700" y="7063740"/>
            <a:ext cx="4622292" cy="1508760"/>
            <a:chOff x="0" y="0"/>
            <a:chExt cx="6163056" cy="20116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163056" cy="2011680"/>
            </a:xfrm>
            <a:custGeom>
              <a:avLst/>
              <a:gdLst/>
              <a:ahLst/>
              <a:cxnLst/>
              <a:rect r="r" b="b" t="t" l="l"/>
              <a:pathLst>
                <a:path h="201168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95" r="0" b="-969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6163056" cy="205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Nhận diện giọng nói trẻ em, hỗ trợ tiếng Việt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6258687" y="5751195"/>
            <a:ext cx="5327142" cy="2967990"/>
            <a:chOff x="0" y="0"/>
            <a:chExt cx="7102856" cy="39573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102856" cy="3957320"/>
            </a:xfrm>
            <a:custGeom>
              <a:avLst/>
              <a:gdLst/>
              <a:ahLst/>
              <a:cxnLst/>
              <a:rect r="r" b="b" t="t" l="l"/>
              <a:pathLst>
                <a:path h="3957320" w="710285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6937248" y="0"/>
                  </a:lnTo>
                  <a:cubicBezTo>
                    <a:pt x="7028688" y="0"/>
                    <a:pt x="7102856" y="74168"/>
                    <a:pt x="7102856" y="165608"/>
                  </a:cubicBezTo>
                  <a:lnTo>
                    <a:pt x="7102856" y="3791712"/>
                  </a:lnTo>
                  <a:cubicBezTo>
                    <a:pt x="7102856" y="3883152"/>
                    <a:pt x="7028688" y="3957320"/>
                    <a:pt x="6937248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6569964" y="6035040"/>
            <a:ext cx="822960" cy="822960"/>
            <a:chOff x="0" y="0"/>
            <a:chExt cx="1097280" cy="10972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F7D6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6569964" y="6035040"/>
            <a:ext cx="822960" cy="822960"/>
            <a:chOff x="0" y="0"/>
            <a:chExt cx="1097280" cy="109728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🤖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7571232" y="6035040"/>
            <a:ext cx="3662172" cy="438912"/>
            <a:chOff x="0" y="0"/>
            <a:chExt cx="4882896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882896" cy="585216"/>
            </a:xfrm>
            <a:custGeom>
              <a:avLst/>
              <a:gdLst/>
              <a:ahLst/>
              <a:cxnLst/>
              <a:rect r="r" b="b" t="t" l="l"/>
              <a:pathLst>
                <a:path h="585216" w="4882896">
                  <a:moveTo>
                    <a:pt x="0" y="0"/>
                  </a:moveTo>
                  <a:lnTo>
                    <a:pt x="4882896" y="0"/>
                  </a:lnTo>
                  <a:lnTo>
                    <a:pt x="488289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578" r="0" b="-112578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4882896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OpenAI Moderation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7571232" y="6473952"/>
            <a:ext cx="3662172" cy="411480"/>
            <a:chOff x="0" y="0"/>
            <a:chExt cx="4882896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882896" cy="548640"/>
            </a:xfrm>
            <a:custGeom>
              <a:avLst/>
              <a:gdLst/>
              <a:ahLst/>
              <a:cxnLst/>
              <a:rect r="r" b="b" t="t" l="l"/>
              <a:pathLst>
                <a:path h="548640" w="4882896">
                  <a:moveTo>
                    <a:pt x="0" y="0"/>
                  </a:moveTo>
                  <a:lnTo>
                    <a:pt x="4882896" y="0"/>
                  </a:lnTo>
                  <a:lnTo>
                    <a:pt x="488289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416" r="0" b="-12341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4882896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7C7D9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Content Safety Filter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611112" y="7063740"/>
            <a:ext cx="4622292" cy="1508760"/>
            <a:chOff x="0" y="0"/>
            <a:chExt cx="6163056" cy="20116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163056" cy="2011680"/>
            </a:xfrm>
            <a:custGeom>
              <a:avLst/>
              <a:gdLst/>
              <a:ahLst/>
              <a:cxnLst/>
              <a:rect r="r" b="b" t="t" l="l"/>
              <a:pathLst>
                <a:path h="201168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95" r="0" b="-969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6163056" cy="205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Lọc 100% output AI, child-safe enforcement layer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6504463" y="9710928"/>
            <a:ext cx="1371600" cy="411480"/>
            <a:chOff x="0" y="0"/>
            <a:chExt cx="1828800" cy="5486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 / 20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85800" y="9710928"/>
            <a:ext cx="3017520" cy="411480"/>
            <a:chOff x="0" y="0"/>
            <a:chExt cx="4023360" cy="5486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023360" cy="548640"/>
            </a:xfrm>
            <a:custGeom>
              <a:avLst/>
              <a:gdLst/>
              <a:ahLst/>
              <a:cxnLst/>
              <a:rect r="r" b="b" t="t" l="l"/>
              <a:pathLst>
                <a:path h="5486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40233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7C7D9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MELON AI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87552" y="0"/>
                  </a:lnTo>
                  <a:cubicBezTo>
                    <a:pt x="1068324" y="0"/>
                    <a:pt x="1133856" y="65532"/>
                    <a:pt x="1133856" y="146304"/>
                  </a:cubicBezTo>
                  <a:lnTo>
                    <a:pt x="1133856" y="475488"/>
                  </a:lnTo>
                  <a:cubicBezTo>
                    <a:pt x="1133856" y="556260"/>
                    <a:pt x="1068324" y="621792"/>
                    <a:pt x="987552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360" t="0" r="-2036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73352" y="576072"/>
            <a:ext cx="8915400" cy="466344"/>
            <a:chOff x="0" y="0"/>
            <a:chExt cx="1188720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87200" cy="621792"/>
            </a:xfrm>
            <a:custGeom>
              <a:avLst/>
              <a:gdLst/>
              <a:ahLst/>
              <a:cxnLst/>
              <a:rect r="r" b="b" t="t" l="l"/>
              <a:pathLst>
                <a:path h="621792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508" r="0" b="-3225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18872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4B4B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EVALUATION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1151001"/>
            <a:ext cx="1440180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6172B"/>
                </a:solidFill>
                <a:latin typeface="Arial Bold"/>
                <a:ea typeface="Arial Bold"/>
                <a:cs typeface="Arial Bold"/>
                <a:sym typeface="Arial Bold"/>
              </a:rPr>
              <a:t>Chiến lược Đánh giá Model AI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5800" y="2537460"/>
            <a:ext cx="16911828" cy="822960"/>
            <a:chOff x="0" y="0"/>
            <a:chExt cx="22549104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5491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4910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2384511" y="0"/>
                  </a:lnTo>
                  <a:cubicBezTo>
                    <a:pt x="22475444" y="0"/>
                    <a:pt x="22549104" y="73660"/>
                    <a:pt x="22549104" y="164592"/>
                  </a:cubicBezTo>
                  <a:lnTo>
                    <a:pt x="22549104" y="932688"/>
                  </a:lnTo>
                  <a:cubicBezTo>
                    <a:pt x="22549104" y="1023620"/>
                    <a:pt x="22475444" y="1097280"/>
                    <a:pt x="22384511" y="1097280"/>
                  </a:cubicBezTo>
                  <a:lnTo>
                    <a:pt x="164592" y="1097280"/>
                  </a:lnTo>
                  <a:cubicBezTo>
                    <a:pt x="73660" y="1097280"/>
                    <a:pt x="0" y="1023620"/>
                    <a:pt x="0" y="932688"/>
                  </a:cubicBezTo>
                  <a:close/>
                </a:path>
              </a:pathLst>
            </a:custGeom>
            <a:solidFill>
              <a:srgbClr val="FFF7D6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60120" y="2537460"/>
            <a:ext cx="16459200" cy="822960"/>
            <a:chOff x="0" y="0"/>
            <a:chExt cx="2194560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19456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⚙️  Không thể fine-tune → Cải thiện qua Prompt Engineering + Evaluation Loop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6275" y="3693795"/>
            <a:ext cx="5327142" cy="4888230"/>
            <a:chOff x="0" y="0"/>
            <a:chExt cx="7102856" cy="6517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02856" cy="6517640"/>
            </a:xfrm>
            <a:custGeom>
              <a:avLst/>
              <a:gdLst/>
              <a:ahLst/>
              <a:cxnLst/>
              <a:rect r="r" b="b" t="t" l="l"/>
              <a:pathLst>
                <a:path h="6517640" w="7102856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6937629" y="0"/>
                  </a:lnTo>
                  <a:cubicBezTo>
                    <a:pt x="7028942" y="0"/>
                    <a:pt x="7102856" y="73914"/>
                    <a:pt x="7102856" y="165227"/>
                  </a:cubicBezTo>
                  <a:lnTo>
                    <a:pt x="7102856" y="6352413"/>
                  </a:lnTo>
                  <a:cubicBezTo>
                    <a:pt x="7102856" y="6443726"/>
                    <a:pt x="7028942" y="6517640"/>
                    <a:pt x="6937629" y="6517640"/>
                  </a:cubicBezTo>
                  <a:lnTo>
                    <a:pt x="165227" y="6517640"/>
                  </a:lnTo>
                  <a:cubicBezTo>
                    <a:pt x="73914" y="6517640"/>
                    <a:pt x="0" y="6443726"/>
                    <a:pt x="0" y="635241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28700" y="4005072"/>
            <a:ext cx="822960" cy="685800"/>
            <a:chOff x="0" y="0"/>
            <a:chExt cx="109728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09728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1️⃣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920240" y="4046220"/>
            <a:ext cx="3799332" cy="685800"/>
            <a:chOff x="0" y="0"/>
            <a:chExt cx="5065776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65776" cy="914400"/>
            </a:xfrm>
            <a:custGeom>
              <a:avLst/>
              <a:gdLst/>
              <a:ahLst/>
              <a:cxnLst/>
              <a:rect r="r" b="b" t="t" l="l"/>
              <a:pathLst>
                <a:path h="914400" w="5065776">
                  <a:moveTo>
                    <a:pt x="0" y="0"/>
                  </a:moveTo>
                  <a:lnTo>
                    <a:pt x="5065776" y="0"/>
                  </a:lnTo>
                  <a:lnTo>
                    <a:pt x="506577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947" r="0" b="-5794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5065776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Rubric Classifier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69848" y="5006340"/>
            <a:ext cx="4539996" cy="3429000"/>
            <a:chOff x="0" y="0"/>
            <a:chExt cx="6053328" cy="4572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53328" cy="4572000"/>
            </a:xfrm>
            <a:custGeom>
              <a:avLst/>
              <a:gdLst/>
              <a:ahLst/>
              <a:cxnLst/>
              <a:rect r="r" b="b" t="t" l="l"/>
              <a:pathLst>
                <a:path h="4572000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906" t="0" r="-46906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6053328" cy="460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98609" indent="-149304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Task: Phân loại câu hỏi Toán theo Bloom's Taxonomy</a:t>
              </a:r>
            </a:p>
            <a:p>
              <a:pPr algn="l" marL="298609" indent="-149304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Dataset: 50 câu Toán VN lớp 4-5 (labeled thủ công)</a:t>
              </a:r>
            </a:p>
            <a:p>
              <a:pPr algn="l" marL="298609" indent="-149304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Threshold: Accuracy ≥ 75% | Macro F1 ≥ 0.70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258687" y="3693795"/>
            <a:ext cx="5327142" cy="4888230"/>
            <a:chOff x="0" y="0"/>
            <a:chExt cx="7102856" cy="6517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02856" cy="6517640"/>
            </a:xfrm>
            <a:custGeom>
              <a:avLst/>
              <a:gdLst/>
              <a:ahLst/>
              <a:cxnLst/>
              <a:rect r="r" b="b" t="t" l="l"/>
              <a:pathLst>
                <a:path h="6517640" w="7102856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6937629" y="0"/>
                  </a:lnTo>
                  <a:cubicBezTo>
                    <a:pt x="7028942" y="0"/>
                    <a:pt x="7102856" y="73914"/>
                    <a:pt x="7102856" y="165227"/>
                  </a:cubicBezTo>
                  <a:lnTo>
                    <a:pt x="7102856" y="6352413"/>
                  </a:lnTo>
                  <a:cubicBezTo>
                    <a:pt x="7102856" y="6443726"/>
                    <a:pt x="7028942" y="6517640"/>
                    <a:pt x="6937629" y="6517640"/>
                  </a:cubicBezTo>
                  <a:lnTo>
                    <a:pt x="165227" y="6517640"/>
                  </a:lnTo>
                  <a:cubicBezTo>
                    <a:pt x="73914" y="6517640"/>
                    <a:pt x="0" y="6443726"/>
                    <a:pt x="0" y="635241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6611112" y="4005072"/>
            <a:ext cx="822960" cy="685800"/>
            <a:chOff x="0" y="0"/>
            <a:chExt cx="109728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09728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2️⃣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502652" y="4046220"/>
            <a:ext cx="3799332" cy="685800"/>
            <a:chOff x="0" y="0"/>
            <a:chExt cx="5065776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65776" cy="914400"/>
            </a:xfrm>
            <a:custGeom>
              <a:avLst/>
              <a:gdLst/>
              <a:ahLst/>
              <a:cxnLst/>
              <a:rect r="r" b="b" t="t" l="l"/>
              <a:pathLst>
                <a:path h="914400" w="5065776">
                  <a:moveTo>
                    <a:pt x="0" y="0"/>
                  </a:moveTo>
                  <a:lnTo>
                    <a:pt x="5065776" y="0"/>
                  </a:lnTo>
                  <a:lnTo>
                    <a:pt x="506577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947" r="0" b="-5794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5065776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RAG Quiz Generator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652260" y="5006340"/>
            <a:ext cx="4539996" cy="3429000"/>
            <a:chOff x="0" y="0"/>
            <a:chExt cx="6053328" cy="4572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53328" cy="4572000"/>
            </a:xfrm>
            <a:custGeom>
              <a:avLst/>
              <a:gdLst/>
              <a:ahLst/>
              <a:cxnLst/>
              <a:rect r="r" b="b" t="t" l="l"/>
              <a:pathLst>
                <a:path h="4572000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906" t="0" r="-46906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6053328" cy="460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98609" indent="-149304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Task: Sinh MCQA từ 5 lesson PDF (10 câu/doc)</a:t>
              </a:r>
            </a:p>
            <a:p>
              <a:pPr algn="l" marL="298609" indent="-149304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Dataset: 50 câu hỏi, review thủ công theo SGK</a:t>
              </a:r>
            </a:p>
            <a:p>
              <a:pPr algn="l" marL="298609" indent="-149304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Threshold: Answer accuracy ≥ 90% | Distractor rate ≥ 80%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841099" y="3693795"/>
            <a:ext cx="5327142" cy="4888230"/>
            <a:chOff x="0" y="0"/>
            <a:chExt cx="7102856" cy="6517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02856" cy="6517640"/>
            </a:xfrm>
            <a:custGeom>
              <a:avLst/>
              <a:gdLst/>
              <a:ahLst/>
              <a:cxnLst/>
              <a:rect r="r" b="b" t="t" l="l"/>
              <a:pathLst>
                <a:path h="6517640" w="7102856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6937629" y="0"/>
                  </a:lnTo>
                  <a:cubicBezTo>
                    <a:pt x="7028942" y="0"/>
                    <a:pt x="7102856" y="73914"/>
                    <a:pt x="7102856" y="165227"/>
                  </a:cubicBezTo>
                  <a:lnTo>
                    <a:pt x="7102856" y="6352413"/>
                  </a:lnTo>
                  <a:cubicBezTo>
                    <a:pt x="7102856" y="6443726"/>
                    <a:pt x="7028942" y="6517640"/>
                    <a:pt x="6937629" y="6517640"/>
                  </a:cubicBezTo>
                  <a:lnTo>
                    <a:pt x="165227" y="6517640"/>
                  </a:lnTo>
                  <a:cubicBezTo>
                    <a:pt x="73914" y="6517640"/>
                    <a:pt x="0" y="6443726"/>
                    <a:pt x="0" y="635241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193524" y="4005072"/>
            <a:ext cx="822960" cy="685800"/>
            <a:chOff x="0" y="0"/>
            <a:chExt cx="109728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109728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3️⃣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085064" y="4046220"/>
            <a:ext cx="3799332" cy="685800"/>
            <a:chOff x="0" y="0"/>
            <a:chExt cx="5065776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065776" cy="914400"/>
            </a:xfrm>
            <a:custGeom>
              <a:avLst/>
              <a:gdLst/>
              <a:ahLst/>
              <a:cxnLst/>
              <a:rect r="r" b="b" t="t" l="l"/>
              <a:pathLst>
                <a:path h="914400" w="5065776">
                  <a:moveTo>
                    <a:pt x="0" y="0"/>
                  </a:moveTo>
                  <a:lnTo>
                    <a:pt x="5065776" y="0"/>
                  </a:lnTo>
                  <a:lnTo>
                    <a:pt x="506577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947" r="0" b="-5794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5065776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PDF Problem Parser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234672" y="5006340"/>
            <a:ext cx="4539996" cy="3429000"/>
            <a:chOff x="0" y="0"/>
            <a:chExt cx="6053328" cy="4572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053328" cy="4572000"/>
            </a:xfrm>
            <a:custGeom>
              <a:avLst/>
              <a:gdLst/>
              <a:ahLst/>
              <a:cxnLst/>
              <a:rect r="r" b="b" t="t" l="l"/>
              <a:pathLst>
                <a:path h="4572000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906" t="0" r="-46906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6053328" cy="460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98609" indent="-149304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Task: OCR 30 trang Toán VN (scan quality real-world)</a:t>
              </a:r>
            </a:p>
            <a:p>
              <a:pPr algn="l" marL="298609" indent="-149304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Baseline: Gemini 2.5 Pro ~94% DocVQA, 90% OCRBench</a:t>
              </a:r>
            </a:p>
            <a:p>
              <a:pPr algn="l" marL="298609" indent="-149304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Threshold: Field extraction ≥ 85% | Detection rate ≥ 90%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6504463" y="9710928"/>
            <a:ext cx="1371600" cy="411480"/>
            <a:chOff x="0" y="0"/>
            <a:chExt cx="182880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 / 20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85800" y="9710928"/>
            <a:ext cx="3017520" cy="411480"/>
            <a:chOff x="0" y="0"/>
            <a:chExt cx="402336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023360" cy="548640"/>
            </a:xfrm>
            <a:custGeom>
              <a:avLst/>
              <a:gdLst/>
              <a:ahLst/>
              <a:cxnLst/>
              <a:rect r="r" b="b" t="t" l="l"/>
              <a:pathLst>
                <a:path h="5486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40233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7C7D9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MELON AI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87552" y="0"/>
                  </a:lnTo>
                  <a:cubicBezTo>
                    <a:pt x="1068324" y="0"/>
                    <a:pt x="1133856" y="65532"/>
                    <a:pt x="1133856" y="146304"/>
                  </a:cubicBezTo>
                  <a:lnTo>
                    <a:pt x="1133856" y="475488"/>
                  </a:lnTo>
                  <a:cubicBezTo>
                    <a:pt x="1133856" y="556260"/>
                    <a:pt x="1068324" y="621792"/>
                    <a:pt x="987552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360" t="0" r="-2036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73352" y="576072"/>
            <a:ext cx="8915400" cy="466344"/>
            <a:chOff x="0" y="0"/>
            <a:chExt cx="1188720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87200" cy="621792"/>
            </a:xfrm>
            <a:custGeom>
              <a:avLst/>
              <a:gdLst/>
              <a:ahLst/>
              <a:cxnLst/>
              <a:rect r="r" b="b" t="t" l="l"/>
              <a:pathLst>
                <a:path h="621792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508" r="0" b="-3225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18872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4B4B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EVALUATION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1151001"/>
            <a:ext cx="1440180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6172B"/>
                </a:solidFill>
                <a:latin typeface="Arial Bold"/>
                <a:ea typeface="Arial Bold"/>
                <a:cs typeface="Arial Bold"/>
                <a:sym typeface="Arial Bold"/>
              </a:rPr>
              <a:t>Kết quả Thực nghiệm &amp; Số liệu</a:t>
            </a:r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685800" y="2537460"/>
          <a:ext cx="16878300" cy="5200650"/>
        </p:xfrm>
        <a:graphic>
          <a:graphicData uri="http://schemas.openxmlformats.org/drawingml/2006/table">
            <a:tbl>
              <a:tblPr/>
              <a:tblGrid>
                <a:gridCol w="4372001"/>
                <a:gridCol w="3421812"/>
                <a:gridCol w="3014588"/>
                <a:gridCol w="3014588"/>
                <a:gridCol w="3055311"/>
              </a:tblGrid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72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Metric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72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Result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72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Threshold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72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Pass?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72B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617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Rubric Classifier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4B4B6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1617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~78%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7C7D9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≥ 75%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22C55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✅ PASS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617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Rubric Classifier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4B4B6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Macro F1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1617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~0.73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7C7D9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≥ 0.70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22C55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✅ PASS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617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RAG Quiz Generator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4B4B6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Ans 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1617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~92%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7C7D9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≥ 90%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22C55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✅ PASS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617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RAG Quiz Generator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4B4B6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Distractor Rate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1617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~85%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7C7D9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≥ 80%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22C55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✅ PASS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617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PDF Parser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4B4B6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Field Extraction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1617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~88%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7C7D9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≥ 85%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22C55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✅ PASS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617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PDF Parser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4B4B6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Detection Rate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1617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~91%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7C7D9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≥ 90%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22C55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✅ PASS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7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D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685800" y="8709660"/>
            <a:ext cx="16911828" cy="891540"/>
            <a:chOff x="0" y="0"/>
            <a:chExt cx="22549104" cy="1188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549104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54910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2384511" y="0"/>
                  </a:lnTo>
                  <a:cubicBezTo>
                    <a:pt x="22475444" y="0"/>
                    <a:pt x="22549104" y="73660"/>
                    <a:pt x="22549104" y="164592"/>
                  </a:cubicBezTo>
                  <a:lnTo>
                    <a:pt x="22549104" y="1024128"/>
                  </a:lnTo>
                  <a:cubicBezTo>
                    <a:pt x="22549104" y="1115060"/>
                    <a:pt x="22475444" y="1188720"/>
                    <a:pt x="22384511" y="1188720"/>
                  </a:cubicBezTo>
                  <a:lnTo>
                    <a:pt x="164592" y="1188720"/>
                  </a:lnTo>
                  <a:cubicBezTo>
                    <a:pt x="73660" y="1188720"/>
                    <a:pt x="0" y="1115060"/>
                    <a:pt x="0" y="1024128"/>
                  </a:cubicBezTo>
                  <a:close/>
                </a:path>
              </a:pathLst>
            </a:custGeom>
            <a:solidFill>
              <a:srgbClr val="E7FBE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8709660"/>
            <a:ext cx="16322040" cy="891540"/>
            <a:chOff x="0" y="0"/>
            <a:chExt cx="21762720" cy="1188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62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6726" r="0" b="-30672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76272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🔬  Key Finding: Prompt Engineering + Context grounding là yếu tố quyết định độ chính xác AI — không cần fine-tune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87552" y="0"/>
                  </a:lnTo>
                  <a:cubicBezTo>
                    <a:pt x="1068324" y="0"/>
                    <a:pt x="1133856" y="65532"/>
                    <a:pt x="1133856" y="146304"/>
                  </a:cubicBezTo>
                  <a:lnTo>
                    <a:pt x="1133856" y="475488"/>
                  </a:lnTo>
                  <a:cubicBezTo>
                    <a:pt x="1133856" y="556260"/>
                    <a:pt x="1068324" y="621792"/>
                    <a:pt x="987552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360" t="0" r="-2036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73352" y="576072"/>
            <a:ext cx="8915400" cy="466344"/>
            <a:chOff x="0" y="0"/>
            <a:chExt cx="1188720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87200" cy="621792"/>
            </a:xfrm>
            <a:custGeom>
              <a:avLst/>
              <a:gdLst/>
              <a:ahLst/>
              <a:cxnLst/>
              <a:rect r="r" b="b" t="t" l="l"/>
              <a:pathLst>
                <a:path h="621792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508" r="0" b="-3225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18872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4B4B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EVALUATION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1151001"/>
            <a:ext cx="1440180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6172B"/>
                </a:solidFill>
                <a:latin typeface="Arial Bold"/>
                <a:ea typeface="Arial Bold"/>
                <a:cs typeface="Arial Bold"/>
                <a:sym typeface="Arial Bold"/>
              </a:rPr>
              <a:t>Hiệu năng &amp; Bộ lọc An toàn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5800" y="2468880"/>
            <a:ext cx="8229600" cy="480060"/>
            <a:chOff x="0" y="0"/>
            <a:chExt cx="1097280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9728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⚡  Latency Optimization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3017520"/>
            <a:ext cx="4114800" cy="2400300"/>
            <a:chOff x="0" y="0"/>
            <a:chExt cx="5486400" cy="3200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54864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5321808" y="0"/>
                  </a:lnTo>
                  <a:cubicBezTo>
                    <a:pt x="5412740" y="0"/>
                    <a:pt x="5486400" y="73660"/>
                    <a:pt x="5486400" y="164592"/>
                  </a:cubicBezTo>
                  <a:lnTo>
                    <a:pt x="5486400" y="3035808"/>
                  </a:lnTo>
                  <a:cubicBezTo>
                    <a:pt x="5486400" y="3126740"/>
                    <a:pt x="5412740" y="3200400"/>
                    <a:pt x="5321808" y="3200400"/>
                  </a:cubicBezTo>
                  <a:lnTo>
                    <a:pt x="164592" y="3200400"/>
                  </a:lnTo>
                  <a:cubicBezTo>
                    <a:pt x="73660" y="3200400"/>
                    <a:pt x="0" y="3126740"/>
                    <a:pt x="0" y="3035808"/>
                  </a:cubicBezTo>
                  <a:close/>
                </a:path>
              </a:pathLst>
            </a:custGeom>
            <a:solidFill>
              <a:srgbClr val="FFECD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60120" y="3223260"/>
            <a:ext cx="3566160" cy="411480"/>
            <a:chOff x="0" y="0"/>
            <a:chExt cx="475488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47548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F7A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❌ Before (Naive)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60120" y="3675888"/>
            <a:ext cx="3566160" cy="685800"/>
            <a:chOff x="0" y="0"/>
            <a:chExt cx="475488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754880" cy="914400"/>
            </a:xfrm>
            <a:custGeom>
              <a:avLst/>
              <a:gdLst/>
              <a:ahLst/>
              <a:cxnLst/>
              <a:rect r="r" b="b" t="t" l="l"/>
              <a:pathLst>
                <a:path h="9144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7548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RAG → LLM → TTS → Response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0120" y="4457700"/>
            <a:ext cx="3566160" cy="754380"/>
            <a:chOff x="0" y="0"/>
            <a:chExt cx="4754880" cy="1005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754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475488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7A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~8-12 giây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869180" y="3977640"/>
            <a:ext cx="685800" cy="822960"/>
            <a:chOff x="0" y="0"/>
            <a:chExt cx="91440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9144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623560" y="3017520"/>
            <a:ext cx="4114800" cy="2400300"/>
            <a:chOff x="0" y="0"/>
            <a:chExt cx="5486400" cy="3200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864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54864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5321808" y="0"/>
                  </a:lnTo>
                  <a:cubicBezTo>
                    <a:pt x="5412740" y="0"/>
                    <a:pt x="5486400" y="73660"/>
                    <a:pt x="5486400" y="164592"/>
                  </a:cubicBezTo>
                  <a:lnTo>
                    <a:pt x="5486400" y="3035808"/>
                  </a:lnTo>
                  <a:cubicBezTo>
                    <a:pt x="5486400" y="3126740"/>
                    <a:pt x="5412740" y="3200400"/>
                    <a:pt x="5321808" y="3200400"/>
                  </a:cubicBezTo>
                  <a:lnTo>
                    <a:pt x="164592" y="3200400"/>
                  </a:lnTo>
                  <a:cubicBezTo>
                    <a:pt x="73660" y="3200400"/>
                    <a:pt x="0" y="3126740"/>
                    <a:pt x="0" y="3035808"/>
                  </a:cubicBezTo>
                  <a:close/>
                </a:path>
              </a:pathLst>
            </a:custGeom>
            <a:solidFill>
              <a:srgbClr val="E7FBE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897880" y="3223260"/>
            <a:ext cx="3566160" cy="411480"/>
            <a:chOff x="0" y="0"/>
            <a:chExt cx="475488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47548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22C55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✅ After (SSE Stream)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897880" y="3675888"/>
            <a:ext cx="3566160" cy="685800"/>
            <a:chOff x="0" y="0"/>
            <a:chExt cx="475488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754880" cy="914400"/>
            </a:xfrm>
            <a:custGeom>
              <a:avLst/>
              <a:gdLst/>
              <a:ahLst/>
              <a:cxnLst/>
              <a:rect r="r" b="b" t="t" l="l"/>
              <a:pathLst>
                <a:path h="9144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7548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SSE text stream ngay, TTS chạy ngầm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897880" y="4457700"/>
            <a:ext cx="3566160" cy="754380"/>
            <a:chOff x="0" y="0"/>
            <a:chExt cx="4754880" cy="10058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754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475488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22C55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&lt; 2 giây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483215" y="3007995"/>
            <a:ext cx="7123938" cy="2419350"/>
            <a:chOff x="0" y="0"/>
            <a:chExt cx="9498584" cy="3225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498584" cy="3225800"/>
            </a:xfrm>
            <a:custGeom>
              <a:avLst/>
              <a:gdLst/>
              <a:ahLst/>
              <a:cxnLst/>
              <a:rect r="r" b="b" t="t" l="l"/>
              <a:pathLst>
                <a:path h="3225800" w="9498584">
                  <a:moveTo>
                    <a:pt x="0" y="165862"/>
                  </a:moveTo>
                  <a:cubicBezTo>
                    <a:pt x="0" y="74295"/>
                    <a:pt x="74295" y="0"/>
                    <a:pt x="165862" y="0"/>
                  </a:cubicBezTo>
                  <a:lnTo>
                    <a:pt x="9332722" y="0"/>
                  </a:lnTo>
                  <a:cubicBezTo>
                    <a:pt x="9424289" y="0"/>
                    <a:pt x="9498584" y="74295"/>
                    <a:pt x="9498584" y="165862"/>
                  </a:cubicBezTo>
                  <a:lnTo>
                    <a:pt x="9498584" y="3059938"/>
                  </a:lnTo>
                  <a:cubicBezTo>
                    <a:pt x="9498584" y="3151505"/>
                    <a:pt x="9424289" y="3225800"/>
                    <a:pt x="9332722" y="3225800"/>
                  </a:cubicBezTo>
                  <a:lnTo>
                    <a:pt x="165862" y="3225800"/>
                  </a:lnTo>
                  <a:cubicBezTo>
                    <a:pt x="74295" y="3225800"/>
                    <a:pt x="0" y="3151505"/>
                    <a:pt x="0" y="30599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0835640" y="3223260"/>
            <a:ext cx="6446520" cy="411480"/>
            <a:chOff x="0" y="0"/>
            <a:chExt cx="859536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595360" cy="548640"/>
            </a:xfrm>
            <a:custGeom>
              <a:avLst/>
              <a:gdLst/>
              <a:ahLst/>
              <a:cxnLst/>
              <a:rect r="r" b="b" t="t" l="l"/>
              <a:pathLst>
                <a:path h="54864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5265" r="0" b="-25526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85953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Perceived Latency Reduction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835640" y="3634740"/>
            <a:ext cx="6446520" cy="1508760"/>
            <a:chOff x="0" y="0"/>
            <a:chExt cx="8595360" cy="20116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5953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254" r="0" b="-3325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859536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38BDF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−83%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85800" y="5829300"/>
            <a:ext cx="8229600" cy="480060"/>
            <a:chOff x="0" y="0"/>
            <a:chExt cx="10972800" cy="640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109728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🛡️  Safety Moderation Tests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76275" y="6368415"/>
            <a:ext cx="3996690" cy="2282190"/>
            <a:chOff x="0" y="0"/>
            <a:chExt cx="5328920" cy="30429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28920" cy="3042920"/>
            </a:xfrm>
            <a:custGeom>
              <a:avLst/>
              <a:gdLst/>
              <a:ahLst/>
              <a:cxnLst/>
              <a:rect r="r" b="b" t="t" l="l"/>
              <a:pathLst>
                <a:path h="3042920" w="5328920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5162931" y="0"/>
                  </a:lnTo>
                  <a:cubicBezTo>
                    <a:pt x="5254625" y="0"/>
                    <a:pt x="5328920" y="74295"/>
                    <a:pt x="5328920" y="165989"/>
                  </a:cubicBezTo>
                  <a:lnTo>
                    <a:pt x="5328920" y="2876931"/>
                  </a:lnTo>
                  <a:cubicBezTo>
                    <a:pt x="5328920" y="2968625"/>
                    <a:pt x="5254625" y="3042920"/>
                    <a:pt x="5162931" y="3042920"/>
                  </a:cubicBezTo>
                  <a:lnTo>
                    <a:pt x="165989" y="3042920"/>
                  </a:lnTo>
                  <a:cubicBezTo>
                    <a:pt x="74295" y="3042920"/>
                    <a:pt x="0" y="2968625"/>
                    <a:pt x="0" y="28769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60120" y="6624828"/>
            <a:ext cx="3429000" cy="411480"/>
            <a:chOff x="0" y="0"/>
            <a:chExt cx="45720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4572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Normal content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60120" y="7036308"/>
            <a:ext cx="3429000" cy="411480"/>
            <a:chOff x="0" y="0"/>
            <a:chExt cx="457200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572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 samples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60120" y="7543800"/>
            <a:ext cx="3429000" cy="822960"/>
            <a:chOff x="0" y="0"/>
            <a:chExt cx="4572000" cy="10972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572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45720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22C55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Pass 100%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4900803" y="6368415"/>
            <a:ext cx="3996690" cy="2282190"/>
            <a:chOff x="0" y="0"/>
            <a:chExt cx="5328920" cy="30429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328920" cy="3042920"/>
            </a:xfrm>
            <a:custGeom>
              <a:avLst/>
              <a:gdLst/>
              <a:ahLst/>
              <a:cxnLst/>
              <a:rect r="r" b="b" t="t" l="l"/>
              <a:pathLst>
                <a:path h="3042920" w="5328920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5162931" y="0"/>
                  </a:lnTo>
                  <a:cubicBezTo>
                    <a:pt x="5254625" y="0"/>
                    <a:pt x="5328920" y="74295"/>
                    <a:pt x="5328920" y="165989"/>
                  </a:cubicBezTo>
                  <a:lnTo>
                    <a:pt x="5328920" y="2876931"/>
                  </a:lnTo>
                  <a:cubicBezTo>
                    <a:pt x="5328920" y="2968625"/>
                    <a:pt x="5254625" y="3042920"/>
                    <a:pt x="5162931" y="3042920"/>
                  </a:cubicBezTo>
                  <a:lnTo>
                    <a:pt x="165989" y="3042920"/>
                  </a:lnTo>
                  <a:cubicBezTo>
                    <a:pt x="74295" y="3042920"/>
                    <a:pt x="0" y="2968625"/>
                    <a:pt x="0" y="28769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5184648" y="6624828"/>
            <a:ext cx="3429000" cy="411480"/>
            <a:chOff x="0" y="0"/>
            <a:chExt cx="4572000" cy="5486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4572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Jailbreak prompts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5184648" y="7036308"/>
            <a:ext cx="3429000" cy="411480"/>
            <a:chOff x="0" y="0"/>
            <a:chExt cx="4572000" cy="548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4572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 samples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5184648" y="7543800"/>
            <a:ext cx="3429000" cy="822960"/>
            <a:chOff x="0" y="0"/>
            <a:chExt cx="4572000" cy="10972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572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45720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A78B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Blocked 100%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125331" y="6368415"/>
            <a:ext cx="3996690" cy="2282190"/>
            <a:chOff x="0" y="0"/>
            <a:chExt cx="5328920" cy="30429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328920" cy="3042920"/>
            </a:xfrm>
            <a:custGeom>
              <a:avLst/>
              <a:gdLst/>
              <a:ahLst/>
              <a:cxnLst/>
              <a:rect r="r" b="b" t="t" l="l"/>
              <a:pathLst>
                <a:path h="3042920" w="5328920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5162931" y="0"/>
                  </a:lnTo>
                  <a:cubicBezTo>
                    <a:pt x="5254625" y="0"/>
                    <a:pt x="5328920" y="74295"/>
                    <a:pt x="5328920" y="165989"/>
                  </a:cubicBezTo>
                  <a:lnTo>
                    <a:pt x="5328920" y="2876931"/>
                  </a:lnTo>
                  <a:cubicBezTo>
                    <a:pt x="5328920" y="2968625"/>
                    <a:pt x="5254625" y="3042920"/>
                    <a:pt x="5162931" y="3042920"/>
                  </a:cubicBezTo>
                  <a:lnTo>
                    <a:pt x="165989" y="3042920"/>
                  </a:lnTo>
                  <a:cubicBezTo>
                    <a:pt x="74295" y="3042920"/>
                    <a:pt x="0" y="2968625"/>
                    <a:pt x="0" y="28769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9409176" y="6624828"/>
            <a:ext cx="3429000" cy="411480"/>
            <a:chOff x="0" y="0"/>
            <a:chExt cx="457200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4572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Offensive words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409176" y="7036308"/>
            <a:ext cx="3429000" cy="411480"/>
            <a:chOff x="0" y="0"/>
            <a:chExt cx="4572000" cy="5486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572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 samples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409176" y="7543800"/>
            <a:ext cx="3429000" cy="822960"/>
            <a:chOff x="0" y="0"/>
            <a:chExt cx="4572000" cy="10972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572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45720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7A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Filtered 100%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349859" y="6368415"/>
            <a:ext cx="3996690" cy="2282190"/>
            <a:chOff x="0" y="0"/>
            <a:chExt cx="5328920" cy="30429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328920" cy="3042920"/>
            </a:xfrm>
            <a:custGeom>
              <a:avLst/>
              <a:gdLst/>
              <a:ahLst/>
              <a:cxnLst/>
              <a:rect r="r" b="b" t="t" l="l"/>
              <a:pathLst>
                <a:path h="3042920" w="5328920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5162931" y="0"/>
                  </a:lnTo>
                  <a:cubicBezTo>
                    <a:pt x="5254625" y="0"/>
                    <a:pt x="5328920" y="74295"/>
                    <a:pt x="5328920" y="165989"/>
                  </a:cubicBezTo>
                  <a:lnTo>
                    <a:pt x="5328920" y="2876931"/>
                  </a:lnTo>
                  <a:cubicBezTo>
                    <a:pt x="5328920" y="2968625"/>
                    <a:pt x="5254625" y="3042920"/>
                    <a:pt x="5162931" y="3042920"/>
                  </a:cubicBezTo>
                  <a:lnTo>
                    <a:pt x="165989" y="3042920"/>
                  </a:lnTo>
                  <a:cubicBezTo>
                    <a:pt x="74295" y="3042920"/>
                    <a:pt x="0" y="2968625"/>
                    <a:pt x="0" y="28769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3633704" y="6624828"/>
            <a:ext cx="3429000" cy="411480"/>
            <a:chOff x="0" y="0"/>
            <a:chExt cx="457200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4572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617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Harmful imagery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633704" y="7036308"/>
            <a:ext cx="3429000" cy="411480"/>
            <a:chOff x="0" y="0"/>
            <a:chExt cx="4572000" cy="5486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4572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samples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3633704" y="7543800"/>
            <a:ext cx="3429000" cy="822960"/>
            <a:chOff x="0" y="0"/>
            <a:chExt cx="4572000" cy="10972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572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45720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38BDF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Rejected 100%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6504463" y="9710928"/>
            <a:ext cx="1371600" cy="411480"/>
            <a:chOff x="0" y="0"/>
            <a:chExt cx="1828800" cy="5486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 / 20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685800" y="9710928"/>
            <a:ext cx="3017520" cy="411480"/>
            <a:chOff x="0" y="0"/>
            <a:chExt cx="4023360" cy="548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023360" cy="548640"/>
            </a:xfrm>
            <a:custGeom>
              <a:avLst/>
              <a:gdLst/>
              <a:ahLst/>
              <a:cxnLst/>
              <a:rect r="r" b="b" t="t" l="l"/>
              <a:pathLst>
                <a:path h="5486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40233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7C7D9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MELON AI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560320" cy="320040"/>
          </a:xfrm>
          <a:prstGeom prst="rect">
            <a:avLst/>
          </a:prstGeom>
          <a:solidFill>
            <a:srgbClr val="38BDF8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</a:rPr>
              <a:t>05  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Chiến lược Kiểm thử Phần mềm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303520" cy="4663440"/>
          </a:xfrm>
          <a:prstGeom prst="rect">
            <a:avLst/>
          </a:prstGeom>
          <a:solidFill>
            <a:srgbClr val="1C1C30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  <a:latin typeface="Calibri"/>
              </a:rPr>
              <a:t>🧪  Phương pháp Kiểm thử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23160"/>
            <a:ext cx="73152" cy="7772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4144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Manual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Tester thực hiện thủ công trên
Chrome – localhost:3000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83280"/>
            <a:ext cx="73152" cy="7772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015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  <a:latin typeface="Calibri"/>
              </a:rPr>
              <a:t>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947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Katalon Studio ghi &amp; replay
4 kịch bản tự động hóa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343400"/>
            <a:ext cx="73152" cy="77724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3616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  <a:latin typeface="Calibri"/>
              </a:rPr>
              <a:t>API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Postman test trực tiếp
REST endpoints Backend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03520"/>
            <a:ext cx="73152" cy="7772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32180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A00"/>
                </a:solidFill>
                <a:latin typeface="Calibri"/>
              </a:rPr>
              <a:t>Security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Thử nghiệm bypass Auth,
IDOR, privilege escalation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737360"/>
            <a:ext cx="5669280" cy="4663440"/>
          </a:xfrm>
          <a:prstGeom prst="rect">
            <a:avLst/>
          </a:prstGeom>
          <a:solidFill>
            <a:srgbClr val="1C1C30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8288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  <a:latin typeface="Calibri"/>
              </a:rPr>
              <a:t>📋  Phạm vi Kiểm thử (5 Use-Cases)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423160"/>
            <a:ext cx="5303520" cy="640080"/>
          </a:xfrm>
          <a:prstGeom prst="rect">
            <a:avLst/>
          </a:prstGeom>
          <a:solidFill>
            <a:srgbClr val="0E0E1A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5146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UC1 – Authentication &amp;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2514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4ADE80"/>
                </a:solidFill>
                <a:latin typeface="Calibri"/>
              </a:rPr>
              <a:t>9 test cases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200400"/>
            <a:ext cx="5303520" cy="640080"/>
          </a:xfrm>
          <a:prstGeom prst="rect">
            <a:avLst/>
          </a:prstGeom>
          <a:solidFill>
            <a:srgbClr val="0E0E1A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2918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UC2 – Features &amp; Payments (Stripe)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3291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D600"/>
                </a:solidFill>
                <a:latin typeface="Calibri"/>
              </a:rPr>
              <a:t>6 test cases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977640"/>
            <a:ext cx="5303520" cy="640080"/>
          </a:xfrm>
          <a:prstGeom prst="rect">
            <a:avLst/>
          </a:prstGeom>
          <a:solidFill>
            <a:srgbClr val="0E0E1A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069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UC3 – Knowledge Base &amp; PDF Parsing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40690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7A00"/>
                </a:solidFill>
                <a:latin typeface="Calibri"/>
              </a:rPr>
              <a:t>5 test cases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754880"/>
            <a:ext cx="5303520" cy="640080"/>
          </a:xfrm>
          <a:prstGeom prst="rect">
            <a:avLst/>
          </a:prstGeom>
          <a:solidFill>
            <a:srgbClr val="0E0E1A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8463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UC4 – Practice &amp; AI Personalization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4846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A78BFA"/>
                </a:solidFill>
                <a:latin typeface="Calibri"/>
              </a:rPr>
              <a:t>9 test cases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532120"/>
            <a:ext cx="5303520" cy="640080"/>
          </a:xfrm>
          <a:prstGeom prst="rect">
            <a:avLst/>
          </a:prstGeom>
          <a:solidFill>
            <a:srgbClr val="0E0E1A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6235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UC5 – Gamification &amp; Admin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56235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38BDF8"/>
                </a:solidFill>
                <a:latin typeface="Calibri"/>
              </a:rPr>
              <a:t>19 test cases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solidFill>
            <a:srgbClr val="1C1C30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Tester: Lâm Hoàng Vũ  ·  Môi trường: Localhost (Next.js + FastAPI)  ·  Ngày: 21/06/2026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560320" cy="320040"/>
          </a:xfrm>
          <a:prstGeom prst="rect">
            <a:avLst/>
          </a:prstGeom>
          <a:solidFill>
            <a:srgbClr val="38BDF8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</a:rPr>
              <a:t>05  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Kết quả Kiểm thử – Số liệu Tổng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103120" cy="1828800"/>
          </a:xfrm>
          <a:prstGeom prst="rect">
            <a:avLst/>
          </a:prstGeom>
          <a:solidFill>
            <a:srgbClr val="1C1C30"/>
          </a:solidFill>
          <a:ln w="317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8BDF8"/>
                </a:solidFill>
                <a:latin typeface="Calibri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Total
Test Cases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737360"/>
            <a:ext cx="2103120" cy="1828800"/>
          </a:xfrm>
          <a:prstGeom prst="rect">
            <a:avLst/>
          </a:prstGeom>
          <a:solidFill>
            <a:srgbClr val="1C1C30"/>
          </a:solidFill>
          <a:ln w="317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9202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4ADE80"/>
                </a:solidFill>
                <a:latin typeface="Calibri"/>
              </a:rPr>
              <a:t>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926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Passed 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737360"/>
            <a:ext cx="2103120" cy="1828800"/>
          </a:xfrm>
          <a:prstGeom prst="rect">
            <a:avLst/>
          </a:prstGeom>
          <a:solidFill>
            <a:srgbClr val="1C1C30"/>
          </a:solidFill>
          <a:ln w="31750">
            <a:solidFill>
              <a:srgbClr val="FF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9202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4545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926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Failed 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1737360"/>
            <a:ext cx="2103120" cy="1828800"/>
          </a:xfrm>
          <a:prstGeom prst="rect">
            <a:avLst/>
          </a:prstGeom>
          <a:solidFill>
            <a:srgbClr val="1C1C30"/>
          </a:solidFill>
          <a:ln w="317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9202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926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Skipped
(Not Impl.)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0" y="1737360"/>
            <a:ext cx="2103120" cy="1828800"/>
          </a:xfrm>
          <a:prstGeom prst="rect">
            <a:avLst/>
          </a:prstGeom>
          <a:solidFill>
            <a:srgbClr val="1C1C30"/>
          </a:solidFill>
          <a:ln w="317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9202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D600"/>
                </a:solidFill>
                <a:latin typeface="Calibri"/>
              </a:rPr>
              <a:t>56%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926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Pass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49039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Breakdown theo Use-Case: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4069080" cy="365760"/>
          </a:xfrm>
          <a:prstGeom prst="rect">
            <a:avLst/>
          </a:prstGeom>
          <a:solidFill>
            <a:srgbClr val="38BDF8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06240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Use-Case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206240"/>
            <a:ext cx="1051560" cy="365760"/>
          </a:xfrm>
          <a:prstGeom prst="rect">
            <a:avLst/>
          </a:prstGeom>
          <a:solidFill>
            <a:srgbClr val="38BDF8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20624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Total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4206240"/>
            <a:ext cx="1234439" cy="365760"/>
          </a:xfrm>
          <a:prstGeom prst="rect">
            <a:avLst/>
          </a:prstGeom>
          <a:solidFill>
            <a:srgbClr val="38BDF8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4206240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✅ 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4206240"/>
            <a:ext cx="1234439" cy="365760"/>
          </a:xfrm>
          <a:prstGeom prst="rect">
            <a:avLst/>
          </a:prstGeom>
          <a:solidFill>
            <a:srgbClr val="38BDF8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4206240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❌ Fail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206240"/>
            <a:ext cx="1234439" cy="365760"/>
          </a:xfrm>
          <a:prstGeom prst="rect">
            <a:avLst/>
          </a:prstGeom>
          <a:solidFill>
            <a:srgbClr val="38BDF8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4206240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alibri"/>
              </a:rPr>
              <a:t>⏭️ Skip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626864"/>
            <a:ext cx="4069080" cy="347472"/>
          </a:xfrm>
          <a:prstGeom prst="rect">
            <a:avLst/>
          </a:prstGeom>
          <a:solidFill>
            <a:srgbClr val="0E0E1A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626864"/>
            <a:ext cx="4069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UC1 – Authentication &amp; Security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4626864"/>
            <a:ext cx="1051560" cy="347472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4626864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4626864"/>
            <a:ext cx="1234439" cy="347472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0" y="4626864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0" y="4626864"/>
            <a:ext cx="1234439" cy="347472"/>
          </a:xfrm>
          <a:prstGeom prst="rect">
            <a:avLst/>
          </a:prstGeom>
          <a:solidFill>
            <a:srgbClr val="2B0808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0" y="4626864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4545"/>
                </a:solidFill>
                <a:latin typeface="Calibri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4626864"/>
            <a:ext cx="1234439" cy="347472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4626864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010912"/>
            <a:ext cx="4069080" cy="347472"/>
          </a:xfrm>
          <a:prstGeom prst="rect">
            <a:avLst/>
          </a:prstGeom>
          <a:solidFill>
            <a:srgbClr val="0E0E1A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010912"/>
            <a:ext cx="4069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  <a:latin typeface="Calibri"/>
              </a:rPr>
              <a:t>UC2 – Features &amp; Payments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5010912"/>
            <a:ext cx="1051560" cy="347472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501091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5010912"/>
            <a:ext cx="1234439" cy="347472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0" y="5010912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0" y="5010912"/>
            <a:ext cx="1234439" cy="347472"/>
          </a:xfrm>
          <a:prstGeom prst="rect">
            <a:avLst/>
          </a:prstGeom>
          <a:solidFill>
            <a:srgbClr val="2B0808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5010912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4545"/>
                </a:solidFill>
                <a:latin typeface="Calibri"/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5010912"/>
            <a:ext cx="1234439" cy="347472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0" y="5010912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394960"/>
            <a:ext cx="4069080" cy="347472"/>
          </a:xfrm>
          <a:prstGeom prst="rect">
            <a:avLst/>
          </a:prstGeom>
          <a:solidFill>
            <a:srgbClr val="0E0E1A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394960"/>
            <a:ext cx="4069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Calibri"/>
              </a:rPr>
              <a:t>UC3 – Knowledge Base &amp; Parsing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0" y="5394960"/>
            <a:ext cx="1051560" cy="347472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0" y="539496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0" y="5394960"/>
            <a:ext cx="1234439" cy="347472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0" y="5394960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49440" y="5394960"/>
            <a:ext cx="1234439" cy="347472"/>
          </a:xfrm>
          <a:prstGeom prst="rect">
            <a:avLst/>
          </a:prstGeom>
          <a:solidFill>
            <a:srgbClr val="2B0808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49440" y="5394960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4545"/>
                </a:solidFill>
                <a:latin typeface="Calibri"/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0" y="5394960"/>
            <a:ext cx="1234439" cy="347472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0" y="5394960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779008"/>
            <a:ext cx="4069080" cy="347472"/>
          </a:xfrm>
          <a:prstGeom prst="rect">
            <a:avLst/>
          </a:prstGeom>
          <a:solidFill>
            <a:srgbClr val="0E0E1A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5779008"/>
            <a:ext cx="4069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UC4 – Practice &amp; Personalization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0" y="5779008"/>
            <a:ext cx="1051560" cy="347472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0" y="57790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0" y="5779008"/>
            <a:ext cx="1234439" cy="347472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0" y="5779008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49440" y="5779008"/>
            <a:ext cx="1234439" cy="347472"/>
          </a:xfrm>
          <a:prstGeom prst="rect">
            <a:avLst/>
          </a:prstGeom>
          <a:solidFill>
            <a:srgbClr val="2B0808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49440" y="5779008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4545"/>
                </a:solidFill>
                <a:latin typeface="Calibri"/>
              </a:rP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29600" y="5779008"/>
            <a:ext cx="1234439" cy="347472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0" y="5779008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6163056"/>
            <a:ext cx="4069080" cy="347472"/>
          </a:xfrm>
          <a:prstGeom prst="rect">
            <a:avLst/>
          </a:prstGeom>
          <a:solidFill>
            <a:srgbClr val="0E0E1A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6163056"/>
            <a:ext cx="4069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UC5 – Gamification &amp; Admin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0" y="6163056"/>
            <a:ext cx="1051560" cy="347472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0" y="616305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280" y="6163056"/>
            <a:ext cx="1234439" cy="347472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69280" y="6163056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  <a:latin typeface="Calibri"/>
              </a:rPr>
              <a:t>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949440" y="6163056"/>
            <a:ext cx="1234439" cy="347472"/>
          </a:xfrm>
          <a:prstGeom prst="rect">
            <a:avLst/>
          </a:prstGeom>
          <a:solidFill>
            <a:srgbClr val="2B0808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949440" y="6163056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4545"/>
                </a:solidFill>
                <a:latin typeface="Calibri"/>
              </a:rPr>
              <a:t>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29600" y="6163056"/>
            <a:ext cx="1234439" cy="347472"/>
          </a:xfrm>
          <a:prstGeom prst="rect">
            <a:avLst/>
          </a:prstGeom>
          <a:solidFill>
            <a:srgbClr val="1C1C30"/>
          </a:solidFill>
          <a:ln w="19050">
            <a:solidFill>
              <a:srgbClr val="1C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29600" y="6163056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743200" cy="320040"/>
          </a:xfrm>
          <a:prstGeom prst="rect">
            <a:avLst/>
          </a:prstGeom>
          <a:solidFill>
            <a:srgbClr val="38BDF8"/>
          </a:solidFill>
          <a:ln w="190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0A0A"/>
                </a:solidFill>
              </a:rPr>
              <a:t>05  BUG REPORT &amp;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8 Bugs Phát hiện  ·  Đã Fix Critical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651760" cy="548640"/>
          </a:xfrm>
          <a:prstGeom prst="rect">
            <a:avLst/>
          </a:prstGeom>
          <a:solidFill>
            <a:srgbClr val="1C1C30"/>
          </a:solidFill>
          <a:ln w="25400">
            <a:solidFill>
              <a:srgbClr val="FF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545"/>
                </a:solidFill>
                <a:latin typeface="Calibri"/>
              </a:rPr>
              <a:t>🚨  2 CRITICAL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737360"/>
            <a:ext cx="2651760" cy="548640"/>
          </a:xfrm>
          <a:prstGeom prst="rect">
            <a:avLst/>
          </a:prstGeom>
          <a:solidFill>
            <a:srgbClr val="1C1C30"/>
          </a:solidFill>
          <a:ln w="2540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7373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7A00"/>
                </a:solidFill>
                <a:latin typeface="Calibri"/>
              </a:rPr>
              <a:t>🔴  1 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737360"/>
            <a:ext cx="2651760" cy="548640"/>
          </a:xfrm>
          <a:prstGeom prst="rect">
            <a:avLst/>
          </a:prstGeom>
          <a:solidFill>
            <a:srgbClr val="1C1C30"/>
          </a:solidFill>
          <a:ln w="254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7373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600"/>
                </a:solidFill>
                <a:latin typeface="Calibri"/>
              </a:rPr>
              <a:t>🟡  3 MEDIUM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737360"/>
            <a:ext cx="2651760" cy="548640"/>
          </a:xfrm>
          <a:prstGeom prst="rect">
            <a:avLst/>
          </a:prstGeom>
          <a:solidFill>
            <a:srgbClr val="1C1C30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7373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DE80"/>
                </a:solidFill>
                <a:latin typeface="Calibri"/>
              </a:rPr>
              <a:t>🟢  2 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23160"/>
            <a:ext cx="5486400" cy="960120"/>
          </a:xfrm>
          <a:prstGeom prst="rect">
            <a:avLst/>
          </a:prstGeom>
          <a:solidFill>
            <a:srgbClr val="1C1C30"/>
          </a:solidFill>
          <a:ln w="19050">
            <a:solidFill>
              <a:srgbClr val="FF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423160"/>
            <a:ext cx="914400" cy="960120"/>
          </a:xfrm>
          <a:prstGeom prst="rect">
            <a:avLst/>
          </a:prstGeom>
          <a:solidFill>
            <a:srgbClr val="FF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SEC-01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468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545"/>
                </a:solidFill>
                <a:latin typeface="Calibri"/>
              </a:rPr>
              <a:t>IDOR – Xem trộm điểm học sinh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926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→ Thêm requireChildAccess middleware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7919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4ADE80"/>
                </a:solidFill>
                <a:latin typeface="Calibri"/>
              </a:rPr>
              <a:t>✅ FIXED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423160"/>
            <a:ext cx="5486400" cy="960120"/>
          </a:xfrm>
          <a:prstGeom prst="rect">
            <a:avLst/>
          </a:prstGeom>
          <a:solidFill>
            <a:srgbClr val="1C1C30"/>
          </a:solidFill>
          <a:ln w="19050">
            <a:solidFill>
              <a:srgbClr val="FF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423160"/>
            <a:ext cx="914400" cy="960120"/>
          </a:xfrm>
          <a:prstGeom prst="rect">
            <a:avLst/>
          </a:prstGeom>
          <a:solidFill>
            <a:srgbClr val="FF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269748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SEC-02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468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545"/>
                </a:solidFill>
                <a:latin typeface="Calibri"/>
              </a:rPr>
              <a:t>Backdoor tự thăng cấp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926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→ Xóa Dev Helper, chặn Firestore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267919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4ADE80"/>
                </a:solidFill>
                <a:latin typeface="Calibri"/>
              </a:rPr>
              <a:t>✅ FIXED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74720"/>
            <a:ext cx="5486400" cy="960120"/>
          </a:xfrm>
          <a:prstGeom prst="rect">
            <a:avLst/>
          </a:prstGeom>
          <a:solidFill>
            <a:srgbClr val="1C1C30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474720"/>
            <a:ext cx="914400" cy="96012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74904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ERR-03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520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  <a:latin typeface="Calibri"/>
              </a:rPr>
              <a:t>Hủy Pro bị cắt quyền ngay lập tức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9776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→ Giữ Pro đến hết kỳ thanh toán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7307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4ADE80"/>
                </a:solidFill>
                <a:latin typeface="Calibri"/>
              </a:rPr>
              <a:t>✅ FIXED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3474720"/>
            <a:ext cx="5486400" cy="960120"/>
          </a:xfrm>
          <a:prstGeom prst="rect">
            <a:avLst/>
          </a:prstGeom>
          <a:solidFill>
            <a:srgbClr val="1C1C30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3474720"/>
            <a:ext cx="914400" cy="96012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374904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ERR-03b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3520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A00"/>
                </a:solidFill>
                <a:latin typeface="Calibri"/>
              </a:rPr>
              <a:t>Pro không đồng bộ Admin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39776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→ Mirror isPro sang collection users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37307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4ADE80"/>
                </a:solidFill>
                <a:latin typeface="Calibri"/>
              </a:rPr>
              <a:t>✅ FIXED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526280"/>
            <a:ext cx="5486400" cy="960120"/>
          </a:xfrm>
          <a:prstGeom prst="rect">
            <a:avLst/>
          </a:prstGeom>
          <a:solidFill>
            <a:srgbClr val="1C1C30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526280"/>
            <a:ext cx="914400" cy="96012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80060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ERR-04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4572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  <a:latin typeface="Calibri"/>
              </a:rPr>
              <a:t>File &gt;20MB upload không bị chặn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029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→ Chặn ngay ở UI + API trả 413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478231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4ADE80"/>
                </a:solidFill>
                <a:latin typeface="Calibri"/>
              </a:rPr>
              <a:t>✅ FIXED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4526280"/>
            <a:ext cx="5486400" cy="960120"/>
          </a:xfrm>
          <a:prstGeom prst="rect">
            <a:avLst/>
          </a:prstGeom>
          <a:solidFill>
            <a:srgbClr val="1C1C30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6480" y="4526280"/>
            <a:ext cx="914400" cy="9601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480060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UX-01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4572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alibri"/>
              </a:rPr>
              <a:t>Thiếu nút TTS đọc gợi ý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5029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→ Thêm Speaker button + gọi /api/v1/ai/tts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478231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4ADE80"/>
                </a:solidFill>
                <a:latin typeface="Calibri"/>
              </a:rPr>
              <a:t>✅ FIXED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577840"/>
            <a:ext cx="5486400" cy="960120"/>
          </a:xfrm>
          <a:prstGeom prst="rect">
            <a:avLst/>
          </a:prstGeom>
          <a:solidFill>
            <a:srgbClr val="1C1C30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5577840"/>
            <a:ext cx="914400" cy="96012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85216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FAM-01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63040" y="56235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  <a:latin typeface="Calibri"/>
              </a:rPr>
              <a:t>State Sync mâu thuẫn số con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63040" y="6080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→ Đồng bộ về 1 biến children duy nhất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583387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4ADE80"/>
                </a:solidFill>
                <a:latin typeface="Calibri"/>
              </a:rPr>
              <a:t>✅ FIXED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5577840"/>
            <a:ext cx="5486400" cy="960120"/>
          </a:xfrm>
          <a:prstGeom prst="rect">
            <a:avLst/>
          </a:prstGeom>
          <a:solidFill>
            <a:srgbClr val="1C1C30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26480" y="5577840"/>
            <a:ext cx="914400" cy="9601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2200" y="585216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alibri"/>
              </a:rPr>
              <a:t>UX-02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2320" y="56235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alibri"/>
              </a:rPr>
              <a:t>Sai tiêu đề Profile Phụ huynh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6080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→ Render tiêu đề theo role (kid/parent/admin)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4160" y="583387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4ADE80"/>
                </a:solidFill>
                <a:latin typeface="Calibri"/>
              </a:rPr>
              <a:t>✅ FIXED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87552" y="0"/>
                  </a:lnTo>
                  <a:cubicBezTo>
                    <a:pt x="1068324" y="0"/>
                    <a:pt x="1133856" y="65532"/>
                    <a:pt x="1133856" y="146304"/>
                  </a:cubicBezTo>
                  <a:lnTo>
                    <a:pt x="1133856" y="475488"/>
                  </a:lnTo>
                  <a:cubicBezTo>
                    <a:pt x="1133856" y="556260"/>
                    <a:pt x="1068324" y="621792"/>
                    <a:pt x="987552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576072"/>
            <a:ext cx="850392" cy="466344"/>
            <a:chOff x="0" y="0"/>
            <a:chExt cx="1133856" cy="621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360" t="0" r="-2036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73352" y="576072"/>
            <a:ext cx="8915400" cy="466344"/>
            <a:chOff x="0" y="0"/>
            <a:chExt cx="11887200" cy="621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87200" cy="621792"/>
            </a:xfrm>
            <a:custGeom>
              <a:avLst/>
              <a:gdLst/>
              <a:ahLst/>
              <a:cxnLst/>
              <a:rect r="r" b="b" t="t" l="l"/>
              <a:pathLst>
                <a:path h="621792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508" r="0" b="-3225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18872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4B4B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1151001"/>
            <a:ext cx="1440180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6172B"/>
                </a:solidFill>
                <a:latin typeface="Arial Bold"/>
                <a:ea typeface="Arial Bold"/>
                <a:cs typeface="Arial Bold"/>
                <a:sym typeface="Arial Bold"/>
              </a:rPr>
              <a:t>Demo · Key Scenario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76275" y="2486787"/>
            <a:ext cx="16930878" cy="1280922"/>
            <a:chOff x="0" y="0"/>
            <a:chExt cx="22574504" cy="17078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574504" cy="1707896"/>
            </a:xfrm>
            <a:custGeom>
              <a:avLst/>
              <a:gdLst/>
              <a:ahLst/>
              <a:cxnLst/>
              <a:rect r="r" b="b" t="t" l="l"/>
              <a:pathLst>
                <a:path h="1707896" w="22574504">
                  <a:moveTo>
                    <a:pt x="0" y="167132"/>
                  </a:moveTo>
                  <a:cubicBezTo>
                    <a:pt x="0" y="74803"/>
                    <a:pt x="74803" y="0"/>
                    <a:pt x="167132" y="0"/>
                  </a:cubicBezTo>
                  <a:lnTo>
                    <a:pt x="22407372" y="0"/>
                  </a:lnTo>
                  <a:cubicBezTo>
                    <a:pt x="22499701" y="0"/>
                    <a:pt x="22574504" y="74803"/>
                    <a:pt x="22574504" y="167132"/>
                  </a:cubicBezTo>
                  <a:lnTo>
                    <a:pt x="22574504" y="1540764"/>
                  </a:lnTo>
                  <a:cubicBezTo>
                    <a:pt x="22574504" y="1633093"/>
                    <a:pt x="22499701" y="1707896"/>
                    <a:pt x="22407372" y="1707896"/>
                  </a:cubicBezTo>
                  <a:lnTo>
                    <a:pt x="167132" y="1707896"/>
                  </a:lnTo>
                  <a:cubicBezTo>
                    <a:pt x="74803" y="1707896"/>
                    <a:pt x="0" y="1633093"/>
                    <a:pt x="0" y="154076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87552" y="2750058"/>
            <a:ext cx="754380" cy="754380"/>
            <a:chOff x="0" y="0"/>
            <a:chExt cx="100584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87552" y="2750058"/>
            <a:ext cx="754380" cy="754380"/>
            <a:chOff x="0" y="0"/>
            <a:chExt cx="100584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057400" y="2660904"/>
            <a:ext cx="5349240" cy="932688"/>
            <a:chOff x="0" y="0"/>
            <a:chExt cx="7132320" cy="12435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323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752" r="0" b="-6175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7132320" cy="1262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Parent đăng nhập &amp; Nạp thẻ Pro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543800" y="2660904"/>
            <a:ext cx="9642348" cy="932688"/>
            <a:chOff x="0" y="0"/>
            <a:chExt cx="12856464" cy="12435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56464" cy="1243584"/>
            </a:xfrm>
            <a:custGeom>
              <a:avLst/>
              <a:gdLst/>
              <a:ahLst/>
              <a:cxnLst/>
              <a:rect r="r" b="b" t="t" l="l"/>
              <a:pathLst>
                <a:path h="1243584" w="12856464">
                  <a:moveTo>
                    <a:pt x="0" y="0"/>
                  </a:moveTo>
                  <a:lnTo>
                    <a:pt x="12856464" y="0"/>
                  </a:lnTo>
                  <a:lnTo>
                    <a:pt x="1285646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440" r="0" b="-15144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856464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Google OAuth → Parent Dashboard. Stripe checkout → Subscription activated.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6275" y="3830955"/>
            <a:ext cx="16930878" cy="1280922"/>
            <a:chOff x="0" y="0"/>
            <a:chExt cx="22574504" cy="17078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574504" cy="1707896"/>
            </a:xfrm>
            <a:custGeom>
              <a:avLst/>
              <a:gdLst/>
              <a:ahLst/>
              <a:cxnLst/>
              <a:rect r="r" b="b" t="t" l="l"/>
              <a:pathLst>
                <a:path h="1707896" w="22574504">
                  <a:moveTo>
                    <a:pt x="0" y="167132"/>
                  </a:moveTo>
                  <a:cubicBezTo>
                    <a:pt x="0" y="74803"/>
                    <a:pt x="74803" y="0"/>
                    <a:pt x="167132" y="0"/>
                  </a:cubicBezTo>
                  <a:lnTo>
                    <a:pt x="22407372" y="0"/>
                  </a:lnTo>
                  <a:cubicBezTo>
                    <a:pt x="22499701" y="0"/>
                    <a:pt x="22574504" y="74803"/>
                    <a:pt x="22574504" y="167132"/>
                  </a:cubicBezTo>
                  <a:lnTo>
                    <a:pt x="22574504" y="1540764"/>
                  </a:lnTo>
                  <a:cubicBezTo>
                    <a:pt x="22574504" y="1633093"/>
                    <a:pt x="22499701" y="1707896"/>
                    <a:pt x="22407372" y="1707896"/>
                  </a:cubicBezTo>
                  <a:lnTo>
                    <a:pt x="167132" y="1707896"/>
                  </a:lnTo>
                  <a:cubicBezTo>
                    <a:pt x="74803" y="1707896"/>
                    <a:pt x="0" y="1633093"/>
                    <a:pt x="0" y="154076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87552" y="4094226"/>
            <a:ext cx="754380" cy="754380"/>
            <a:chOff x="0" y="0"/>
            <a:chExt cx="1005840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7552" y="4094226"/>
            <a:ext cx="754380" cy="754380"/>
            <a:chOff x="0" y="0"/>
            <a:chExt cx="100584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057400" y="4005072"/>
            <a:ext cx="5349240" cy="932688"/>
            <a:chOff x="0" y="0"/>
            <a:chExt cx="7132320" cy="12435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323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752" r="0" b="-6175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7132320" cy="1262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Upload PDF Toán &amp; AI Parse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543800" y="4005072"/>
            <a:ext cx="9642348" cy="932688"/>
            <a:chOff x="0" y="0"/>
            <a:chExt cx="12856464" cy="12435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856464" cy="1243584"/>
            </a:xfrm>
            <a:custGeom>
              <a:avLst/>
              <a:gdLst/>
              <a:ahLst/>
              <a:cxnLst/>
              <a:rect r="r" b="b" t="t" l="l"/>
              <a:pathLst>
                <a:path h="1243584" w="12856464">
                  <a:moveTo>
                    <a:pt x="0" y="0"/>
                  </a:moveTo>
                  <a:lnTo>
                    <a:pt x="12856464" y="0"/>
                  </a:lnTo>
                  <a:lnTo>
                    <a:pt x="1285646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440" r="0" b="-15144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2856464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Gemini 2.5 Pro OCR ảnh/PDF. GPT-4.1 extract structured JSON questions.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76275" y="5175123"/>
            <a:ext cx="16930878" cy="1280922"/>
            <a:chOff x="0" y="0"/>
            <a:chExt cx="22574504" cy="17078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574504" cy="1707896"/>
            </a:xfrm>
            <a:custGeom>
              <a:avLst/>
              <a:gdLst/>
              <a:ahLst/>
              <a:cxnLst/>
              <a:rect r="r" b="b" t="t" l="l"/>
              <a:pathLst>
                <a:path h="1707896" w="22574504">
                  <a:moveTo>
                    <a:pt x="0" y="167132"/>
                  </a:moveTo>
                  <a:cubicBezTo>
                    <a:pt x="0" y="74803"/>
                    <a:pt x="74803" y="0"/>
                    <a:pt x="167132" y="0"/>
                  </a:cubicBezTo>
                  <a:lnTo>
                    <a:pt x="22407372" y="0"/>
                  </a:lnTo>
                  <a:cubicBezTo>
                    <a:pt x="22499701" y="0"/>
                    <a:pt x="22574504" y="74803"/>
                    <a:pt x="22574504" y="167132"/>
                  </a:cubicBezTo>
                  <a:lnTo>
                    <a:pt x="22574504" y="1540764"/>
                  </a:lnTo>
                  <a:cubicBezTo>
                    <a:pt x="22574504" y="1633093"/>
                    <a:pt x="22499701" y="1707896"/>
                    <a:pt x="22407372" y="1707896"/>
                  </a:cubicBezTo>
                  <a:lnTo>
                    <a:pt x="167132" y="1707896"/>
                  </a:lnTo>
                  <a:cubicBezTo>
                    <a:pt x="74803" y="1707896"/>
                    <a:pt x="0" y="1633093"/>
                    <a:pt x="0" y="154076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87552" y="5438394"/>
            <a:ext cx="754380" cy="754380"/>
            <a:chOff x="0" y="0"/>
            <a:chExt cx="1005840" cy="1005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87552" y="5438394"/>
            <a:ext cx="754380" cy="754380"/>
            <a:chOff x="0" y="0"/>
            <a:chExt cx="1005840" cy="10058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057400" y="5349240"/>
            <a:ext cx="5349240" cy="932688"/>
            <a:chOff x="0" y="0"/>
            <a:chExt cx="7132320" cy="12435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1323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752" r="0" b="-6175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7132320" cy="1262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Admin Review &amp; Lưu Question Bank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543800" y="5349240"/>
            <a:ext cx="9642348" cy="932688"/>
            <a:chOff x="0" y="0"/>
            <a:chExt cx="12856464" cy="12435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856464" cy="1243584"/>
            </a:xfrm>
            <a:custGeom>
              <a:avLst/>
              <a:gdLst/>
              <a:ahLst/>
              <a:cxnLst/>
              <a:rect r="r" b="b" t="t" l="l"/>
              <a:pathLst>
                <a:path h="1243584" w="12856464">
                  <a:moveTo>
                    <a:pt x="0" y="0"/>
                  </a:moveTo>
                  <a:lnTo>
                    <a:pt x="12856464" y="0"/>
                  </a:lnTo>
                  <a:lnTo>
                    <a:pt x="1285646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440" r="0" b="-15144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2856464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 xem kết quả parse. Approve → Lưu vào Firestore + Pinecone.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76275" y="6519291"/>
            <a:ext cx="16930878" cy="1280922"/>
            <a:chOff x="0" y="0"/>
            <a:chExt cx="22574504" cy="170789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574504" cy="1707896"/>
            </a:xfrm>
            <a:custGeom>
              <a:avLst/>
              <a:gdLst/>
              <a:ahLst/>
              <a:cxnLst/>
              <a:rect r="r" b="b" t="t" l="l"/>
              <a:pathLst>
                <a:path h="1707896" w="22574504">
                  <a:moveTo>
                    <a:pt x="0" y="167132"/>
                  </a:moveTo>
                  <a:cubicBezTo>
                    <a:pt x="0" y="74803"/>
                    <a:pt x="74803" y="0"/>
                    <a:pt x="167132" y="0"/>
                  </a:cubicBezTo>
                  <a:lnTo>
                    <a:pt x="22407372" y="0"/>
                  </a:lnTo>
                  <a:cubicBezTo>
                    <a:pt x="22499701" y="0"/>
                    <a:pt x="22574504" y="74803"/>
                    <a:pt x="22574504" y="167132"/>
                  </a:cubicBezTo>
                  <a:lnTo>
                    <a:pt x="22574504" y="1540764"/>
                  </a:lnTo>
                  <a:cubicBezTo>
                    <a:pt x="22574504" y="1633093"/>
                    <a:pt x="22499701" y="1707896"/>
                    <a:pt x="22407372" y="1707896"/>
                  </a:cubicBezTo>
                  <a:lnTo>
                    <a:pt x="167132" y="1707896"/>
                  </a:lnTo>
                  <a:cubicBezTo>
                    <a:pt x="74803" y="1707896"/>
                    <a:pt x="0" y="1633093"/>
                    <a:pt x="0" y="154076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87552" y="6782562"/>
            <a:ext cx="754380" cy="754380"/>
            <a:chOff x="0" y="0"/>
            <a:chExt cx="1005840" cy="10058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F7A0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87552" y="6782562"/>
            <a:ext cx="754380" cy="754380"/>
            <a:chOff x="0" y="0"/>
            <a:chExt cx="1005840" cy="10058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2057400" y="6693408"/>
            <a:ext cx="5349240" cy="932688"/>
            <a:chOff x="0" y="0"/>
            <a:chExt cx="7132320" cy="124358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1323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752" r="0" b="-6175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7132320" cy="1262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Kid Login &amp; Học tập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543800" y="6693408"/>
            <a:ext cx="9642348" cy="932688"/>
            <a:chOff x="0" y="0"/>
            <a:chExt cx="12856464" cy="124358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856464" cy="1243584"/>
            </a:xfrm>
            <a:custGeom>
              <a:avLst/>
              <a:gdLst/>
              <a:ahLst/>
              <a:cxnLst/>
              <a:rect r="r" b="b" t="t" l="l"/>
              <a:pathLst>
                <a:path h="1243584" w="12856464">
                  <a:moveTo>
                    <a:pt x="0" y="0"/>
                  </a:moveTo>
                  <a:lnTo>
                    <a:pt x="12856464" y="0"/>
                  </a:lnTo>
                  <a:lnTo>
                    <a:pt x="1285646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440" r="0" b="-15144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2856464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Kid ID+PIN → Dashboard. Chọn bài → làm quiz → ElevenLabs TTS đọc đề.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76275" y="7863459"/>
            <a:ext cx="16930878" cy="1280922"/>
            <a:chOff x="0" y="0"/>
            <a:chExt cx="22574504" cy="170789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574504" cy="1707896"/>
            </a:xfrm>
            <a:custGeom>
              <a:avLst/>
              <a:gdLst/>
              <a:ahLst/>
              <a:cxnLst/>
              <a:rect r="r" b="b" t="t" l="l"/>
              <a:pathLst>
                <a:path h="1707896" w="22574504">
                  <a:moveTo>
                    <a:pt x="0" y="167132"/>
                  </a:moveTo>
                  <a:cubicBezTo>
                    <a:pt x="0" y="74803"/>
                    <a:pt x="74803" y="0"/>
                    <a:pt x="167132" y="0"/>
                  </a:cubicBezTo>
                  <a:lnTo>
                    <a:pt x="22407372" y="0"/>
                  </a:lnTo>
                  <a:cubicBezTo>
                    <a:pt x="22499701" y="0"/>
                    <a:pt x="22574504" y="74803"/>
                    <a:pt x="22574504" y="167132"/>
                  </a:cubicBezTo>
                  <a:lnTo>
                    <a:pt x="22574504" y="1540764"/>
                  </a:lnTo>
                  <a:cubicBezTo>
                    <a:pt x="22574504" y="1633093"/>
                    <a:pt x="22499701" y="1707896"/>
                    <a:pt x="22407372" y="1707896"/>
                  </a:cubicBezTo>
                  <a:lnTo>
                    <a:pt x="167132" y="1707896"/>
                  </a:lnTo>
                  <a:cubicBezTo>
                    <a:pt x="74803" y="1707896"/>
                    <a:pt x="0" y="1633093"/>
                    <a:pt x="0" y="154076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7F0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87552" y="8126730"/>
            <a:ext cx="754380" cy="754380"/>
            <a:chOff x="0" y="0"/>
            <a:chExt cx="1005840" cy="10058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87552" y="8126730"/>
            <a:ext cx="754380" cy="754380"/>
            <a:chOff x="0" y="0"/>
            <a:chExt cx="1005840" cy="10058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2057400" y="8037576"/>
            <a:ext cx="5349240" cy="932688"/>
            <a:chOff x="0" y="0"/>
            <a:chExt cx="7132320" cy="124358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1323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752" r="0" b="-6175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7132320" cy="1262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617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🎉 Gamification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7543800" y="8037576"/>
            <a:ext cx="9642348" cy="932688"/>
            <a:chOff x="0" y="0"/>
            <a:chExt cx="12856464" cy="124358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2856464" cy="1243584"/>
            </a:xfrm>
            <a:custGeom>
              <a:avLst/>
              <a:gdLst/>
              <a:ahLst/>
              <a:cxnLst/>
              <a:rect r="r" b="b" t="t" l="l"/>
              <a:pathLst>
                <a:path h="1243584" w="12856464">
                  <a:moveTo>
                    <a:pt x="0" y="0"/>
                  </a:moveTo>
                  <a:lnTo>
                    <a:pt x="12856464" y="0"/>
                  </a:lnTo>
                  <a:lnTo>
                    <a:pt x="1285646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440" r="0" b="-15144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12856464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B4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Làm đúng → XP + Pháo hoa. Nhận Badge → Leo Leaderboard.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6504463" y="9710928"/>
            <a:ext cx="1371600" cy="411480"/>
            <a:chOff x="0" y="0"/>
            <a:chExt cx="1828800" cy="548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C7D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 / 20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685800" y="9710928"/>
            <a:ext cx="3017520" cy="411480"/>
            <a:chOff x="0" y="0"/>
            <a:chExt cx="4023360" cy="5486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023360" cy="548640"/>
            </a:xfrm>
            <a:custGeom>
              <a:avLst/>
              <a:gdLst/>
              <a:ahLst/>
              <a:cxnLst/>
              <a:rect r="r" b="b" t="t" l="l"/>
              <a:pathLst>
                <a:path h="5486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40233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50">
                  <a:solidFill>
                    <a:srgbClr val="7C7D9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MELON AI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2692908" cy="34747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39496"/>
            <a:ext cx="25100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0A"/>
                </a:solidFill>
                <a:latin typeface="Calibri"/>
              </a:rPr>
              <a:t>05  CHIẾN LƯỢC KIỂM THỬ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645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Chiến lược Kiểm thử Phần mềm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103120"/>
            <a:ext cx="1691640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738360"/>
            <a:ext cx="16916400" cy="365760"/>
          </a:xfrm>
          <a:prstGeom prst="rect">
            <a:avLst/>
          </a:prstGeom>
          <a:solidFill>
            <a:srgbClr val="1E1F3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9784080"/>
            <a:ext cx="1645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Tester: Lâm Hoàng Vũ  ·  Môi trường: Localhost (Next.js + FastAPI)  ·  21/06/2026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377440"/>
            <a:ext cx="7772400" cy="7132320"/>
          </a:xfrm>
          <a:prstGeom prst="rect">
            <a:avLst/>
          </a:prstGeom>
          <a:solidFill>
            <a:srgbClr val="1E1F3A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  <a:latin typeface="Calibri"/>
              </a:rPr>
              <a:t>🧪  Phương pháp Kiểm thử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37560"/>
            <a:ext cx="109728" cy="1188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3337560"/>
            <a:ext cx="7223760" cy="1188720"/>
          </a:xfrm>
          <a:prstGeom prst="rect">
            <a:avLst/>
          </a:prstGeom>
          <a:solidFill>
            <a:srgbClr val="12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410712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8BDF8"/>
                </a:solidFill>
                <a:latin typeface="Calibri"/>
              </a:rPr>
              <a:t>Manual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93192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Tester thực hiện thủ công
trên Chrome – localhost:3000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00600"/>
            <a:ext cx="109728" cy="11887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4800600"/>
            <a:ext cx="7223760" cy="1188720"/>
          </a:xfrm>
          <a:prstGeom prst="rect">
            <a:avLst/>
          </a:prstGeom>
          <a:solidFill>
            <a:srgbClr val="12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873752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DE80"/>
                </a:solidFill>
                <a:latin typeface="Calibri"/>
              </a:rPr>
              <a:t>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39496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Katalon Studio ghi &amp; replay
4 kịch bản tự động hóa (PA5)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63640"/>
            <a:ext cx="109728" cy="118872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6263640"/>
            <a:ext cx="7223760" cy="1188720"/>
          </a:xfrm>
          <a:prstGeom prst="rect">
            <a:avLst/>
          </a:prstGeom>
          <a:solidFill>
            <a:srgbClr val="12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6336792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600"/>
                </a:solidFill>
                <a:latin typeface="Calibri"/>
              </a:rPr>
              <a:t>API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685800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Postman kiểm tra trực tiếp
các REST endpoint Backend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7726680"/>
            <a:ext cx="109728" cy="118872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" y="7726680"/>
            <a:ext cx="7223760" cy="1188720"/>
          </a:xfrm>
          <a:prstGeom prst="rect">
            <a:avLst/>
          </a:prstGeom>
          <a:solidFill>
            <a:srgbClr val="12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7799832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A00"/>
                </a:solidFill>
                <a:latin typeface="Calibri"/>
              </a:rPr>
              <a:t>Security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832104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Thử bypass Auth, IDOR,
privilege escalation attacks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2377440"/>
            <a:ext cx="8732520" cy="7132320"/>
          </a:xfrm>
          <a:prstGeom prst="rect">
            <a:avLst/>
          </a:prstGeom>
          <a:solidFill>
            <a:srgbClr val="1E1F3A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2514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DE80"/>
                </a:solidFill>
                <a:latin typeface="Calibri"/>
              </a:rPr>
              <a:t>📋  Phạm vi – 5 Use-Cases (48 TC)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3337560"/>
            <a:ext cx="73152" cy="10058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20" y="3337560"/>
            <a:ext cx="8229600" cy="1005840"/>
          </a:xfrm>
          <a:prstGeom prst="rect">
            <a:avLst/>
          </a:prstGeom>
          <a:solidFill>
            <a:srgbClr val="12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3447288"/>
            <a:ext cx="7132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DE80"/>
                </a:solidFill>
                <a:latin typeface="Calibri"/>
              </a:rPr>
              <a:t>UC1 – Authentication &amp;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76320" y="3593591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4ADE80"/>
                </a:solidFill>
                <a:latin typeface="Calibri"/>
              </a:rPr>
              <a:t>9 TC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6840" y="4572000"/>
            <a:ext cx="73152" cy="100584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89720" y="4572000"/>
            <a:ext cx="8229600" cy="1005840"/>
          </a:xfrm>
          <a:prstGeom prst="rect">
            <a:avLst/>
          </a:prstGeom>
          <a:solidFill>
            <a:srgbClr val="12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4681728"/>
            <a:ext cx="7132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Calibri"/>
              </a:rPr>
              <a:t>UC2 – Features &amp; Stripe Payments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276320" y="482803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D600"/>
                </a:solidFill>
                <a:latin typeface="Calibri"/>
              </a:rPr>
              <a:t>6 TC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40" y="5806440"/>
            <a:ext cx="73152" cy="10058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9720" y="5806440"/>
            <a:ext cx="8229600" cy="1005840"/>
          </a:xfrm>
          <a:prstGeom prst="rect">
            <a:avLst/>
          </a:prstGeom>
          <a:solidFill>
            <a:srgbClr val="12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5916168"/>
            <a:ext cx="7132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A00"/>
                </a:solidFill>
                <a:latin typeface="Calibri"/>
              </a:rPr>
              <a:t>UC3 – Knowledge Base &amp; PDF Parse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76320" y="606247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7A00"/>
                </a:solidFill>
                <a:latin typeface="Calibri"/>
              </a:rPr>
              <a:t>5 TC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40" y="7040880"/>
            <a:ext cx="73152" cy="10058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89720" y="7040880"/>
            <a:ext cx="8229600" cy="1005840"/>
          </a:xfrm>
          <a:prstGeom prst="rect">
            <a:avLst/>
          </a:prstGeom>
          <a:solidFill>
            <a:srgbClr val="12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72600" y="7150608"/>
            <a:ext cx="7132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Calibri"/>
              </a:rPr>
              <a:t>UC4 – Practice &amp; AI Personalization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276320" y="729691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A78BFA"/>
                </a:solidFill>
                <a:latin typeface="Calibri"/>
              </a:rPr>
              <a:t>9 TC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06840" y="8275320"/>
            <a:ext cx="73152" cy="10058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89720" y="8275320"/>
            <a:ext cx="8229600" cy="1005840"/>
          </a:xfrm>
          <a:prstGeom prst="rect">
            <a:avLst/>
          </a:prstGeom>
          <a:solidFill>
            <a:srgbClr val="12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72600" y="8385048"/>
            <a:ext cx="7132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Calibri"/>
              </a:rPr>
              <a:t>UC5 – Gamification &amp; Admin System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276320" y="853135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38BDF8"/>
                </a:solidFill>
                <a:latin typeface="Calibri"/>
              </a:rPr>
              <a:t>19 TC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2692908" cy="34747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39496"/>
            <a:ext cx="25100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0A"/>
                </a:solidFill>
                <a:latin typeface="Calibri"/>
              </a:rPr>
              <a:t>05  CHIẾN LƯỢC KIỂM THỬ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645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Chiến lược Kiểm thử Phần mềm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103120"/>
            <a:ext cx="1691640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738360"/>
            <a:ext cx="16916400" cy="365760"/>
          </a:xfrm>
          <a:prstGeom prst="rect">
            <a:avLst/>
          </a:prstGeom>
          <a:solidFill>
            <a:srgbClr val="1E1F3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9784080"/>
            <a:ext cx="1645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Tester: Lâm Hoàng Vũ  ·  Môi trường: Localhost (Next.js + FastAPI)  ·  21/06/2026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377440"/>
            <a:ext cx="7772400" cy="7132320"/>
          </a:xfrm>
          <a:prstGeom prst="rect">
            <a:avLst/>
          </a:prstGeom>
          <a:solidFill>
            <a:srgbClr val="1E1F3A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  <a:latin typeface="Calibri"/>
              </a:rPr>
              <a:t>🧪  Phương pháp Kiểm thử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37560"/>
            <a:ext cx="109728" cy="1188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3337560"/>
            <a:ext cx="7223760" cy="1188720"/>
          </a:xfrm>
          <a:prstGeom prst="rect">
            <a:avLst/>
          </a:prstGeom>
          <a:solidFill>
            <a:srgbClr val="12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410712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8BDF8"/>
                </a:solidFill>
                <a:latin typeface="Calibri"/>
              </a:rPr>
              <a:t>Manual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93192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Tester thực hiện thủ công
trên Chrome – localhost:3000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00600"/>
            <a:ext cx="109728" cy="11887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4800600"/>
            <a:ext cx="7223760" cy="1188720"/>
          </a:xfrm>
          <a:prstGeom prst="rect">
            <a:avLst/>
          </a:prstGeom>
          <a:solidFill>
            <a:srgbClr val="12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873752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DE80"/>
                </a:solidFill>
                <a:latin typeface="Calibri"/>
              </a:rPr>
              <a:t>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39496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Katalon Studio ghi &amp; replay
4 kịch bản tự động hóa (PA5)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63640"/>
            <a:ext cx="109728" cy="118872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6263640"/>
            <a:ext cx="7223760" cy="1188720"/>
          </a:xfrm>
          <a:prstGeom prst="rect">
            <a:avLst/>
          </a:prstGeom>
          <a:solidFill>
            <a:srgbClr val="12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6336792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600"/>
                </a:solidFill>
                <a:latin typeface="Calibri"/>
              </a:rPr>
              <a:t>API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685800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Postman kiểm tra trực tiếp
các REST endpoint Backend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7726680"/>
            <a:ext cx="109728" cy="118872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" y="7726680"/>
            <a:ext cx="7223760" cy="1188720"/>
          </a:xfrm>
          <a:prstGeom prst="rect">
            <a:avLst/>
          </a:prstGeom>
          <a:solidFill>
            <a:srgbClr val="12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7799832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A00"/>
                </a:solidFill>
                <a:latin typeface="Calibri"/>
              </a:rPr>
              <a:t>Security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832104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Thử bypass Auth, IDOR,
privilege escalation attacks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2377440"/>
            <a:ext cx="8732520" cy="7132320"/>
          </a:xfrm>
          <a:prstGeom prst="rect">
            <a:avLst/>
          </a:prstGeom>
          <a:solidFill>
            <a:srgbClr val="1E1F3A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2514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DE80"/>
                </a:solidFill>
                <a:latin typeface="Calibri"/>
              </a:rPr>
              <a:t>📋  Phạm vi – 5 Use-Cases (48 TC)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3337560"/>
            <a:ext cx="73152" cy="10058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20" y="3337560"/>
            <a:ext cx="8229600" cy="1005840"/>
          </a:xfrm>
          <a:prstGeom prst="rect">
            <a:avLst/>
          </a:prstGeom>
          <a:solidFill>
            <a:srgbClr val="12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3447288"/>
            <a:ext cx="7132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DE80"/>
                </a:solidFill>
                <a:latin typeface="Calibri"/>
              </a:rPr>
              <a:t>UC1 – Authentication &amp;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76320" y="3593591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4ADE80"/>
                </a:solidFill>
                <a:latin typeface="Calibri"/>
              </a:rPr>
              <a:t>9 TC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6840" y="4572000"/>
            <a:ext cx="73152" cy="100584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89720" y="4572000"/>
            <a:ext cx="8229600" cy="1005840"/>
          </a:xfrm>
          <a:prstGeom prst="rect">
            <a:avLst/>
          </a:prstGeom>
          <a:solidFill>
            <a:srgbClr val="12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4681728"/>
            <a:ext cx="7132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Calibri"/>
              </a:rPr>
              <a:t>UC2 – Features &amp; Stripe Payments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276320" y="482803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D600"/>
                </a:solidFill>
                <a:latin typeface="Calibri"/>
              </a:rPr>
              <a:t>6 TC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40" y="5806440"/>
            <a:ext cx="73152" cy="10058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9720" y="5806440"/>
            <a:ext cx="8229600" cy="1005840"/>
          </a:xfrm>
          <a:prstGeom prst="rect">
            <a:avLst/>
          </a:prstGeom>
          <a:solidFill>
            <a:srgbClr val="12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5916168"/>
            <a:ext cx="7132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A00"/>
                </a:solidFill>
                <a:latin typeface="Calibri"/>
              </a:rPr>
              <a:t>UC3 – Knowledge Base &amp; PDF Parse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76320" y="606247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7A00"/>
                </a:solidFill>
                <a:latin typeface="Calibri"/>
              </a:rPr>
              <a:t>5 TC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40" y="7040880"/>
            <a:ext cx="73152" cy="10058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89720" y="7040880"/>
            <a:ext cx="8229600" cy="1005840"/>
          </a:xfrm>
          <a:prstGeom prst="rect">
            <a:avLst/>
          </a:prstGeom>
          <a:solidFill>
            <a:srgbClr val="12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72600" y="7150608"/>
            <a:ext cx="7132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Calibri"/>
              </a:rPr>
              <a:t>UC4 – Practice &amp; AI Personalization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276320" y="729691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A78BFA"/>
                </a:solidFill>
                <a:latin typeface="Calibri"/>
              </a:rPr>
              <a:t>9 TC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06840" y="8275320"/>
            <a:ext cx="73152" cy="10058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89720" y="8275320"/>
            <a:ext cx="8229600" cy="1005840"/>
          </a:xfrm>
          <a:prstGeom prst="rect">
            <a:avLst/>
          </a:prstGeom>
          <a:solidFill>
            <a:srgbClr val="12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72600" y="8385048"/>
            <a:ext cx="7132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Calibri"/>
              </a:rPr>
              <a:t>UC5 – Gamification &amp; Admin System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276320" y="853135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38BDF8"/>
                </a:solidFill>
                <a:latin typeface="Calibri"/>
              </a:rPr>
              <a:t>19 TC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2377440" cy="34747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394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0A"/>
                </a:solidFill>
                <a:latin typeface="Calibri"/>
              </a:rPr>
              <a:t>05  KẾT QUẢ KIỂM THỬ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645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Kết quả Kiểm thử – Số liệu Tổng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103120"/>
            <a:ext cx="1691640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377440"/>
            <a:ext cx="2926080" cy="2286000"/>
          </a:xfrm>
          <a:prstGeom prst="rect">
            <a:avLst/>
          </a:prstGeom>
          <a:solidFill>
            <a:srgbClr val="1E1F3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377440"/>
            <a:ext cx="292608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38BDF8"/>
                </a:solidFill>
                <a:latin typeface="Calibri"/>
              </a:rPr>
              <a:t>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40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Tổng Test Cases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2377440"/>
            <a:ext cx="2926080" cy="2286000"/>
          </a:xfrm>
          <a:prstGeom prst="rect">
            <a:avLst/>
          </a:prstGeom>
          <a:solidFill>
            <a:srgbClr val="1E1F3A"/>
          </a:solidFill>
          <a:ln w="381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1920" y="2377440"/>
            <a:ext cx="2926080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7432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4ADE80"/>
                </a:solidFill>
                <a:latin typeface="Calibri"/>
              </a:rPr>
              <a:t>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840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✅  Passed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2377440"/>
            <a:ext cx="2926080" cy="2286000"/>
          </a:xfrm>
          <a:prstGeom prst="rect">
            <a:avLst/>
          </a:prstGeom>
          <a:solidFill>
            <a:srgbClr val="1E1F3A"/>
          </a:solidFill>
          <a:ln w="38100">
            <a:solidFill>
              <a:srgbClr val="FF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8040" y="2377440"/>
            <a:ext cx="2926080" cy="73152"/>
          </a:xfrm>
          <a:prstGeom prst="rect">
            <a:avLst/>
          </a:prstGeom>
          <a:solidFill>
            <a:srgbClr val="FF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7432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4545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3840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❌  Failed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24159" y="2377440"/>
            <a:ext cx="2926080" cy="2286000"/>
          </a:xfrm>
          <a:prstGeom prst="rect">
            <a:avLst/>
          </a:prstGeom>
          <a:solidFill>
            <a:srgbClr val="1E1F3A"/>
          </a:solidFill>
          <a:ln w="381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24159" y="2377440"/>
            <a:ext cx="2926080" cy="7315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59" y="27432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9" y="3840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⏭️  Skipped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670280" y="2377440"/>
            <a:ext cx="2926080" cy="2286000"/>
          </a:xfrm>
          <a:prstGeom prst="rect">
            <a:avLst/>
          </a:prstGeom>
          <a:solidFill>
            <a:srgbClr val="1E1F3A"/>
          </a:solidFill>
          <a:ln w="381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670280" y="2377440"/>
            <a:ext cx="2926080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670280" y="27432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D600"/>
                </a:solidFill>
                <a:latin typeface="Calibri"/>
              </a:rPr>
              <a:t>56%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70280" y="3840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Pass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9377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  <a:latin typeface="Calibri"/>
              </a:rPr>
              <a:t>Breakdown theo Use-Case: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532120"/>
            <a:ext cx="6812280" cy="5486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7784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Calibri"/>
              </a:rPr>
              <a:t>Use-Case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5532120"/>
            <a:ext cx="1600200" cy="5486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5577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0A0A"/>
                </a:solidFill>
                <a:latin typeface="Calibri"/>
              </a:rPr>
              <a:t>Total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9720" y="5532120"/>
            <a:ext cx="1965960" cy="5486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0A0A"/>
                </a:solidFill>
                <a:latin typeface="Calibri"/>
              </a:rPr>
              <a:t>✅ Pass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201400" y="5532120"/>
            <a:ext cx="1965960" cy="5486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92840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0A0A"/>
                </a:solidFill>
                <a:latin typeface="Calibri"/>
              </a:rPr>
              <a:t>❌ Fail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213080" y="5532120"/>
            <a:ext cx="1783080" cy="5486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304519" y="5577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0A0A"/>
                </a:solidFill>
                <a:latin typeface="Calibri"/>
              </a:rPr>
              <a:t>⏭️ Skip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6144768"/>
            <a:ext cx="6812280" cy="566928"/>
          </a:xfrm>
          <a:prstGeom prst="rect">
            <a:avLst/>
          </a:prstGeom>
          <a:solidFill>
            <a:srgbClr val="121322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6199631"/>
            <a:ext cx="6675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  <a:latin typeface="Calibri"/>
              </a:rPr>
              <a:t>UC1 – Authentication &amp; Security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43800" y="6144768"/>
            <a:ext cx="160020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35240" y="6199631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720" y="6144768"/>
            <a:ext cx="196596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0" y="6199631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DE80"/>
                </a:solidFill>
                <a:latin typeface="Calibri"/>
              </a:rPr>
              <a:t>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201400" y="6144768"/>
            <a:ext cx="1965960" cy="566928"/>
          </a:xfrm>
          <a:prstGeom prst="rect">
            <a:avLst/>
          </a:prstGeom>
          <a:solidFill>
            <a:srgbClr val="2B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292840" y="6199631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4545"/>
                </a:solidFill>
                <a:latin typeface="Calibri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213080" y="6144768"/>
            <a:ext cx="178308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304519" y="6199631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" y="6803136"/>
            <a:ext cx="6812280" cy="566928"/>
          </a:xfrm>
          <a:prstGeom prst="rect">
            <a:avLst/>
          </a:prstGeom>
          <a:solidFill>
            <a:srgbClr val="121322"/>
          </a:solidFill>
          <a:ln w="254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6857999"/>
            <a:ext cx="6675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  <a:latin typeface="Calibri"/>
              </a:rPr>
              <a:t>UC2 – Features &amp; Payments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43800" y="6803136"/>
            <a:ext cx="160020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35240" y="6857999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9720" y="6803136"/>
            <a:ext cx="196596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81160" y="6857999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DE80"/>
                </a:solidFill>
                <a:latin typeface="Calibri"/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201400" y="6803136"/>
            <a:ext cx="1965960" cy="566928"/>
          </a:xfrm>
          <a:prstGeom prst="rect">
            <a:avLst/>
          </a:prstGeom>
          <a:solidFill>
            <a:srgbClr val="2B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292840" y="6857999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4545"/>
                </a:solidFill>
                <a:latin typeface="Calibri"/>
              </a:rPr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213080" y="6803136"/>
            <a:ext cx="178308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304519" y="6857999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5800" y="7461504"/>
            <a:ext cx="6812280" cy="566928"/>
          </a:xfrm>
          <a:prstGeom prst="rect">
            <a:avLst/>
          </a:prstGeom>
          <a:solidFill>
            <a:srgbClr val="121322"/>
          </a:solidFill>
          <a:ln w="2540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7516368"/>
            <a:ext cx="6675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Calibri"/>
              </a:rPr>
              <a:t>UC3 – Knowledge Base &amp; Parsing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43800" y="7461504"/>
            <a:ext cx="160020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35240" y="7516368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89720" y="7461504"/>
            <a:ext cx="196596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81160" y="751636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DE80"/>
                </a:solidFill>
                <a:latin typeface="Calibri"/>
              </a:rPr>
              <a:t>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201400" y="7461504"/>
            <a:ext cx="1965960" cy="566928"/>
          </a:xfrm>
          <a:prstGeom prst="rect">
            <a:avLst/>
          </a:prstGeom>
          <a:solidFill>
            <a:srgbClr val="2B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292840" y="751636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4545"/>
                </a:solidFill>
                <a:latin typeface="Calibri"/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213080" y="7461504"/>
            <a:ext cx="178308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304519" y="7516368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5800" y="8119871"/>
            <a:ext cx="6812280" cy="566928"/>
          </a:xfrm>
          <a:prstGeom prst="rect">
            <a:avLst/>
          </a:prstGeom>
          <a:solidFill>
            <a:srgbClr val="121322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7240" y="8174736"/>
            <a:ext cx="6675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UC4 – Practice &amp; Personalization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543800" y="8119871"/>
            <a:ext cx="160020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35240" y="8174736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89720" y="8119871"/>
            <a:ext cx="196596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81160" y="817473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DE80"/>
                </a:solidFill>
                <a:latin typeface="Calibri"/>
              </a:rPr>
              <a:t>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201400" y="8119871"/>
            <a:ext cx="1965960" cy="566928"/>
          </a:xfrm>
          <a:prstGeom prst="rect">
            <a:avLst/>
          </a:prstGeom>
          <a:solidFill>
            <a:srgbClr val="2B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292840" y="817473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4545"/>
                </a:solidFill>
                <a:latin typeface="Calibri"/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213080" y="8119871"/>
            <a:ext cx="178308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04519" y="8174736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85800" y="8778240"/>
            <a:ext cx="6812280" cy="566928"/>
          </a:xfrm>
          <a:prstGeom prst="rect">
            <a:avLst/>
          </a:prstGeom>
          <a:solidFill>
            <a:srgbClr val="121322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7240" y="8833104"/>
            <a:ext cx="6675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UC5 – Gamification &amp; Admin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543800" y="8778240"/>
            <a:ext cx="160020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635240" y="8833104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89720" y="8778240"/>
            <a:ext cx="196596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281160" y="8833104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DE80"/>
                </a:solidFill>
                <a:latin typeface="Calibri"/>
              </a:rPr>
              <a:t>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201400" y="8778240"/>
            <a:ext cx="1965960" cy="566928"/>
          </a:xfrm>
          <a:prstGeom prst="rect">
            <a:avLst/>
          </a:prstGeom>
          <a:solidFill>
            <a:srgbClr val="2B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292840" y="8833104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4545"/>
                </a:solidFill>
                <a:latin typeface="Calibri"/>
              </a:rPr>
              <a:t>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3213080" y="8778240"/>
            <a:ext cx="178308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3304519" y="8833104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2377440" cy="34747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394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0A"/>
                </a:solidFill>
                <a:latin typeface="Calibri"/>
              </a:rPr>
              <a:t>05  KẾT QUẢ KIỂM THỬ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645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Kết quả Kiểm thử – Số liệu Tổng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103120"/>
            <a:ext cx="1691640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377440"/>
            <a:ext cx="2926080" cy="2286000"/>
          </a:xfrm>
          <a:prstGeom prst="rect">
            <a:avLst/>
          </a:prstGeom>
          <a:solidFill>
            <a:srgbClr val="1E1F3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377440"/>
            <a:ext cx="292608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38BDF8"/>
                </a:solidFill>
                <a:latin typeface="Calibri"/>
              </a:rPr>
              <a:t>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40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Tổng Test Cases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2377440"/>
            <a:ext cx="2926080" cy="2286000"/>
          </a:xfrm>
          <a:prstGeom prst="rect">
            <a:avLst/>
          </a:prstGeom>
          <a:solidFill>
            <a:srgbClr val="1E1F3A"/>
          </a:solidFill>
          <a:ln w="381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1920" y="2377440"/>
            <a:ext cx="2926080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7432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4ADE80"/>
                </a:solidFill>
                <a:latin typeface="Calibri"/>
              </a:rPr>
              <a:t>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840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✅  Passed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2377440"/>
            <a:ext cx="2926080" cy="2286000"/>
          </a:xfrm>
          <a:prstGeom prst="rect">
            <a:avLst/>
          </a:prstGeom>
          <a:solidFill>
            <a:srgbClr val="1E1F3A"/>
          </a:solidFill>
          <a:ln w="38100">
            <a:solidFill>
              <a:srgbClr val="FF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8040" y="2377440"/>
            <a:ext cx="2926080" cy="73152"/>
          </a:xfrm>
          <a:prstGeom prst="rect">
            <a:avLst/>
          </a:prstGeom>
          <a:solidFill>
            <a:srgbClr val="FF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7432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4545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3840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❌  Failed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24159" y="2377440"/>
            <a:ext cx="2926080" cy="2286000"/>
          </a:xfrm>
          <a:prstGeom prst="rect">
            <a:avLst/>
          </a:prstGeom>
          <a:solidFill>
            <a:srgbClr val="1E1F3A"/>
          </a:solidFill>
          <a:ln w="381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24159" y="2377440"/>
            <a:ext cx="2926080" cy="7315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59" y="27432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9" y="3840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⏭️  Skipped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670280" y="2377440"/>
            <a:ext cx="2926080" cy="2286000"/>
          </a:xfrm>
          <a:prstGeom prst="rect">
            <a:avLst/>
          </a:prstGeom>
          <a:solidFill>
            <a:srgbClr val="1E1F3A"/>
          </a:solidFill>
          <a:ln w="381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670280" y="2377440"/>
            <a:ext cx="2926080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670280" y="27432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D600"/>
                </a:solidFill>
                <a:latin typeface="Calibri"/>
              </a:rPr>
              <a:t>56%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70280" y="3840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Pass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9377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  <a:latin typeface="Calibri"/>
              </a:rPr>
              <a:t>Breakdown theo Use-Case: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532120"/>
            <a:ext cx="6812280" cy="5486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7784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0A0A"/>
                </a:solidFill>
                <a:latin typeface="Calibri"/>
              </a:rPr>
              <a:t>Use-Case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5532120"/>
            <a:ext cx="1600200" cy="5486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5577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0A0A"/>
                </a:solidFill>
                <a:latin typeface="Calibri"/>
              </a:rPr>
              <a:t>Total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9720" y="5532120"/>
            <a:ext cx="1965960" cy="5486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0A0A"/>
                </a:solidFill>
                <a:latin typeface="Calibri"/>
              </a:rPr>
              <a:t>✅ Pass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201400" y="5532120"/>
            <a:ext cx="1965960" cy="5486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92840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0A0A"/>
                </a:solidFill>
                <a:latin typeface="Calibri"/>
              </a:rPr>
              <a:t>❌ Fail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213080" y="5532120"/>
            <a:ext cx="1783080" cy="5486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304519" y="5577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0A0A"/>
                </a:solidFill>
                <a:latin typeface="Calibri"/>
              </a:rPr>
              <a:t>⏭️ Skip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6144768"/>
            <a:ext cx="6812280" cy="566928"/>
          </a:xfrm>
          <a:prstGeom prst="rect">
            <a:avLst/>
          </a:prstGeom>
          <a:solidFill>
            <a:srgbClr val="121322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6199631"/>
            <a:ext cx="6675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  <a:latin typeface="Calibri"/>
              </a:rPr>
              <a:t>UC1 – Authentication &amp; Security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43800" y="6144768"/>
            <a:ext cx="160020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35240" y="6199631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720" y="6144768"/>
            <a:ext cx="196596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0" y="6199631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DE80"/>
                </a:solidFill>
                <a:latin typeface="Calibri"/>
              </a:rPr>
              <a:t>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201400" y="6144768"/>
            <a:ext cx="1965960" cy="566928"/>
          </a:xfrm>
          <a:prstGeom prst="rect">
            <a:avLst/>
          </a:prstGeom>
          <a:solidFill>
            <a:srgbClr val="2B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292840" y="6199631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4545"/>
                </a:solidFill>
                <a:latin typeface="Calibri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213080" y="6144768"/>
            <a:ext cx="178308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304519" y="6199631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" y="6803136"/>
            <a:ext cx="6812280" cy="566928"/>
          </a:xfrm>
          <a:prstGeom prst="rect">
            <a:avLst/>
          </a:prstGeom>
          <a:solidFill>
            <a:srgbClr val="121322"/>
          </a:solidFill>
          <a:ln w="254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6857999"/>
            <a:ext cx="6675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  <a:latin typeface="Calibri"/>
              </a:rPr>
              <a:t>UC2 – Features &amp; Payments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43800" y="6803136"/>
            <a:ext cx="160020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35240" y="6857999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9720" y="6803136"/>
            <a:ext cx="196596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81160" y="6857999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DE80"/>
                </a:solidFill>
                <a:latin typeface="Calibri"/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201400" y="6803136"/>
            <a:ext cx="1965960" cy="566928"/>
          </a:xfrm>
          <a:prstGeom prst="rect">
            <a:avLst/>
          </a:prstGeom>
          <a:solidFill>
            <a:srgbClr val="2B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292840" y="6857999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4545"/>
                </a:solidFill>
                <a:latin typeface="Calibri"/>
              </a:rPr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213080" y="6803136"/>
            <a:ext cx="178308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304519" y="6857999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5800" y="7461504"/>
            <a:ext cx="6812280" cy="566928"/>
          </a:xfrm>
          <a:prstGeom prst="rect">
            <a:avLst/>
          </a:prstGeom>
          <a:solidFill>
            <a:srgbClr val="121322"/>
          </a:solidFill>
          <a:ln w="2540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7516368"/>
            <a:ext cx="6675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Calibri"/>
              </a:rPr>
              <a:t>UC3 – Knowledge Base &amp; Parsing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43800" y="7461504"/>
            <a:ext cx="160020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35240" y="7516368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89720" y="7461504"/>
            <a:ext cx="196596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81160" y="751636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DE80"/>
                </a:solidFill>
                <a:latin typeface="Calibri"/>
              </a:rPr>
              <a:t>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201400" y="7461504"/>
            <a:ext cx="1965960" cy="566928"/>
          </a:xfrm>
          <a:prstGeom prst="rect">
            <a:avLst/>
          </a:prstGeom>
          <a:solidFill>
            <a:srgbClr val="2B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292840" y="751636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4545"/>
                </a:solidFill>
                <a:latin typeface="Calibri"/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213080" y="7461504"/>
            <a:ext cx="178308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304519" y="7516368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5800" y="8119871"/>
            <a:ext cx="6812280" cy="566928"/>
          </a:xfrm>
          <a:prstGeom prst="rect">
            <a:avLst/>
          </a:prstGeom>
          <a:solidFill>
            <a:srgbClr val="121322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7240" y="8174736"/>
            <a:ext cx="6675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UC4 – Practice &amp; Personalization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543800" y="8119871"/>
            <a:ext cx="160020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35240" y="8174736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89720" y="8119871"/>
            <a:ext cx="196596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81160" y="817473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DE80"/>
                </a:solidFill>
                <a:latin typeface="Calibri"/>
              </a:rPr>
              <a:t>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201400" y="8119871"/>
            <a:ext cx="1965960" cy="566928"/>
          </a:xfrm>
          <a:prstGeom prst="rect">
            <a:avLst/>
          </a:prstGeom>
          <a:solidFill>
            <a:srgbClr val="2B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292840" y="817473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4545"/>
                </a:solidFill>
                <a:latin typeface="Calibri"/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213080" y="8119871"/>
            <a:ext cx="178308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04519" y="8174736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85800" y="8778240"/>
            <a:ext cx="6812280" cy="566928"/>
          </a:xfrm>
          <a:prstGeom prst="rect">
            <a:avLst/>
          </a:prstGeom>
          <a:solidFill>
            <a:srgbClr val="121322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7240" y="8833104"/>
            <a:ext cx="6675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UC5 – Gamification &amp; Admin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543800" y="8778240"/>
            <a:ext cx="160020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635240" y="8833104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89720" y="8778240"/>
            <a:ext cx="196596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281160" y="8833104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DE80"/>
                </a:solidFill>
                <a:latin typeface="Calibri"/>
              </a:rPr>
              <a:t>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201400" y="8778240"/>
            <a:ext cx="1965960" cy="566928"/>
          </a:xfrm>
          <a:prstGeom prst="rect">
            <a:avLst/>
          </a:prstGeom>
          <a:solidFill>
            <a:srgbClr val="2B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292840" y="8833104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4545"/>
                </a:solidFill>
                <a:latin typeface="Calibri"/>
              </a:rPr>
              <a:t>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3213080" y="8778240"/>
            <a:ext cx="1783080" cy="566928"/>
          </a:xfrm>
          <a:prstGeom prst="rect">
            <a:avLst/>
          </a:prstGeom>
          <a:solidFill>
            <a:srgbClr val="1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3304519" y="8833104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2587752" cy="34747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39496"/>
            <a:ext cx="2404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0A"/>
                </a:solidFill>
                <a:latin typeface="Calibri"/>
              </a:rPr>
              <a:t>05  BUG REPORT &amp;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645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8 Bugs Phát hiện  ·  2 Critical Đã 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103120"/>
            <a:ext cx="1691640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377440"/>
            <a:ext cx="3840480" cy="731520"/>
          </a:xfrm>
          <a:prstGeom prst="rect">
            <a:avLst/>
          </a:prstGeom>
          <a:solidFill>
            <a:srgbClr val="1E1F3A"/>
          </a:solidFill>
          <a:ln w="31750">
            <a:solidFill>
              <a:srgbClr val="FF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4545"/>
                </a:solidFill>
                <a:latin typeface="Calibri"/>
              </a:rPr>
              <a:t>🚨  2 CRITICAL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2377440"/>
            <a:ext cx="3840480" cy="731520"/>
          </a:xfrm>
          <a:prstGeom prst="rect">
            <a:avLst/>
          </a:prstGeom>
          <a:solidFill>
            <a:srgbClr val="1E1F3A"/>
          </a:solidFill>
          <a:ln w="317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3774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7A00"/>
                </a:solidFill>
                <a:latin typeface="Calibri"/>
              </a:rPr>
              <a:t>🔴  1 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6840" y="2377440"/>
            <a:ext cx="3840480" cy="731520"/>
          </a:xfrm>
          <a:prstGeom prst="rect">
            <a:avLst/>
          </a:prstGeom>
          <a:solidFill>
            <a:srgbClr val="1E1F3A"/>
          </a:solidFill>
          <a:ln w="317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3774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600"/>
                </a:solidFill>
                <a:latin typeface="Calibri"/>
              </a:rPr>
              <a:t>🟡  3 MEDIUM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167359" y="2377440"/>
            <a:ext cx="3840480" cy="731520"/>
          </a:xfrm>
          <a:prstGeom prst="rect">
            <a:avLst/>
          </a:prstGeom>
          <a:solidFill>
            <a:srgbClr val="1E1F3A"/>
          </a:solidFill>
          <a:ln w="317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67359" y="23774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DE80"/>
                </a:solidFill>
                <a:latin typeface="Calibri"/>
              </a:rPr>
              <a:t>🟢  2 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337560"/>
            <a:ext cx="8229600" cy="1325880"/>
          </a:xfrm>
          <a:prstGeom prst="rect">
            <a:avLst/>
          </a:prstGeom>
          <a:solidFill>
            <a:srgbClr val="1E1F3A"/>
          </a:solidFill>
          <a:ln w="19050">
            <a:solidFill>
              <a:srgbClr val="FF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337560"/>
            <a:ext cx="1188720" cy="1325880"/>
          </a:xfrm>
          <a:prstGeom prst="rect">
            <a:avLst/>
          </a:prstGeom>
          <a:solidFill>
            <a:srgbClr val="FF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719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SEC-01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4290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545"/>
                </a:solidFill>
                <a:latin typeface="Calibri"/>
              </a:rPr>
              <a:t>IDOR – Xem trộm điểm học sinh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38862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⚠ Không verify UID → API progress bị lộ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25196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Thêm requireChildAccess middleware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3429000"/>
            <a:ext cx="1234440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342900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✅ FIXED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3337560"/>
            <a:ext cx="8229600" cy="1325880"/>
          </a:xfrm>
          <a:prstGeom prst="rect">
            <a:avLst/>
          </a:prstGeom>
          <a:solidFill>
            <a:srgbClr val="1E1F3A"/>
          </a:solidFill>
          <a:ln w="19050">
            <a:solidFill>
              <a:srgbClr val="FF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26880" y="3337560"/>
            <a:ext cx="1188720" cy="1325880"/>
          </a:xfrm>
          <a:prstGeom prst="rect">
            <a:avLst/>
          </a:prstGeom>
          <a:solidFill>
            <a:srgbClr val="FF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37719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SEC-02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34290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545"/>
                </a:solidFill>
                <a:latin typeface="Calibri"/>
              </a:rPr>
              <a:t>Backdoor tự thăng cấp 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38862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⚠ Dev Helper trên /admin cho set role=admin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425196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Xóa Dev Helper + chặn Firestore rules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230600" y="3429000"/>
            <a:ext cx="1234440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230600" y="342900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✅ FIXED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754880"/>
            <a:ext cx="8229600" cy="1325880"/>
          </a:xfrm>
          <a:prstGeom prst="rect">
            <a:avLst/>
          </a:prstGeom>
          <a:solidFill>
            <a:srgbClr val="1E1F3A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754880"/>
            <a:ext cx="1188720" cy="132588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1892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ERR-03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8463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Calibri"/>
              </a:rPr>
              <a:t>Hủy Pro bị cắt quyền ngay lập tức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53035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⚠ Webhook không check cancel_at_period_end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66928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Giữ Pro đến hết kỳ thanh toán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4846320"/>
            <a:ext cx="1234440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0" y="484632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✅ FIXED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4754880"/>
            <a:ext cx="8229600" cy="1325880"/>
          </a:xfrm>
          <a:prstGeom prst="rect">
            <a:avLst/>
          </a:prstGeom>
          <a:solidFill>
            <a:srgbClr val="1E1F3A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26880" y="4754880"/>
            <a:ext cx="1188720" cy="13258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0" y="51892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ERR-03b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48463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A00"/>
                </a:solidFill>
                <a:latin typeface="Calibri"/>
              </a:rPr>
              <a:t>Pro không đồng bộ Admin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53035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⚠ Checkout chỉ update collection subscriptions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566928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Mirror isPro sang collection users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230600" y="4846320"/>
            <a:ext cx="1234440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230600" y="484632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✅ FIXED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6172200"/>
            <a:ext cx="8229600" cy="1325880"/>
          </a:xfrm>
          <a:prstGeom prst="rect">
            <a:avLst/>
          </a:prstGeom>
          <a:solidFill>
            <a:srgbClr val="1E1F3A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85800" y="6172200"/>
            <a:ext cx="1188720" cy="132588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66065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ERR-04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5960" y="62636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Calibri"/>
              </a:rPr>
              <a:t>File &gt;20MB upload không bị chặn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65960" y="67208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⚠ Frontend &amp; API thiếu kiểm tra file.size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65960" y="708660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Chặn ở UI + API trả HTTP 413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0" y="6263640"/>
            <a:ext cx="1234440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89520" y="62636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✅ FIXED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26880" y="6172200"/>
            <a:ext cx="8229600" cy="1325880"/>
          </a:xfrm>
          <a:prstGeom prst="rect">
            <a:avLst/>
          </a:prstGeom>
          <a:solidFill>
            <a:srgbClr val="1E1F3A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326880" y="6172200"/>
            <a:ext cx="1188720" cy="132588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6880" y="66065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UX-01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07040" y="62636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DE80"/>
                </a:solidFill>
                <a:latin typeface="Calibri"/>
              </a:rPr>
              <a:t>Thiếu nút TTS đọc gợi ý AI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07040" y="67208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⚠ PersonalizedExercisePanel quên gắn nút Loa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07040" y="708660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Thêm Speaker button + /api/v1/ai/tts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230600" y="6263640"/>
            <a:ext cx="1234440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230600" y="62636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✅ FIXED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" y="7589520"/>
            <a:ext cx="8229600" cy="1325880"/>
          </a:xfrm>
          <a:prstGeom prst="rect">
            <a:avLst/>
          </a:prstGeom>
          <a:solidFill>
            <a:srgbClr val="1E1F3A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85800" y="7589520"/>
            <a:ext cx="1188720" cy="132588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80238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FAM-01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65960" y="76809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Calibri"/>
              </a:rPr>
              <a:t>State Sync mâu thuẫn số con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65960" y="81381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⚠ Dùng nhiều biến state cho cùng 1 danh sách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65960" y="850392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Đồng bộ về 1 biến children duy nhất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89520" y="7680960"/>
            <a:ext cx="1234440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89520" y="768096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✅ FIXED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326880" y="7589520"/>
            <a:ext cx="8229600" cy="1325880"/>
          </a:xfrm>
          <a:prstGeom prst="rect">
            <a:avLst/>
          </a:prstGeom>
          <a:solidFill>
            <a:srgbClr val="1E1F3A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326880" y="7589520"/>
            <a:ext cx="1188720" cy="132588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326880" y="80238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UX-02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07040" y="76809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DE80"/>
                </a:solidFill>
                <a:latin typeface="Calibri"/>
              </a:rPr>
              <a:t>Sai tiêu đề Profile Phụ huynh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607040" y="81381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⚠ Hardcode "Hồ sơ của con" cho mọi role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850392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Render tiêu đề theo role (kid/parent)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230600" y="7680960"/>
            <a:ext cx="1234440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30600" y="768096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✅ FIXED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2587752" cy="34747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39496"/>
            <a:ext cx="2404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0A"/>
                </a:solidFill>
                <a:latin typeface="Calibri"/>
              </a:rPr>
              <a:t>05  BUG REPORT &amp;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645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8 Bugs Phát hiện  ·  2 Critical Đã 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103120"/>
            <a:ext cx="1691640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377440"/>
            <a:ext cx="3840480" cy="731520"/>
          </a:xfrm>
          <a:prstGeom prst="rect">
            <a:avLst/>
          </a:prstGeom>
          <a:solidFill>
            <a:srgbClr val="1E1F3A"/>
          </a:solidFill>
          <a:ln w="31750">
            <a:solidFill>
              <a:srgbClr val="FF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4545"/>
                </a:solidFill>
                <a:latin typeface="Calibri"/>
              </a:rPr>
              <a:t>🚨  2 CRITICAL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2377440"/>
            <a:ext cx="3840480" cy="731520"/>
          </a:xfrm>
          <a:prstGeom prst="rect">
            <a:avLst/>
          </a:prstGeom>
          <a:solidFill>
            <a:srgbClr val="1E1F3A"/>
          </a:solidFill>
          <a:ln w="317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3774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7A00"/>
                </a:solidFill>
                <a:latin typeface="Calibri"/>
              </a:rPr>
              <a:t>🔴  1 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6840" y="2377440"/>
            <a:ext cx="3840480" cy="731520"/>
          </a:xfrm>
          <a:prstGeom prst="rect">
            <a:avLst/>
          </a:prstGeom>
          <a:solidFill>
            <a:srgbClr val="1E1F3A"/>
          </a:solidFill>
          <a:ln w="317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3774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600"/>
                </a:solidFill>
                <a:latin typeface="Calibri"/>
              </a:rPr>
              <a:t>🟡  3 MEDIUM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167359" y="2377440"/>
            <a:ext cx="3840480" cy="731520"/>
          </a:xfrm>
          <a:prstGeom prst="rect">
            <a:avLst/>
          </a:prstGeom>
          <a:solidFill>
            <a:srgbClr val="1E1F3A"/>
          </a:solidFill>
          <a:ln w="317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67359" y="23774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DE80"/>
                </a:solidFill>
                <a:latin typeface="Calibri"/>
              </a:rPr>
              <a:t>🟢  2 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337560"/>
            <a:ext cx="8229600" cy="1325880"/>
          </a:xfrm>
          <a:prstGeom prst="rect">
            <a:avLst/>
          </a:prstGeom>
          <a:solidFill>
            <a:srgbClr val="1E1F3A"/>
          </a:solidFill>
          <a:ln w="19050">
            <a:solidFill>
              <a:srgbClr val="FF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337560"/>
            <a:ext cx="1188720" cy="1325880"/>
          </a:xfrm>
          <a:prstGeom prst="rect">
            <a:avLst/>
          </a:prstGeom>
          <a:solidFill>
            <a:srgbClr val="FF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719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SEC-01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4290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545"/>
                </a:solidFill>
                <a:latin typeface="Calibri"/>
              </a:rPr>
              <a:t>IDOR – Xem trộm điểm học sinh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38862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⚠ Không verify UID → API progress bị lộ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25196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Thêm requireChildAccess middleware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3429000"/>
            <a:ext cx="1234440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342900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✅ FIXED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3337560"/>
            <a:ext cx="8229600" cy="1325880"/>
          </a:xfrm>
          <a:prstGeom prst="rect">
            <a:avLst/>
          </a:prstGeom>
          <a:solidFill>
            <a:srgbClr val="1E1F3A"/>
          </a:solidFill>
          <a:ln w="19050">
            <a:solidFill>
              <a:srgbClr val="FF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26880" y="3337560"/>
            <a:ext cx="1188720" cy="1325880"/>
          </a:xfrm>
          <a:prstGeom prst="rect">
            <a:avLst/>
          </a:prstGeom>
          <a:solidFill>
            <a:srgbClr val="FF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37719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SEC-02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34290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545"/>
                </a:solidFill>
                <a:latin typeface="Calibri"/>
              </a:rPr>
              <a:t>Backdoor tự thăng cấp 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38862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⚠ Dev Helper trên /admin cho set role=admin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425196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Xóa Dev Helper + chặn Firestore rules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230600" y="3429000"/>
            <a:ext cx="1234440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230600" y="342900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✅ FIXED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754880"/>
            <a:ext cx="8229600" cy="1325880"/>
          </a:xfrm>
          <a:prstGeom prst="rect">
            <a:avLst/>
          </a:prstGeom>
          <a:solidFill>
            <a:srgbClr val="1E1F3A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754880"/>
            <a:ext cx="1188720" cy="132588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1892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ERR-03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8463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Calibri"/>
              </a:rPr>
              <a:t>Hủy Pro bị cắt quyền ngay lập tức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53035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⚠ Webhook không check cancel_at_period_end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66928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Giữ Pro đến hết kỳ thanh toán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4846320"/>
            <a:ext cx="1234440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0" y="484632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✅ FIXED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4754880"/>
            <a:ext cx="8229600" cy="1325880"/>
          </a:xfrm>
          <a:prstGeom prst="rect">
            <a:avLst/>
          </a:prstGeom>
          <a:solidFill>
            <a:srgbClr val="1E1F3A"/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26880" y="4754880"/>
            <a:ext cx="1188720" cy="13258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0" y="51892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ERR-03b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48463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A00"/>
                </a:solidFill>
                <a:latin typeface="Calibri"/>
              </a:rPr>
              <a:t>Pro không đồng bộ Admin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53035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⚠ Checkout chỉ update collection subscriptions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566928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Mirror isPro sang collection users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230600" y="4846320"/>
            <a:ext cx="1234440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230600" y="484632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✅ FIXED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6172200"/>
            <a:ext cx="8229600" cy="1325880"/>
          </a:xfrm>
          <a:prstGeom prst="rect">
            <a:avLst/>
          </a:prstGeom>
          <a:solidFill>
            <a:srgbClr val="1E1F3A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85800" y="6172200"/>
            <a:ext cx="1188720" cy="132588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66065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ERR-04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5960" y="62636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Calibri"/>
              </a:rPr>
              <a:t>File &gt;20MB upload không bị chặn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65960" y="67208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⚠ Frontend &amp; API thiếu kiểm tra file.size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65960" y="708660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Chặn ở UI + API trả HTTP 413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0" y="6263640"/>
            <a:ext cx="1234440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89520" y="62636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✅ FIXED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26880" y="6172200"/>
            <a:ext cx="8229600" cy="1325880"/>
          </a:xfrm>
          <a:prstGeom prst="rect">
            <a:avLst/>
          </a:prstGeom>
          <a:solidFill>
            <a:srgbClr val="1E1F3A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326880" y="6172200"/>
            <a:ext cx="1188720" cy="132588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6880" y="66065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UX-01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07040" y="62636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DE80"/>
                </a:solidFill>
                <a:latin typeface="Calibri"/>
              </a:rPr>
              <a:t>Thiếu nút TTS đọc gợi ý AI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07040" y="67208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⚠ PersonalizedExercisePanel quên gắn nút Loa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07040" y="708660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Thêm Speaker button + /api/v1/ai/tts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230600" y="6263640"/>
            <a:ext cx="1234440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230600" y="62636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✅ FIXED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" y="7589520"/>
            <a:ext cx="8229600" cy="1325880"/>
          </a:xfrm>
          <a:prstGeom prst="rect">
            <a:avLst/>
          </a:prstGeom>
          <a:solidFill>
            <a:srgbClr val="1E1F3A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85800" y="7589520"/>
            <a:ext cx="1188720" cy="132588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80238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FAM-01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65960" y="76809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Calibri"/>
              </a:rPr>
              <a:t>State Sync mâu thuẫn số con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65960" y="81381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⚠ Dùng nhiều biến state cho cùng 1 danh sách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65960" y="850392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Đồng bộ về 1 biến children duy nhất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89520" y="7680960"/>
            <a:ext cx="1234440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89520" y="768096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✅ FIXED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326880" y="7589520"/>
            <a:ext cx="8229600" cy="1325880"/>
          </a:xfrm>
          <a:prstGeom prst="rect">
            <a:avLst/>
          </a:prstGeom>
          <a:solidFill>
            <a:srgbClr val="1E1F3A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326880" y="7589520"/>
            <a:ext cx="1188720" cy="132588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326880" y="80238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UX-02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07040" y="76809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DE80"/>
                </a:solidFill>
                <a:latin typeface="Calibri"/>
              </a:rPr>
              <a:t>Sai tiêu đề Profile Phụ huynh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607040" y="81381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⚠ Hardcode "Hồ sơ của con" cho mọi role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850392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Render tiêu đề theo role (kid/parent)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230600" y="7680960"/>
            <a:ext cx="1234440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30600" y="768096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✅ FIXED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DAHOZxB5XL8</dc:identifier>
  <dcterms:modified xsi:type="dcterms:W3CDTF">2011-08-01T06:04:30Z</dcterms:modified>
  <cp:revision>1</cp:revision>
  <dc:title>[Presentation] Melon</dc:title>
</cp:coreProperties>
</file>