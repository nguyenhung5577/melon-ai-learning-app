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alibri"/>
              </a:rPr>
              <a:t>🍉 MELON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AI Learning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D600"/>
                </a:solidFill>
                <a:latin typeface="Calibri"/>
              </a:rPr>
              <a:t>Nền tảng Giáo dục Tương tác ứng dụng AI cho Học sinh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457200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Nhóm 2  |  SE4AI – HK2-2026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301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Nguyễn Huy Hoàng (23122031)   Nguyễn Bá Nam (23122043)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1421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Trần Tạ Quang Minh (23122042)  Nguyễn Đăng Khôi (23122037)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Lâm Hoàng Vũ (23122056)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6309360"/>
            <a:ext cx="1645920" cy="320040"/>
          </a:xfrm>
          <a:prstGeom prst="rect">
            <a:avLst/>
          </a:prstGeom>
          <a:solidFill>
            <a:srgbClr val="A78BFA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10/7/2026 ·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📋  Nội dung Thuyết trình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192024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Vision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TM1 – Hoàng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657600" cy="1920240"/>
          </a:xfrm>
          <a:prstGeom prst="rect">
            <a:avLst/>
          </a:prstGeom>
          <a:solidFill>
            <a:srgbClr val="1C1C30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600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Project Management &amp; 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51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TM2 – Nam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80160"/>
            <a:ext cx="3657600" cy="1920240"/>
          </a:xfrm>
          <a:prstGeom prst="rect">
            <a:avLst/>
          </a:prstGeom>
          <a:solidFill>
            <a:srgbClr val="1C1C30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7A0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Architecture &amp; NFRs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51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TM3 – Minh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3657600" cy="1920240"/>
          </a:xfrm>
          <a:prstGeom prst="rect">
            <a:avLst/>
          </a:prstGeom>
          <a:solidFill>
            <a:srgbClr val="1C1C30"/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Tech Stack &amp; AI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TM4 – Khôi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474720"/>
            <a:ext cx="3657600" cy="1920240"/>
          </a:xfrm>
          <a:prstGeom prst="rect">
            <a:avLst/>
          </a:prstGeom>
          <a:solidFill>
            <a:srgbClr val="1C1C30"/>
          </a:solidFill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566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Evaluation &amp; Experiments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TM5 – Vũ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474720"/>
            <a:ext cx="3657600" cy="192024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3566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Demo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TM6 – Hùng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4ADE8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01 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Bài toán cần giải quyết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4572000"/>
          </a:xfrm>
          <a:prstGeom prst="rect">
            <a:avLst/>
          </a:prstGeom>
          <a:solidFill>
            <a:srgbClr val="1C1C30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A00"/>
                </a:solidFill>
                <a:latin typeface="Calibri"/>
              </a:rPr>
              <a:t>Trẻ nhàm chán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Cách học đọc-chép truyền thống
quá đơn điệu → mất tập trung,
thiếu hứng thú.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657600" cy="4572000"/>
          </a:xfrm>
          <a:prstGeom prst="rect">
            <a:avLst/>
          </a:prstGeom>
          <a:solidFill>
            <a:srgbClr val="1C1C30"/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78BFA"/>
                </a:solidFill>
                <a:latin typeface="Calibri"/>
              </a:rPr>
              <a:t>Thiếu an toàn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3832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Phụ huynh lo ngại nội dung
không kiểm soát trên mạng,
khó giám sát trẻ.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657600" cy="4572000"/>
          </a:xfrm>
          <a:prstGeom prst="rect">
            <a:avLst/>
          </a:prstGeom>
          <a:solidFill>
            <a:srgbClr val="1C1C30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600"/>
                </a:solidFill>
                <a:latin typeface="Calibri"/>
              </a:rPr>
              <a:t>Không cá nhân hóa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832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Chương trình học đồng loạt,
không phù hợp tốc độ &amp;
năng lực từng trẻ.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4ADE8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01 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Product Position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47120" cy="1463040"/>
          </a:xfrm>
          <a:prstGeom prst="rect">
            <a:avLst/>
          </a:prstGeom>
          <a:solidFill>
            <a:srgbClr val="102A1A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  <a:latin typeface="Calibri"/>
              </a:rPr>
              <a:t>"Học thông minh  ·  Vui hơn  ·  Tiến bộ hơn"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2286000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47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Dành cho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3337560"/>
            <a:ext cx="8869680" cy="594360"/>
          </a:xfrm>
          <a:prstGeom prst="rect">
            <a:avLst/>
          </a:prstGeom>
          <a:solidFill>
            <a:srgbClr val="1C1C3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344728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Trẻ em 6-12 tuổi &amp; Phụ huynh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2286000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Đây là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4023360"/>
            <a:ext cx="8869680" cy="594360"/>
          </a:xfrm>
          <a:prstGeom prst="rect">
            <a:avLst/>
          </a:prstGeom>
          <a:solidFill>
            <a:srgbClr val="1C1C3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413308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Nền tảng giáo dục tương tác tích hợp GenAI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2286000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188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Khác biệt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4709160"/>
            <a:ext cx="8869680" cy="594360"/>
          </a:xfrm>
          <a:prstGeom prst="rect">
            <a:avLst/>
          </a:prstGeom>
          <a:solidFill>
            <a:srgbClr val="1C1C3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81888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Biến mọi tài liệu PDF/Ảnh thành bài học tương tác, gamified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94960"/>
            <a:ext cx="2286000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046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Giá trị cốt lõi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5394960"/>
            <a:ext cx="8869680" cy="594360"/>
          </a:xfrm>
          <a:prstGeom prst="rect">
            <a:avLst/>
          </a:prstGeom>
          <a:solidFill>
            <a:srgbClr val="1C1C3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550468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AI Tutor cá nhân + Child-Safety Moderation + Real-time Progress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4ADE8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01 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Người dùng &amp; Thị trường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466344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Calibri"/>
              </a:rPr>
              <a:t>KID
(Học sinh)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Trẻ 6–12 tuổi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873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Học qua flashcard, kéo-thả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4573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Nghe TTS đọc đề bài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041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Nhận XP, Badge, Leaderboard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657600" cy="4663440"/>
          </a:xfrm>
          <a:prstGeom prst="rect">
            <a:avLst/>
          </a:prstGeom>
          <a:solidFill>
            <a:srgbClr val="1C1C30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👨‍👩‍👧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51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  <a:latin typeface="Calibri"/>
              </a:rPr>
              <a:t>PARENT
(Phụ huynh)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290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Quản lý tài khoản 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873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Upload PDF → AI sinh bài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74573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Xem Dashboard tiến độ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4041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Nhận thông báo học tập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3657600" cy="4663440"/>
          </a:xfrm>
          <a:prstGeom prst="rect">
            <a:avLst/>
          </a:prstGeom>
          <a:solidFill>
            <a:srgbClr val="1C1C30"/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51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ADMIN
(Quản trị)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290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Kiểm duyệt nội dung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873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Quản lý Question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4573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Upload &amp; Parse đề thi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4041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Giám sát hệ thống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FFD60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02 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Cấu trúc Nhóm &amp; Phân công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2103120" cy="438912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20240"/>
            <a:ext cx="1188720" cy="11887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A"/>
                </a:solidFill>
                <a:latin typeface="Calibri"/>
              </a:rPr>
              <a:t>HH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Nguyễn Huy Hoàng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23122031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519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Project Manager
Test 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737360"/>
            <a:ext cx="2103120" cy="43891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0" y="1920240"/>
            <a:ext cx="1188720" cy="118872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0574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A"/>
                </a:solidFill>
                <a:latin typeface="Calibri"/>
              </a:rPr>
              <a:t>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Nguyễn Bá 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23122043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2519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600"/>
                </a:solidFill>
                <a:latin typeface="Calibri"/>
              </a:rPr>
              <a:t>Business Analyst
QA Lead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1737360"/>
            <a:ext cx="2103120" cy="43891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40680" y="1920240"/>
            <a:ext cx="1188720" cy="118872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0574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A"/>
                </a:solidFill>
                <a:latin typeface="Calibri"/>
              </a:rPr>
              <a:t>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Trần Tạ Quang Minh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23122042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2519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A00"/>
                </a:solidFill>
                <a:latin typeface="Calibri"/>
              </a:rPr>
              <a:t>AI/ML Engineer
Model Evaluation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1737360"/>
            <a:ext cx="2103120" cy="4389120"/>
          </a:xfrm>
          <a:prstGeom prst="rect">
            <a:avLst/>
          </a:prstGeom>
          <a:solidFill>
            <a:srgbClr val="1C1C3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0" y="1920240"/>
            <a:ext cx="1188720" cy="11887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0574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A"/>
                </a:solidFill>
                <a:latin typeface="Calibri"/>
              </a:rPr>
              <a:t>ĐK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Nguyễn Đăng Khôi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23122037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2519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8BFA"/>
                </a:solidFill>
                <a:latin typeface="Calibri"/>
              </a:rPr>
              <a:t>Software Architect
SAD Documentation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1737360"/>
            <a:ext cx="2103120" cy="4389120"/>
          </a:xfrm>
          <a:prstGeom prst="rect">
            <a:avLst/>
          </a:prstGeom>
          <a:solidFill>
            <a:srgbClr val="1C1C3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04120" y="1920240"/>
            <a:ext cx="1188720" cy="11887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20574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A"/>
                </a:solidFill>
                <a:latin typeface="Calibri"/>
              </a:rPr>
              <a:t>LV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Lâm Hoàng Vũ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23122056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2519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Frontend Developer
UML &amp;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FFD60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02 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Quy trình Quản lý Dự án  ·  Agile/Scrum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737360" cy="137160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S1
Vision &amp;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468880"/>
            <a:ext cx="182880" cy="6400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1737360" cy="137160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9659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600"/>
                </a:solidFill>
                <a:latin typeface="Calibri"/>
              </a:rPr>
              <a:t>S2
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468880"/>
            <a:ext cx="182880" cy="6400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1737360" cy="137160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Calibri"/>
              </a:rPr>
              <a:t>S3
Backend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68880"/>
            <a:ext cx="182880" cy="6400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1737360" cy="1371600"/>
          </a:xfrm>
          <a:prstGeom prst="rect">
            <a:avLst/>
          </a:prstGeom>
          <a:solidFill>
            <a:srgbClr val="1C1C3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S4
Working SW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2468880"/>
            <a:ext cx="182880" cy="6400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1737360" cy="1371600"/>
          </a:xfrm>
          <a:prstGeom prst="rect">
            <a:avLst/>
          </a:prstGeom>
          <a:solidFill>
            <a:srgbClr val="1C1C3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S5
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468880"/>
            <a:ext cx="182880" cy="6400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1828800"/>
            <a:ext cx="1737360" cy="137160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9659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S6
Demo Prep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2560320" cy="25603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🗂️ Jira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Quản lý Sprint,
backlog &amp; task 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657600"/>
            <a:ext cx="2560320" cy="25603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🐙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Version control,
PR review, CI/CD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657600"/>
            <a:ext cx="2560320" cy="25603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💬 Discord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Communication
&amp; weekly meeting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657600"/>
            <a:ext cx="2560320" cy="25603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📄 GDrive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Tài liệu &amp; báo cáo
cuối Sprint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FFD60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02  USE-CASES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5 Core Use-Cases của Hệ thống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005840" cy="2103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ML-AUTH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Xác thực &amp; Phân quyền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Parent (Google OAuth) / Kid (ID+PIN) / Admin
Role-based access control, JWT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1005840" cy="21031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ML-SUBS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8745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Subscription &amp; Paywall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5146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Stripe integration, Free/Pro tiers
Feature gating dựa trên subscription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1005840" cy="21031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ML-PARSE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745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PDF/Ảnh → Question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Gemini 2.5 Pro OCR + GPT-4.1 structured extraction
Toán tiếng Việt lớp 4-5, LaTeX compiler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06908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069080"/>
            <a:ext cx="1005840" cy="2103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0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ML-PRAC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206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AI Tutor &amp; Quiz (RAG)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GPT-4o-mini + Pinecone Vector DB
RAG pipeline: PDF ingestion → quiz 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406908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4069080"/>
            <a:ext cx="1005840" cy="21031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4800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ML-GAMI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206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Gamification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XP, Level, Badge, Leaderboard
Zustand global state, Firebase persistence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FF7A0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03  ARCHITECTURE &amp; NFR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Yêu cầu Phi chức năng (NFRs)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1031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⚡ 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Response time &lt; 2s
AI streaming via SSE
TTS cache (SHA256)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657600" cy="210312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📈 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146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Chịu tải 1,000 CCU
Vercel edge deployment
Firebase auto-scale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737360"/>
            <a:ext cx="3657600" cy="2103120"/>
          </a:xfrm>
          <a:prstGeom prst="rect">
            <a:avLst/>
          </a:prstGeom>
          <a:solidFill>
            <a:srgbClr val="1C1C3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Calibri"/>
              </a:rPr>
              <a:t>🔐 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JWT token auth
Secrets trong env vars
Next.js API Proxy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3657600" cy="21031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  <a:latin typeface="Calibri"/>
              </a:rPr>
              <a:t>🛡️  Child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OpenAI Moderation API
100% input/output filter
Zero-tolerance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069080"/>
            <a:ext cx="3657600" cy="2103120"/>
          </a:xfrm>
          <a:prstGeom prst="rect">
            <a:avLst/>
          </a:prstGeom>
          <a:solidFill>
            <a:srgbClr val="1C1C3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🔁 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8463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CI/CD GitHub Actions
Atomic Vercel deploy
PR-gated merges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069080"/>
            <a:ext cx="3657600" cy="210312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206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🌐  Compatibility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463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Chrome/Firefox/Safari
Responsive UI
Tailwind v4 design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FF7A0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03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Hybrid Split-Stack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691640"/>
            <a:ext cx="4114800" cy="1005840"/>
          </a:xfrm>
          <a:prstGeom prst="rect">
            <a:avLst/>
          </a:prstGeom>
          <a:solidFill>
            <a:srgbClr val="1C1C30"/>
          </a:solidFill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7647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🌐  Browser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2402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React 19 · Next.js App Router
Tailwind v4 · Zustand · Framer Motion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017520"/>
            <a:ext cx="4114800" cy="100584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30906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🔷  Next.js API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566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Secure Gateway · JWT Validation
Secret Protection · Route Handlers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343400"/>
            <a:ext cx="4114800" cy="1005840"/>
          </a:xfrm>
          <a:prstGeom prst="rect">
            <a:avLst/>
          </a:prstGeom>
          <a:solidFill>
            <a:srgbClr val="1C1C30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44165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🐍  Python 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892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Engine: RAG · TTS · Vision Parsing
PyMuPDF · LangChain · Pinecone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697480"/>
            <a:ext cx="457200" cy="3200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023360"/>
            <a:ext cx="457200" cy="3200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External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148840"/>
            <a:ext cx="3108960" cy="54864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00"/>
                </a:solidFill>
                <a:latin typeface="Calibri"/>
              </a:rPr>
              <a:t>🔥 Firebase Auth+DB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834640"/>
            <a:ext cx="3108960" cy="548640"/>
          </a:xfrm>
          <a:prstGeom prst="rect">
            <a:avLst/>
          </a:prstGeom>
          <a:solidFill>
            <a:srgbClr val="1C1C3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926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8BFA"/>
                </a:solidFill>
                <a:latin typeface="Calibri"/>
              </a:rPr>
              <a:t>📦 Pinecone VectorDB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520440"/>
            <a:ext cx="3108960" cy="548640"/>
          </a:xfrm>
          <a:prstGeom prst="rect">
            <a:avLst/>
          </a:prstGeom>
          <a:solidFill>
            <a:srgbClr val="1C1C30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3611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Calibri"/>
              </a:rPr>
              <a:t>🤖 OpenAI GPT-4o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4206240"/>
            <a:ext cx="3108960" cy="548640"/>
          </a:xfrm>
          <a:prstGeom prst="rect">
            <a:avLst/>
          </a:prstGeom>
          <a:solidFill>
            <a:srgbClr val="1C1C30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4297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BDF8"/>
                </a:solidFill>
                <a:latin typeface="Calibri"/>
              </a:rPr>
              <a:t>💎 Gemini 2.0 Flash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892040"/>
            <a:ext cx="3108960" cy="548640"/>
          </a:xfrm>
          <a:prstGeom prst="rect">
            <a:avLst/>
          </a:prstGeom>
          <a:solidFill>
            <a:srgbClr val="1C1C30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4983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A00"/>
                </a:solidFill>
                <a:latin typeface="Calibri"/>
              </a:rPr>
              <a:t>🎙️ ElevenLabs TTS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FF7A0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03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 Flow: PDF → Quiz (RAG Pipeline)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1554480" cy="1645920"/>
          </a:xfrm>
          <a:prstGeom prst="rect">
            <a:avLst/>
          </a:prstGeom>
          <a:solidFill>
            <a:srgbClr val="1C1C3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1
Upload 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697480"/>
            <a:ext cx="41148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2011680"/>
            <a:ext cx="1554480" cy="164592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2
Extract Text
(PyMuPDF)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97480"/>
            <a:ext cx="41148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11680"/>
            <a:ext cx="1554480" cy="16459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600"/>
                </a:solidFill>
                <a:latin typeface="Calibri"/>
              </a:rPr>
              <a:t>3
Generate
Embeddings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697480"/>
            <a:ext cx="41148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011680"/>
            <a:ext cx="1554480" cy="1645920"/>
          </a:xfrm>
          <a:prstGeom prst="rect">
            <a:avLst/>
          </a:prstGeom>
          <a:solidFill>
            <a:srgbClr val="1C1C3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4
Upsert to
Pinecone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2697480"/>
            <a:ext cx="41148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011680"/>
            <a:ext cx="1554480" cy="16459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Calibri"/>
              </a:rPr>
              <a:t>5
RAG Retrieval
+ GPT-4o-mini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697480"/>
            <a:ext cx="41148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2011680"/>
            <a:ext cx="1554480" cy="164592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6
Quiz JSON
to Student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  <a:latin typeface="Calibri"/>
              </a:rPr>
              <a:t>TTS Flow: Child taps 🔊 → FastAPI → SHA256 Cache Check → ElevenLabs API → Firebase Storage → Audio URL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17720"/>
            <a:ext cx="11247120" cy="822960"/>
          </a:xfrm>
          <a:prstGeom prst="rect">
            <a:avLst/>
          </a:prstGeom>
          <a:solidFill>
            <a:srgbClr val="1A1010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A00"/>
                </a:solidFill>
                <a:latin typeface="Calibri"/>
              </a:rPr>
              <a:t>🛡️  Child Safety Gate: Mọi output AI (text/audio) đều đi qua OpenAI Moderation API trước khi hiển thị cho trẻ.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A78BFA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04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4663440"/>
          </a:xfrm>
          <a:prstGeom prst="rect">
            <a:avLst/>
          </a:prstGeom>
          <a:solidFill>
            <a:srgbClr val="1C1C3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🖥️ 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Next.js 16 (App Router)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React 19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Tailwind CSS v4 · shadcn/Radix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Zustand · TanStack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Framer Motion (animations)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657600" cy="466344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⚙️  Backend / 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Python 3.11 +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200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PyMuPDF (PDF extraction)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LangChain + Pinecone (RAG)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72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OpenRouter (model routing)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257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SSE (streaming responses)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3657600" cy="466344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☁️  Infrastructure &amp;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14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Firebase Auth + Firestore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Firebase Storage (assets)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Pinecone (vector 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72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Vercel (frontend deploy)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257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GitHub Actions (CI/CD)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A78BFA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04 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5 AI Models – The Brain of Melon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65760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🤖  GPT-4o-mini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AI Tutor Chatbot &amp;
RAG Quiz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Gia sư ảo trả lời câu hỏi theo context
bài học, sinh MCQA quiz chính xác &gt; 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6576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🤖  Gemini 2.0/2.5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Multimodal Vision
Problem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OCR ảnh bài Toán tiếng Việt, LaTeX
Field extraction accuracy &gt; 85%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3657600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🤖  ElevenLabs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Text-to-Speech
(TTS)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Giọng đọc tự nhiên đa ngôn ngữ
Caching SHA256 → giảm chi phí 70%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06908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069080"/>
            <a:ext cx="3657600" cy="7315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51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🤖  Whisper-1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00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Speech-to-Text
(STT)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49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Nhận diện giọng nói trẻ em
Vietnamese language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406908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4069080"/>
            <a:ext cx="365760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251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🤖  OpenAI Moderation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800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Content Safety
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349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Lọc 100% output AI
Child-safe enforcement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38BDF8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05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Chiến lược Đánh giá Model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600"/>
                </a:solidFill>
                <a:latin typeface="Calibri"/>
              </a:rPr>
              <a:t>⚙️  Không thể fine-tune → Cải thiện qua Prompt Engineering + Evaluation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1247120" cy="128016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Calibri"/>
              </a:rPr>
              <a:t>1️⃣  Rubric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Task: Phân loại câu hỏi Toán theo Bloom's Taxonomy · Dataset: 50 câu Toán VN lớp 4-5 (team manually labeled) · Threshold: Accuracy ≥ 75%  |  Macro F1 ≥ 0.70 · Method: System prompt với định nghĩa Bloom's chi tiết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11247120" cy="128016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2️⃣  RAG Quiz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Task: Sinh MCQA từ 5 lesson PDF (10 câu/doc) · Dataset: 50 câu hỏi, review thủ công theo sách GK · Threshold: Answer accuracy ≥ 90%  |  Distractor rate ≥ 80% · Method: Strict grounding rules, no hallucination allowed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66360"/>
            <a:ext cx="11247120" cy="128016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  <a:latin typeface="Calibri"/>
              </a:rPr>
              <a:t>3️⃣  PDF Problem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Task: OCR 30 trang Toán VN (scan quality real-world) · Baseline: Gemini 2.5 Pro ~94% DocVQA, 90% OCRBench · Threshold: Field extraction ≥ 85%  |  Detection rate ≥ 90% · Method: Multimodal vision + GPT-4.1 structured extraction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38BDF8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05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Kết quả Thực nghiệm &amp; Số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51460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91640"/>
            <a:ext cx="196596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6916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160020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916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691640"/>
            <a:ext cx="196596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916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691640"/>
            <a:ext cx="105156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69164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Pass?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76272"/>
            <a:ext cx="25146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76272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Rubric Classifier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176272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176272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176272"/>
            <a:ext cx="16002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17627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~78%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176272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176272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≥ 75%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176272"/>
            <a:ext cx="1051560" cy="566928"/>
          </a:xfrm>
          <a:prstGeom prst="rect">
            <a:avLst/>
          </a:prstGeom>
          <a:solidFill>
            <a:srgbClr val="082B1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17627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✅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34640"/>
            <a:ext cx="25146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346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Rubric Classifier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834640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834640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Macro F1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834640"/>
            <a:ext cx="16002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2834640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~0.73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834640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834640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≥ 0.70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834640"/>
            <a:ext cx="1051560" cy="566928"/>
          </a:xfrm>
          <a:prstGeom prst="rect">
            <a:avLst/>
          </a:prstGeom>
          <a:solidFill>
            <a:srgbClr val="082B1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83464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✅ 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93008"/>
            <a:ext cx="25146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493008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600"/>
                </a:solidFill>
                <a:latin typeface="Calibri"/>
              </a:rPr>
              <a:t>RAG Quiz Generator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493008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493008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Ans Accuracy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493008"/>
            <a:ext cx="16002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3493008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~92%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493008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493008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≥ 90%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3493008"/>
            <a:ext cx="1051560" cy="566928"/>
          </a:xfrm>
          <a:prstGeom prst="rect">
            <a:avLst/>
          </a:prstGeom>
          <a:solidFill>
            <a:srgbClr val="082B1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349300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✅ 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51376"/>
            <a:ext cx="25146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151376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600"/>
                </a:solidFill>
                <a:latin typeface="Calibri"/>
              </a:rPr>
              <a:t>RAG Quiz Generator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151376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151376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Distractor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4151376"/>
            <a:ext cx="16002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4151376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~85%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4151376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4151376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≥ 80%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4151376"/>
            <a:ext cx="1051560" cy="566928"/>
          </a:xfrm>
          <a:prstGeom prst="rect">
            <a:avLst/>
          </a:prstGeom>
          <a:solidFill>
            <a:srgbClr val="082B1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415137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✅ PASS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809744"/>
            <a:ext cx="25146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809744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Calibri"/>
              </a:rPr>
              <a:t>PDF Parser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809744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809744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Field Extr.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4809744"/>
            <a:ext cx="16002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4809744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~88%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4809744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0" y="4809744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≥ 85%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4809744"/>
            <a:ext cx="1051560" cy="566928"/>
          </a:xfrm>
          <a:prstGeom prst="rect">
            <a:avLst/>
          </a:prstGeom>
          <a:solidFill>
            <a:srgbClr val="082B1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48097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✅ PASS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468112"/>
            <a:ext cx="25146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468112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Calibri"/>
              </a:rPr>
              <a:t>PDF Parser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5468112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0" y="5468112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0" y="5468112"/>
            <a:ext cx="160020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0" y="546811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~91%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5468112"/>
            <a:ext cx="1965960" cy="566928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5468112"/>
            <a:ext cx="1965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≥ 90%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5468112"/>
            <a:ext cx="1051560" cy="566928"/>
          </a:xfrm>
          <a:prstGeom prst="rect">
            <a:avLst/>
          </a:prstGeom>
          <a:solidFill>
            <a:srgbClr val="082B1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0" y="546811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✅ PASS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600"/>
                </a:solidFill>
                <a:latin typeface="Calibri"/>
              </a:rPr>
              <a:t>🔬 Key Finding: Prompt Engineering + Context grounding là yếu tố quyết định độ chính xác AI – không cần fine-tune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38BDF8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05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Hiệu năng &amp; Bộ lọc An toàn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43891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  <a:latin typeface="Calibri"/>
              </a:rPr>
              <a:t>⚡  Latency Optimization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120640" cy="1371600"/>
          </a:xfrm>
          <a:prstGeom prst="rect">
            <a:avLst/>
          </a:prstGeom>
          <a:solidFill>
            <a:srgbClr val="0E0E1A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  <a:latin typeface="Calibri"/>
              </a:rPr>
              <a:t>❌ Before (Naive)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RAG → LLM → TTS → Response
Tổng thời gian: ~8-12 giây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23360"/>
            <a:ext cx="5120640" cy="1371600"/>
          </a:xfrm>
          <a:prstGeom prst="rect">
            <a:avLst/>
          </a:prstGeom>
          <a:solidFill>
            <a:srgbClr val="0E0E1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Calibri"/>
              </a:rPr>
              <a:t>✅ After (SSE Stream)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SSE text stream về ngay → TTS chạy ngầm
Perceived latency: &lt; 2 giây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00"/>
                </a:solidFill>
                <a:latin typeface="Calibri"/>
              </a:rPr>
              <a:t>🛡️  Safety Moderation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5120640" cy="640080"/>
          </a:xfrm>
          <a:prstGeom prst="rect">
            <a:avLst/>
          </a:prstGeom>
          <a:solidFill>
            <a:srgbClr val="0E0E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963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Normal content  —  50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96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Pass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120640" cy="640080"/>
          </a:xfrm>
          <a:prstGeom prst="rect">
            <a:avLst/>
          </a:prstGeom>
          <a:solidFill>
            <a:srgbClr val="0E0E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273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Jailbreak prompts  —  20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735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Blocked 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77640"/>
            <a:ext cx="5120640" cy="640080"/>
          </a:xfrm>
          <a:prstGeom prst="rect">
            <a:avLst/>
          </a:prstGeom>
          <a:solidFill>
            <a:srgbClr val="0E0E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507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Offensive words  —  30 samples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0507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Filtered 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54880"/>
            <a:ext cx="5120640" cy="640080"/>
          </a:xfrm>
          <a:prstGeom prst="rect">
            <a:avLst/>
          </a:prstGeom>
          <a:solidFill>
            <a:srgbClr val="0E0E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28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Harmful imagery  —  10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8280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Rejected 100%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4ADE8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06 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Demo  ·  Key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657600" cy="411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Parent đăng nhập
&amp; Nạp thẻ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Google OAuth → Parent Dashboard
Stripe checkout → Subscription activated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657600" cy="4114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92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Upload PDF Toán
&amp; AI 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Gemini 2.5 Pro OCR ảnh/PDF
GPT-4.1 extract structured JSON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3657600" cy="4114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92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40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Admin Review
&amp; Lưu Question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Admin xem kết quả parse
Approve → Lưu vào Firestore + Pinecone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06908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4069080"/>
            <a:ext cx="3657600" cy="4114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1239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572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Kid Login
&amp; Học tập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166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Kid ID+PIN → Dashboard
Chọn bài → làm quiz → ElevenLabs TTS đọc đề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069080"/>
            <a:ext cx="3657600" cy="2103120"/>
          </a:xfrm>
          <a:prstGeom prst="rect">
            <a:avLst/>
          </a:prstGeom>
          <a:solidFill>
            <a:srgbClr val="1C1C30"/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069080"/>
            <a:ext cx="3657600" cy="4114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239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🎉 Gamification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66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Làm đúng → XP + Pháo hoa
Nhận Badge → Leo Leaderboard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4ADE8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06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4ADE80"/>
                </a:solidFill>
                <a:latin typeface="Calibri"/>
              </a:rPr>
              <a:t>🍉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D600"/>
                </a:solidFill>
                <a:latin typeface="Calibri"/>
              </a:rPr>
              <a:t>http://localhost:3000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9418320" cy="3200400"/>
          </a:xfrm>
          <a:prstGeom prst="rect">
            <a:avLst/>
          </a:prstGeom>
          <a:solidFill>
            <a:srgbClr val="1C1C30"/>
          </a:solidFill>
          <a:ln w="381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[ Màn hình trình chiếu ứng dụng thực tế ]
Demonstrate:
▸  Kid login (em1 / 123123)
▸  PDF Upload &amp; AI Question Parse
▸  Quiz session + TTS audio
▸  Badge &amp; XP reward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4ADE8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06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Hạn chế &amp; Hướng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03520" cy="466344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00"/>
                </a:solidFill>
                <a:latin typeface="Calibri"/>
              </a:rPr>
              <a:t>⚠️  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Parser tối ưu cho Toán VN lớp 4-5,
chưa hỗ trợ các môn khác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Chưa có LLM-based personalized
question generation cho từng trẻ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OCR đôi khi sai đánh số câu
khi ảnh chụp không rõ nét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Chưa có Mobile app (chỉ Web)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737360"/>
            <a:ext cx="5669280" cy="466344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Calibri"/>
              </a:rPr>
              <a:t>🚀  Future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Mở rộng sang các môn Văn, Anh, Khoa học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7355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React Native mobile app (iOS + Android)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78224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Personalized AI lộ trình học tập
dựa trên Adaptive Learning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8289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Tích hợp video bài giảng + AI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68756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Thương mại hóa: Partnership với
trường học &amp; trung tâm giáo dục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alibri"/>
              </a:rPr>
              <a:t>🍉 MELON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Cảm ơn thầy và các bạn!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457200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Hybrid Split-Stack Architecture (Next.js + FastAPI)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5 AI Models phối hợp: GPT-4o, Gemini, ElevenLabs...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RAG Pipeline + Prompt Engineering (accuracy &gt; 90%)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Child Safety Moderation – 100% filter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Full Gamification: XP, Badge, Leaderboard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DE80"/>
                </a:solidFill>
                <a:latin typeface="Calibri"/>
              </a:rPr>
              <a:t>Q &amp;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Nhóm 2  ·  SE4AI  ·  10/7/2026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